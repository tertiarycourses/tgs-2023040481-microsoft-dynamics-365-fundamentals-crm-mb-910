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374" r:id="rId125"/>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Cases this month</c:v>
                </c:pt>
              </c:strCache>
            </c:strRef>
          </c:tx>
          <c:spPr>
            <a:solidFill>
              <a:srgbClr val="1F6FEB"/>
            </a:solidFill>
          </c:spPr>
          <c:cat>
            <c:strRef>
              <c:f>Sheet1!$A$2:$A$6</c:f>
              <c:strCache>
                <c:ptCount val="5"/>
                <c:pt idx="0">
                  <c:v>Phone</c:v>
                </c:pt>
                <c:pt idx="1">
                  <c:v>Email</c:v>
                </c:pt>
                <c:pt idx="2">
                  <c:v>Chat</c:v>
                </c:pt>
                <c:pt idx="3">
                  <c:v>Web</c:v>
                </c:pt>
                <c:pt idx="4">
                  <c:v>Social</c:v>
                </c:pt>
              </c:strCache>
            </c:strRef>
          </c:cat>
          <c:val>
            <c:numRef>
              <c:f>Sheet1!$B$2:$B$6</c:f>
              <c:numCache>
                <c:formatCode>General</c:formatCode>
                <c:ptCount val="5"/>
                <c:pt idx="0">
                  <c:v>142</c:v>
                </c:pt>
                <c:pt idx="1">
                  <c:v>118</c:v>
                </c:pt>
                <c:pt idx="2">
                  <c:v>96</c:v>
                </c:pt>
                <c:pt idx="3">
                  <c:v>61</c:v>
                </c:pt>
                <c:pt idx="4">
                  <c:v>27</c:v>
                </c:pt>
              </c:numCache>
            </c:numRef>
          </c:val>
        </c:ser>
        <c:gapWidth val="6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Average CLV (SGD)</c:v>
                </c:pt>
              </c:strCache>
            </c:strRef>
          </c:tx>
          <c:spPr>
            <a:solidFill>
              <a:srgbClr val="1F6FEB"/>
            </a:solidFill>
          </c:spPr>
          <c:cat>
            <c:strRef>
              <c:f>Sheet1!$A$2:$A$6</c:f>
              <c:strCache>
                <c:ptCount val="5"/>
                <c:pt idx="0">
                  <c:v>High value</c:v>
                </c:pt>
                <c:pt idx="1">
                  <c:v>Growing</c:v>
                </c:pt>
                <c:pt idx="2">
                  <c:v>Occasional</c:v>
                </c:pt>
                <c:pt idx="3">
                  <c:v>At risk</c:v>
                </c:pt>
                <c:pt idx="4">
                  <c:v>Dormant</c:v>
                </c:pt>
              </c:strCache>
            </c:strRef>
          </c:cat>
          <c:val>
            <c:numRef>
              <c:f>Sheet1!$B$2:$B$6</c:f>
              <c:numCache>
                <c:formatCode>General</c:formatCode>
                <c:ptCount val="5"/>
                <c:pt idx="0">
                  <c:v>1616</c:v>
                </c:pt>
                <c:pt idx="1">
                  <c:v>1160</c:v>
                </c:pt>
                <c:pt idx="2">
                  <c:v>640</c:v>
                </c:pt>
                <c:pt idx="3">
                  <c:v>275</c:v>
                </c:pt>
                <c:pt idx="4">
                  <c:v>95</c:v>
                </c:pt>
              </c:numCache>
            </c:numRef>
          </c:val>
        </c:ser>
        <c:ser>
          <c:idx val="1"/>
          <c:order val="1"/>
          <c:tx>
            <c:strRef>
              <c:f>Sheet1!$C$1</c:f>
              <c:strCache>
                <c:ptCount val="1"/>
                <c:pt idx="0">
                  <c:v>Customers</c:v>
                </c:pt>
              </c:strCache>
            </c:strRef>
          </c:tx>
          <c:spPr>
            <a:solidFill>
              <a:srgbClr val="10B981"/>
            </a:solidFill>
          </c:spPr>
          <c:cat>
            <c:strRef>
              <c:f>Sheet1!$A$2:$A$6</c:f>
              <c:strCache>
                <c:ptCount val="5"/>
                <c:pt idx="0">
                  <c:v>High value</c:v>
                </c:pt>
                <c:pt idx="1">
                  <c:v>Growing</c:v>
                </c:pt>
                <c:pt idx="2">
                  <c:v>Occasional</c:v>
                </c:pt>
                <c:pt idx="3">
                  <c:v>At risk</c:v>
                </c:pt>
                <c:pt idx="4">
                  <c:v>Dormant</c:v>
                </c:pt>
              </c:strCache>
            </c:strRef>
          </c:cat>
          <c:val>
            <c:numRef>
              <c:f>Sheet1!$C$2:$C$6</c:f>
              <c:numCache>
                <c:formatCode>General</c:formatCode>
                <c:ptCount val="5"/>
                <c:pt idx="0">
                  <c:v>2</c:v>
                </c:pt>
                <c:pt idx="1">
                  <c:v>3</c:v>
                </c:pt>
                <c:pt idx="2">
                  <c:v>4</c:v>
                </c:pt>
                <c:pt idx="3">
                  <c:v>3</c:v>
                </c:pt>
                <c:pt idx="4">
                  <c:v>6</c:v>
                </c:pt>
              </c:numCache>
            </c:numRef>
          </c:val>
        </c:ser>
        <c:gapWidth val="6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100">
          <a:solidFill>
            <a:srgbClr val="5B6372"/>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566928"/>
            <a:ext cx="914400" cy="914400"/>
          </a:xfrm>
          <a:prstGeom prst="rect">
            <a:avLst/>
          </a:prstGeom>
        </p:spPr>
      </p:pic>
      <p:sp>
        <p:nvSpPr>
          <p:cNvPr id="6" name="Rectangle 5"/>
          <p:cNvSpPr/>
          <p:nvPr/>
        </p:nvSpPr>
        <p:spPr>
          <a:xfrm>
            <a:off x="9829800" y="566928"/>
            <a:ext cx="1627632"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658368"/>
            <a:ext cx="1627632" cy="457200"/>
          </a:xfrm>
          <a:prstGeom prst="rect">
            <a:avLst/>
          </a:prstGeom>
          <a:noFill/>
        </p:spPr>
        <p:txBody>
          <a:bodyPr wrap="square" anchor="t">
            <a:spAutoFit/>
          </a:bodyPr>
          <a:lstStyle/>
          <a:p>
            <a:pPr algn="ctr">
              <a:spcAft>
                <a:spcPts val="400"/>
              </a:spcAft>
            </a:pPr>
            <a:r>
              <a:rPr sz="2000" b="1">
                <a:solidFill>
                  <a:srgbClr val="FFFFFF"/>
                </a:solidFill>
                <a:latin typeface="Arial"/>
              </a:rPr>
              <a:t>MB-910</a:t>
            </a:r>
          </a:p>
        </p:txBody>
      </p:sp>
      <p:sp>
        <p:nvSpPr>
          <p:cNvPr id="8" name="TextBox 7"/>
          <p:cNvSpPr txBox="1"/>
          <p:nvPr/>
        </p:nvSpPr>
        <p:spPr>
          <a:xfrm>
            <a:off x="9829800" y="1097280"/>
            <a:ext cx="1627632" cy="365760"/>
          </a:xfrm>
          <a:prstGeom prst="rect">
            <a:avLst/>
          </a:prstGeom>
          <a:noFill/>
        </p:spPr>
        <p:txBody>
          <a:bodyPr wrap="square" anchor="t">
            <a:spAutoFit/>
          </a:bodyPr>
          <a:lstStyle/>
          <a:p>
            <a:pPr algn="ctr">
              <a:spcAft>
                <a:spcPts val="400"/>
              </a:spcAft>
            </a:pPr>
            <a:r>
              <a:rPr sz="750" b="1">
                <a:solidFill>
                  <a:srgbClr val="FFFFFF"/>
                </a:solidFill>
                <a:latin typeface="Arial"/>
              </a:rPr>
              <a:t>DYNAMICS 365 CRM</a:t>
            </a:r>
          </a:p>
        </p:txBody>
      </p:sp>
      <p:sp>
        <p:nvSpPr>
          <p:cNvPr id="9" name="TextBox 8"/>
          <p:cNvSpPr txBox="1"/>
          <p:nvPr/>
        </p:nvSpPr>
        <p:spPr>
          <a:xfrm>
            <a:off x="822960" y="1965960"/>
            <a:ext cx="10972800" cy="457200"/>
          </a:xfrm>
          <a:prstGeom prst="rect">
            <a:avLst/>
          </a:prstGeom>
          <a:noFill/>
        </p:spPr>
        <p:txBody>
          <a:bodyPr wrap="square" anchor="t">
            <a:spAutoFit/>
          </a:bodyPr>
          <a:lstStyle/>
          <a:p>
            <a:pPr algn="l">
              <a:spcAft>
                <a:spcPts val="400"/>
              </a:spcAft>
            </a:pPr>
            <a:r>
              <a:rPr sz="1500" b="1">
                <a:solidFill>
                  <a:srgbClr val="1F6FEB"/>
                </a:solidFill>
                <a:latin typeface="Arial"/>
              </a:rPr>
              <a:t>MASTER TRAINER SLIDES  ·  WSQ</a:t>
            </a:r>
          </a:p>
        </p:txBody>
      </p:sp>
      <p:sp>
        <p:nvSpPr>
          <p:cNvPr id="10" name="TextBox 9"/>
          <p:cNvSpPr txBox="1"/>
          <p:nvPr/>
        </p:nvSpPr>
        <p:spPr>
          <a:xfrm>
            <a:off x="822960" y="2423160"/>
            <a:ext cx="10972800" cy="1645920"/>
          </a:xfrm>
          <a:prstGeom prst="rect">
            <a:avLst/>
          </a:prstGeom>
          <a:noFill/>
        </p:spPr>
        <p:txBody>
          <a:bodyPr wrap="square" anchor="t">
            <a:spAutoFit/>
          </a:bodyPr>
          <a:lstStyle/>
          <a:p>
            <a:pPr algn="l">
              <a:spcAft>
                <a:spcPts val="400"/>
              </a:spcAft>
            </a:pPr>
            <a:r>
              <a:rPr sz="3600" b="1">
                <a:solidFill>
                  <a:srgbClr val="161B26"/>
                </a:solidFill>
                <a:latin typeface="Arial"/>
              </a:rPr>
              <a:t>Microsoft Dynamics 365 Fundamentals (CRM) (MB-910)</a:t>
            </a:r>
          </a:p>
        </p:txBody>
      </p:sp>
      <p:sp>
        <p:nvSpPr>
          <p:cNvPr id="11" name="Rectangle 10"/>
          <p:cNvSpPr/>
          <p:nvPr/>
        </p:nvSpPr>
        <p:spPr>
          <a:xfrm>
            <a:off x="841248" y="402336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43400"/>
            <a:ext cx="10972800" cy="1371600"/>
          </a:xfrm>
          <a:prstGeom prst="rect">
            <a:avLst/>
          </a:prstGeom>
          <a:noFill/>
        </p:spPr>
        <p:txBody>
          <a:bodyPr wrap="square" anchor="t">
            <a:spAutoFit/>
          </a:bodyPr>
          <a:lstStyle/>
          <a:p>
            <a:pPr algn="l">
              <a:spcAft>
                <a:spcPts val="600"/>
              </a:spcAft>
            </a:pPr>
            <a:r>
              <a:rPr sz="1500" b="0">
                <a:solidFill>
                  <a:srgbClr val="5B6372"/>
                </a:solidFill>
                <a:latin typeface="Arial"/>
              </a:rPr>
              <a:t>WSQ Course Code: TGS-2023040481  ·  2-Day Hands-On Training  ·  16 Hours</a:t>
            </a:r>
          </a:p>
          <a:p>
            <a:pPr algn="l">
              <a:spcAft>
                <a:spcPts val="600"/>
              </a:spcAft>
            </a:pPr>
            <a:r>
              <a:rPr sz="1350" b="0">
                <a:solidFill>
                  <a:srgbClr val="5B6372"/>
                </a:solidFill>
                <a:latin typeface="Arial"/>
              </a:rPr>
              <a:t>Skills Framework TSC: Customer Relationship Management (RET-RAN-4001-1.1)</a:t>
            </a:r>
          </a:p>
          <a:p>
            <a:pPr algn="l">
              <a:spcAft>
                <a:spcPts val="600"/>
              </a:spcAft>
            </a:pPr>
            <a:r>
              <a:rPr sz="1350" b="0">
                <a:solidFill>
                  <a:srgbClr val="5B6372"/>
                </a:solidFill>
                <a:latin typeface="Arial"/>
              </a:rPr>
              <a:t>Conducted by Tertiary Infotech Academy Pte Ltd  ·  UEN 201200696W</a:t>
            </a:r>
          </a:p>
        </p:txBody>
      </p:sp>
      <p:sp>
        <p:nvSpPr>
          <p:cNvPr id="13" name="TextBox 12"/>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v6  ·  1 September 2026  ·  Trainer: Dr. Alfred Ang</a:t>
            </a:r>
          </a:p>
        </p:txBody>
      </p:sp>
      <p:sp>
        <p:nvSpPr>
          <p:cNvPr id="14" name="TextBox 13"/>
          <p:cNvSpPr txBox="1"/>
          <p:nvPr/>
        </p:nvSpPr>
        <p:spPr>
          <a:xfrm>
            <a:off x="822960" y="6236208"/>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Welcome &amp; Housekeeping</a:t>
            </a:r>
          </a:p>
        </p:txBody>
      </p:sp>
      <p:sp>
        <p:nvSpPr>
          <p:cNvPr id="7" name="TextBox 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 name="TextBox 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MANDATORY · SSG / WSQ</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&amp; TRAQOM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1965960"/>
            <a:ext cx="2651760" cy="2651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4440"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42258"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50076"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89167"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96985"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4803"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2621"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34440"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42258"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50076"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57894"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73530"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81349"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89167"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96985"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4803"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2621"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34440"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42258"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50076"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65712"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481349"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689167"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896985"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04803"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12621"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857894"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65712"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73530"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481349"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04803"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34440"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650076"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481349"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689167"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96985"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12621"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650076" y="318793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3530" y="318793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689167" y="318793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234440"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857894"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65712"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273530"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89167"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896985"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104803"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312621"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234440"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442258"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650076"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065712"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273530"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96985"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04803"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234440"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442258"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650076"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481349"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04803"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312621"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234440" y="4019203"/>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442258" y="4019203"/>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650076" y="4019203"/>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104803" y="4019203"/>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234440"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442258"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650076"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857894"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065712"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481349"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689167"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896985"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4709160"/>
            <a:ext cx="2651760" cy="365760"/>
          </a:xfrm>
          <a:prstGeom prst="rect">
            <a:avLst/>
          </a:prstGeom>
          <a:noFill/>
        </p:spPr>
        <p:txBody>
          <a:bodyPr wrap="square" anchor="t">
            <a:spAutoFit/>
          </a:bodyPr>
          <a:lstStyle/>
          <a:p>
            <a:pPr algn="ctr">
              <a:spcAft>
                <a:spcPts val="400"/>
              </a:spcAft>
            </a:pPr>
            <a:r>
              <a:rPr sz="1100" b="0">
                <a:solidFill>
                  <a:srgbClr val="5B6372"/>
                </a:solidFill>
                <a:latin typeface="Arial"/>
              </a:rPr>
              <a:t>Scan with your phone camera</a:t>
            </a:r>
          </a:p>
        </p:txBody>
      </p:sp>
      <p:sp>
        <p:nvSpPr>
          <p:cNvPr id="82" name="Rectangle 81"/>
          <p:cNvSpPr/>
          <p:nvPr/>
        </p:nvSpPr>
        <p:spPr>
          <a:xfrm>
            <a:off x="4480560" y="1783080"/>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480560" y="178308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645152" y="192755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645152" y="1927555"/>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86" name="TextBox 85"/>
          <p:cNvSpPr txBox="1"/>
          <p:nvPr/>
        </p:nvSpPr>
        <p:spPr>
          <a:xfrm>
            <a:off x="5230368" y="1783080"/>
            <a:ext cx="6016752" cy="709574"/>
          </a:xfrm>
          <a:prstGeom prst="rect">
            <a:avLst/>
          </a:prstGeom>
          <a:noFill/>
        </p:spPr>
        <p:txBody>
          <a:bodyPr wrap="square" anchor="ctr">
            <a:spAutoFit/>
          </a:bodyPr>
          <a:lstStyle/>
          <a:p>
            <a:pPr algn="l">
              <a:spcAft>
                <a:spcPts val="200"/>
              </a:spcAft>
            </a:pPr>
            <a:r>
              <a:rPr sz="1300" b="1">
                <a:solidFill>
                  <a:srgbClr val="1F6FEB"/>
                </a:solidFill>
                <a:latin typeface="Arial"/>
              </a:rPr>
              <a:t>Three attendance takes</a:t>
            </a:r>
          </a:p>
          <a:p>
            <a:pPr algn="l">
              <a:spcAft>
                <a:spcPts val="200"/>
              </a:spcAft>
            </a:pPr>
            <a:r>
              <a:rPr sz="1100" b="0">
                <a:solidFill>
                  <a:srgbClr val="161B26"/>
                </a:solidFill>
                <a:latin typeface="Arial"/>
              </a:rPr>
              <a:t>AM, PM and Assessment — every day of a WSQ-funded course.</a:t>
            </a:r>
          </a:p>
        </p:txBody>
      </p:sp>
      <p:sp>
        <p:nvSpPr>
          <p:cNvPr id="87" name="Rectangle 86"/>
          <p:cNvSpPr/>
          <p:nvPr/>
        </p:nvSpPr>
        <p:spPr>
          <a:xfrm>
            <a:off x="4480560" y="2657246"/>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480560" y="2657246"/>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645152" y="280172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645152" y="2801721"/>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91" name="TextBox 90"/>
          <p:cNvSpPr txBox="1"/>
          <p:nvPr/>
        </p:nvSpPr>
        <p:spPr>
          <a:xfrm>
            <a:off x="5230368" y="2657246"/>
            <a:ext cx="6016752" cy="709574"/>
          </a:xfrm>
          <a:prstGeom prst="rect">
            <a:avLst/>
          </a:prstGeom>
          <a:noFill/>
        </p:spPr>
        <p:txBody>
          <a:bodyPr wrap="square" anchor="ctr">
            <a:spAutoFit/>
          </a:bodyPr>
          <a:lstStyle/>
          <a:p>
            <a:pPr algn="l">
              <a:spcAft>
                <a:spcPts val="200"/>
              </a:spcAft>
            </a:pPr>
            <a:r>
              <a:rPr sz="1300" b="1">
                <a:solidFill>
                  <a:srgbClr val="10B981"/>
                </a:solidFill>
                <a:latin typeface="Arial"/>
              </a:rPr>
              <a:t>The trainer shows the QR</a:t>
            </a:r>
          </a:p>
          <a:p>
            <a:pPr algn="l">
              <a:spcAft>
                <a:spcPts val="200"/>
              </a:spcAft>
            </a:pPr>
            <a:r>
              <a:rPr sz="1100" b="0">
                <a:solidFill>
                  <a:srgbClr val="161B26"/>
                </a:solidFill>
                <a:latin typeface="Arial"/>
              </a:rPr>
              <a:t>Generated live from the SSG portal — it changes each session.</a:t>
            </a:r>
          </a:p>
        </p:txBody>
      </p:sp>
      <p:sp>
        <p:nvSpPr>
          <p:cNvPr id="92" name="Rectangle 91"/>
          <p:cNvSpPr/>
          <p:nvPr/>
        </p:nvSpPr>
        <p:spPr>
          <a:xfrm>
            <a:off x="4480560" y="3531412"/>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4480560" y="3531412"/>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645152" y="3675887"/>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645152" y="3675887"/>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96" name="TextBox 95"/>
          <p:cNvSpPr txBox="1"/>
          <p:nvPr/>
        </p:nvSpPr>
        <p:spPr>
          <a:xfrm>
            <a:off x="5230368" y="3531412"/>
            <a:ext cx="6016752" cy="709574"/>
          </a:xfrm>
          <a:prstGeom prst="rect">
            <a:avLst/>
          </a:prstGeom>
          <a:noFill/>
        </p:spPr>
        <p:txBody>
          <a:bodyPr wrap="square" anchor="ctr">
            <a:spAutoFit/>
          </a:bodyPr>
          <a:lstStyle/>
          <a:p>
            <a:pPr algn="l">
              <a:spcAft>
                <a:spcPts val="200"/>
              </a:spcAft>
            </a:pPr>
            <a:r>
              <a:rPr sz="1300" b="1">
                <a:solidFill>
                  <a:srgbClr val="7C3AED"/>
                </a:solidFill>
                <a:latin typeface="Arial"/>
              </a:rPr>
              <a:t>Scan and submit</a:t>
            </a:r>
          </a:p>
          <a:p>
            <a:pPr algn="l">
              <a:spcAft>
                <a:spcPts val="200"/>
              </a:spcAft>
            </a:pPr>
            <a:r>
              <a:rPr sz="1100" b="0">
                <a:solidFill>
                  <a:srgbClr val="161B26"/>
                </a:solidFill>
                <a:latin typeface="Arial"/>
              </a:rPr>
              <a:t>Open your phone camera, scan, and submit your attendance.</a:t>
            </a:r>
          </a:p>
        </p:txBody>
      </p:sp>
      <p:sp>
        <p:nvSpPr>
          <p:cNvPr id="97" name="Rectangle 96"/>
          <p:cNvSpPr/>
          <p:nvPr/>
        </p:nvSpPr>
        <p:spPr>
          <a:xfrm>
            <a:off x="4480560" y="4405578"/>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80560" y="4405578"/>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645152" y="4550053"/>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645152" y="4550053"/>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101" name="TextBox 100"/>
          <p:cNvSpPr txBox="1"/>
          <p:nvPr/>
        </p:nvSpPr>
        <p:spPr>
          <a:xfrm>
            <a:off x="5230368" y="4405578"/>
            <a:ext cx="6016752" cy="709574"/>
          </a:xfrm>
          <a:prstGeom prst="rect">
            <a:avLst/>
          </a:prstGeom>
          <a:noFill/>
        </p:spPr>
        <p:txBody>
          <a:bodyPr wrap="square" anchor="ctr">
            <a:spAutoFit/>
          </a:bodyPr>
          <a:lstStyle/>
          <a:p>
            <a:pPr algn="l">
              <a:spcAft>
                <a:spcPts val="200"/>
              </a:spcAft>
            </a:pPr>
            <a:r>
              <a:rPr sz="1300" b="1">
                <a:solidFill>
                  <a:srgbClr val="F59E0B"/>
                </a:solidFill>
                <a:latin typeface="Arial"/>
              </a:rPr>
              <a:t>75% minimum</a:t>
            </a:r>
          </a:p>
          <a:p>
            <a:pPr algn="l">
              <a:spcAft>
                <a:spcPts val="200"/>
              </a:spcAft>
            </a:pPr>
            <a:r>
              <a:rPr sz="1100" b="0">
                <a:solidFill>
                  <a:srgbClr val="161B26"/>
                </a:solidFill>
                <a:latin typeface="Arial"/>
              </a:rPr>
              <a:t>Below 75% attendance you lose funding eligibility and cannot be assessed.</a:t>
            </a:r>
          </a:p>
        </p:txBody>
      </p:sp>
      <p:sp>
        <p:nvSpPr>
          <p:cNvPr id="102" name="Rectangle 101"/>
          <p:cNvSpPr/>
          <p:nvPr/>
        </p:nvSpPr>
        <p:spPr>
          <a:xfrm>
            <a:off x="4480560" y="5279744"/>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4480560" y="5279744"/>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645152" y="54242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645152" y="5424219"/>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106" name="TextBox 105"/>
          <p:cNvSpPr txBox="1"/>
          <p:nvPr/>
        </p:nvSpPr>
        <p:spPr>
          <a:xfrm>
            <a:off x="5230368" y="5279744"/>
            <a:ext cx="6016752" cy="709574"/>
          </a:xfrm>
          <a:prstGeom prst="rect">
            <a:avLst/>
          </a:prstGeom>
          <a:noFill/>
        </p:spPr>
        <p:txBody>
          <a:bodyPr wrap="square" anchor="ctr">
            <a:spAutoFit/>
          </a:bodyPr>
          <a:lstStyle/>
          <a:p>
            <a:pPr algn="l">
              <a:spcAft>
                <a:spcPts val="200"/>
              </a:spcAft>
            </a:pPr>
            <a:r>
              <a:rPr sz="1300" b="1">
                <a:solidFill>
                  <a:srgbClr val="1F6FEB"/>
                </a:solidFill>
                <a:latin typeface="Arial"/>
              </a:rPr>
              <a:t>TRAQOM survey</a:t>
            </a:r>
          </a:p>
          <a:p>
            <a:pPr algn="l">
              <a:spcAft>
                <a:spcPts val="200"/>
              </a:spcAft>
            </a:pPr>
            <a:r>
              <a:rPr sz="1100" b="0">
                <a:solidFill>
                  <a:srgbClr val="161B26"/>
                </a:solidFill>
                <a:latin typeface="Arial"/>
              </a:rPr>
              <a:t>Complete the mandatory course survey on the LMS before you leave.</a:t>
            </a:r>
          </a:p>
        </p:txBody>
      </p:sp>
      <p:sp>
        <p:nvSpPr>
          <p:cNvPr id="107" name="TextBox 10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8" name="TextBox 10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09" name="TextBox 10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1" name="TextBox 10"/>
          <p:cNvSpPr txBox="1"/>
          <p:nvPr/>
        </p:nvSpPr>
        <p:spPr>
          <a:xfrm>
            <a:off x="914400" y="4114800"/>
            <a:ext cx="3063240" cy="548640"/>
          </a:xfrm>
          <a:prstGeom prst="rect">
            <a:avLst/>
          </a:prstGeom>
          <a:noFill/>
        </p:spPr>
        <p:txBody>
          <a:bodyPr wrap="square" anchor="t">
            <a:spAutoFit/>
          </a:bodyPr>
          <a:lstStyle/>
          <a:p>
            <a:pPr algn="ctr">
              <a:spcAft>
                <a:spcPts val="400"/>
              </a:spcAft>
            </a:pPr>
            <a:r>
              <a:rPr sz="2000" b="1">
                <a:solidFill>
                  <a:srgbClr val="161B26"/>
                </a:solidFill>
                <a:latin typeface="Arial"/>
              </a:rPr>
              <a:t>Your Trainer</a:t>
            </a:r>
          </a:p>
        </p:txBody>
      </p:sp>
      <p:sp>
        <p:nvSpPr>
          <p:cNvPr id="12" name="TextBox 11"/>
          <p:cNvSpPr txBox="1"/>
          <p:nvPr/>
        </p:nvSpPr>
        <p:spPr>
          <a:xfrm>
            <a:off x="914400" y="4709160"/>
            <a:ext cx="3063240" cy="1097280"/>
          </a:xfrm>
          <a:prstGeom prst="rect">
            <a:avLst/>
          </a:prstGeom>
          <a:noFill/>
        </p:spPr>
        <p:txBody>
          <a:bodyPr wrap="square" anchor="t">
            <a:spAutoFit/>
          </a:bodyPr>
          <a:lstStyle/>
          <a:p>
            <a:pPr algn="ctr">
              <a:spcAft>
                <a:spcPts val="400"/>
              </a:spcAft>
            </a:pPr>
            <a:r>
              <a:rPr sz="1250" b="0">
                <a:solidFill>
                  <a:srgbClr val="5B6372"/>
                </a:solidFill>
                <a:latin typeface="Arial"/>
              </a:rPr>
              <a:t>General Trainer template —
to be completed by the trainer</a:t>
            </a:r>
          </a:p>
        </p:txBody>
      </p:sp>
      <p:sp>
        <p:nvSpPr>
          <p:cNvPr id="13" name="Rectangle 12"/>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783080"/>
            <a:ext cx="6419088" cy="579120"/>
          </a:xfrm>
          <a:prstGeom prst="rect">
            <a:avLst/>
          </a:prstGeom>
          <a:noFill/>
        </p:spPr>
        <p:txBody>
          <a:bodyPr wrap="square" anchor="ctr">
            <a:spAutoFit/>
          </a:bodyPr>
          <a:lstStyle/>
          <a:p>
            <a:pPr algn="l">
              <a:spcAft>
                <a:spcPts val="300"/>
              </a:spcAft>
            </a:pPr>
            <a:r>
              <a:rPr sz="105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6" name="Rectangle 15"/>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526792"/>
            <a:ext cx="6419088" cy="579120"/>
          </a:xfrm>
          <a:prstGeom prst="rect">
            <a:avLst/>
          </a:prstGeom>
          <a:noFill/>
        </p:spPr>
        <p:txBody>
          <a:bodyPr wrap="square" anchor="ctr">
            <a:spAutoFit/>
          </a:bodyPr>
          <a:lstStyle/>
          <a:p>
            <a:pPr algn="l">
              <a:spcAft>
                <a:spcPts val="300"/>
              </a:spcAft>
            </a:pPr>
            <a:r>
              <a:rPr sz="105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9" name="Rectangle 18"/>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3270504"/>
            <a:ext cx="6419088" cy="579120"/>
          </a:xfrm>
          <a:prstGeom prst="rect">
            <a:avLst/>
          </a:prstGeom>
          <a:noFill/>
        </p:spPr>
        <p:txBody>
          <a:bodyPr wrap="square" anchor="ctr">
            <a:spAutoFit/>
          </a:bodyPr>
          <a:lstStyle/>
          <a:p>
            <a:pPr algn="l">
              <a:spcAft>
                <a:spcPts val="300"/>
              </a:spcAft>
            </a:pPr>
            <a:r>
              <a:rPr sz="105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2" name="Rectangle 21"/>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4014216"/>
            <a:ext cx="6419088" cy="579120"/>
          </a:xfrm>
          <a:prstGeom prst="rect">
            <a:avLst/>
          </a:prstGeom>
          <a:noFill/>
        </p:spPr>
        <p:txBody>
          <a:bodyPr wrap="square" anchor="ctr">
            <a:spAutoFit/>
          </a:bodyPr>
          <a:lstStyle/>
          <a:p>
            <a:pPr algn="l">
              <a:spcAft>
                <a:spcPts val="300"/>
              </a:spcAft>
            </a:pPr>
            <a:r>
              <a:rPr sz="105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5" name="Rectangle 24"/>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4757928"/>
            <a:ext cx="6419088" cy="579120"/>
          </a:xfrm>
          <a:prstGeom prst="rect">
            <a:avLst/>
          </a:prstGeom>
          <a:noFill/>
        </p:spPr>
        <p:txBody>
          <a:bodyPr wrap="square" anchor="ctr">
            <a:spAutoFit/>
          </a:bodyPr>
          <a:lstStyle/>
          <a:p>
            <a:pPr algn="l">
              <a:spcAft>
                <a:spcPts val="300"/>
              </a:spcAft>
            </a:pPr>
            <a:r>
              <a:rPr sz="105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8" name="Rectangle 27"/>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5501640"/>
            <a:ext cx="6419088" cy="579120"/>
          </a:xfrm>
          <a:prstGeom prst="rect">
            <a:avLst/>
          </a:prstGeom>
          <a:noFill/>
        </p:spPr>
        <p:txBody>
          <a:bodyPr wrap="square" anchor="ctr">
            <a:spAutoFit/>
          </a:bodyPr>
          <a:lstStyle/>
          <a:p>
            <a:pPr algn="l">
              <a:spcAft>
                <a:spcPts val="300"/>
              </a:spcAft>
            </a:pPr>
            <a:r>
              <a:rPr sz="105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1" name="TextBox 30"/>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2" name="TextBox 31"/>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1" name="TextBox 10"/>
          <p:cNvSpPr txBox="1"/>
          <p:nvPr/>
        </p:nvSpPr>
        <p:spPr>
          <a:xfrm>
            <a:off x="914400" y="4114800"/>
            <a:ext cx="3063240" cy="548640"/>
          </a:xfrm>
          <a:prstGeom prst="rect">
            <a:avLst/>
          </a:prstGeom>
          <a:noFill/>
        </p:spPr>
        <p:txBody>
          <a:bodyPr wrap="square" anchor="t">
            <a:spAutoFit/>
          </a:bodyPr>
          <a:lstStyle/>
          <a:p>
            <a:pPr algn="ctr">
              <a:spcAft>
                <a:spcPts val="400"/>
              </a:spcAft>
            </a:pPr>
            <a:r>
              <a:rPr sz="2000" b="1">
                <a:solidFill>
                  <a:srgbClr val="161B26"/>
                </a:solidFill>
                <a:latin typeface="Arial"/>
              </a:rPr>
              <a:t>Dr. Alfred Ang</a:t>
            </a:r>
          </a:p>
        </p:txBody>
      </p:sp>
      <p:sp>
        <p:nvSpPr>
          <p:cNvPr id="12" name="TextBox 11"/>
          <p:cNvSpPr txBox="1"/>
          <p:nvPr/>
        </p:nvSpPr>
        <p:spPr>
          <a:xfrm>
            <a:off x="914400" y="4709160"/>
            <a:ext cx="3063240" cy="1097280"/>
          </a:xfrm>
          <a:prstGeom prst="rect">
            <a:avLst/>
          </a:prstGeom>
          <a:noFill/>
        </p:spPr>
        <p:txBody>
          <a:bodyPr wrap="square" anchor="t">
            <a:spAutoFit/>
          </a:bodyPr>
          <a:lstStyle/>
          <a:p>
            <a:pPr algn="ctr">
              <a:spcAft>
                <a:spcPts val="400"/>
              </a:spcAft>
            </a:pPr>
            <a:r>
              <a:rPr sz="1250" b="0">
                <a:solidFill>
                  <a:srgbClr val="5B6372"/>
                </a:solidFill>
                <a:latin typeface="Arial"/>
              </a:rPr>
              <a:t>Principal Trainer
Tertiary Infotech Academy Pte Ltd</a:t>
            </a:r>
          </a:p>
        </p:txBody>
      </p:sp>
      <p:sp>
        <p:nvSpPr>
          <p:cNvPr id="13" name="Rectangle 12"/>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783080"/>
            <a:ext cx="6419088" cy="727862"/>
          </a:xfrm>
          <a:prstGeom prst="rect">
            <a:avLst/>
          </a:prstGeom>
          <a:noFill/>
        </p:spPr>
        <p:txBody>
          <a:bodyPr wrap="square" anchor="ctr">
            <a:spAutoFit/>
          </a:bodyPr>
          <a:lstStyle/>
          <a:p>
            <a:pPr algn="l">
              <a:spcAft>
                <a:spcPts val="300"/>
              </a:spcAft>
            </a:pPr>
            <a:r>
              <a:rPr sz="105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6" name="Rectangle 15"/>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675534"/>
            <a:ext cx="6419088" cy="727862"/>
          </a:xfrm>
          <a:prstGeom prst="rect">
            <a:avLst/>
          </a:prstGeom>
          <a:noFill/>
        </p:spPr>
        <p:txBody>
          <a:bodyPr wrap="square" anchor="ctr">
            <a:spAutoFit/>
          </a:bodyPr>
          <a:lstStyle/>
          <a:p>
            <a:pPr algn="l">
              <a:spcAft>
                <a:spcPts val="300"/>
              </a:spcAft>
            </a:pPr>
            <a:r>
              <a:rPr sz="1050" b="1">
                <a:solidFill>
                  <a:srgbClr val="10B981"/>
                </a:solidFill>
                <a:latin typeface="Arial"/>
              </a:rPr>
              <a:t>BACKGROUND</a:t>
            </a:r>
          </a:p>
          <a:p>
            <a:pPr algn="l">
              <a:spcAft>
                <a:spcPts val="300"/>
              </a:spcAft>
            </a:pPr>
            <a:r>
              <a:rPr sz="1300" b="0">
                <a:solidFill>
                  <a:srgbClr val="161B26"/>
                </a:solidFill>
                <a:latin typeface="Arial"/>
              </a:rPr>
              <a:t>PhD — 20+ years of industry and training experience in enterprise software, cloud platforms and business applications.</a:t>
            </a:r>
          </a:p>
        </p:txBody>
      </p:sp>
      <p:sp>
        <p:nvSpPr>
          <p:cNvPr id="19" name="Rectangle 18"/>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3567988"/>
            <a:ext cx="6419088" cy="727862"/>
          </a:xfrm>
          <a:prstGeom prst="rect">
            <a:avLst/>
          </a:prstGeom>
          <a:noFill/>
        </p:spPr>
        <p:txBody>
          <a:bodyPr wrap="square" anchor="ctr">
            <a:spAutoFit/>
          </a:bodyPr>
          <a:lstStyle/>
          <a:p>
            <a:pPr algn="l">
              <a:spcAft>
                <a:spcPts val="300"/>
              </a:spcAft>
            </a:pPr>
            <a:r>
              <a:rPr sz="1050" b="1">
                <a:solidFill>
                  <a:srgbClr val="7C3AED"/>
                </a:solidFill>
                <a:latin typeface="Arial"/>
              </a:rPr>
              <a:t>DELIVERS</a:t>
            </a:r>
          </a:p>
          <a:p>
            <a:pPr algn="l">
              <a:spcAft>
                <a:spcPts val="300"/>
              </a:spcAft>
            </a:pPr>
            <a:r>
              <a:rPr sz="1300" b="0">
                <a:solidFill>
                  <a:srgbClr val="161B26"/>
                </a:solidFill>
                <a:latin typeface="Arial"/>
              </a:rPr>
              <a:t>WSQ courses on Microsoft Dynamics 365, Power Platform, data analytics, AI and cloud technologies.</a:t>
            </a:r>
          </a:p>
        </p:txBody>
      </p:sp>
      <p:sp>
        <p:nvSpPr>
          <p:cNvPr id="22" name="Rectangle 21"/>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4460442"/>
            <a:ext cx="6419088" cy="727862"/>
          </a:xfrm>
          <a:prstGeom prst="rect">
            <a:avLst/>
          </a:prstGeom>
          <a:noFill/>
        </p:spPr>
        <p:txBody>
          <a:bodyPr wrap="square" anchor="ctr">
            <a:spAutoFit/>
          </a:bodyPr>
          <a:lstStyle/>
          <a:p>
            <a:pPr algn="l">
              <a:spcAft>
                <a:spcPts val="300"/>
              </a:spcAft>
            </a:pPr>
            <a:r>
              <a:rPr sz="1050" b="1">
                <a:solidFill>
                  <a:srgbClr val="F59E0B"/>
                </a:solidFill>
                <a:latin typeface="Arial"/>
              </a:rPr>
              <a:t>CERTIFICATIONS</a:t>
            </a:r>
          </a:p>
          <a:p>
            <a:pPr algn="l">
              <a:spcAft>
                <a:spcPts val="300"/>
              </a:spcAft>
            </a:pPr>
            <a:r>
              <a:rPr sz="1300" b="0">
                <a:solidFill>
                  <a:srgbClr val="161B26"/>
                </a:solidFill>
                <a:latin typeface="Arial"/>
              </a:rPr>
              <a:t>Microsoft Certified Trainer; Dynamics 365 and Power Platform certified.</a:t>
            </a:r>
          </a:p>
        </p:txBody>
      </p:sp>
      <p:sp>
        <p:nvSpPr>
          <p:cNvPr id="25" name="Rectangle 24"/>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5352896"/>
            <a:ext cx="6419088" cy="727862"/>
          </a:xfrm>
          <a:prstGeom prst="rect">
            <a:avLst/>
          </a:prstGeom>
          <a:noFill/>
        </p:spPr>
        <p:txBody>
          <a:bodyPr wrap="square" anchor="ctr">
            <a:spAutoFit/>
          </a:bodyPr>
          <a:lstStyle/>
          <a:p>
            <a:pPr algn="l">
              <a:spcAft>
                <a:spcPts val="300"/>
              </a:spcAft>
            </a:pPr>
            <a:r>
              <a:rPr sz="105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8" name="TextBox 27"/>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9" name="TextBox 28"/>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74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Who you are</a:t>
            </a:r>
          </a:p>
          <a:p>
            <a:pPr algn="l">
              <a:spcAft>
                <a:spcPts val="300"/>
              </a:spcAft>
            </a:pPr>
            <a:r>
              <a:rPr sz="1150" b="0">
                <a:solidFill>
                  <a:srgbClr val="5B6372"/>
                </a:solidFill>
                <a:latin typeface="Arial"/>
              </a:rPr>
              <a:t>Your name, your organisation and your role.</a:t>
            </a:r>
          </a:p>
        </p:txBody>
      </p:sp>
      <p:sp>
        <p:nvSpPr>
          <p:cNvPr id="12" name="Rectangle 11"/>
          <p:cNvSpPr/>
          <p:nvPr/>
        </p:nvSpPr>
        <p:spPr>
          <a:xfrm>
            <a:off x="6222492" y="1783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74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Your CRM experience</a:t>
            </a:r>
          </a:p>
          <a:p>
            <a:pPr algn="l">
              <a:spcAft>
                <a:spcPts val="300"/>
              </a:spcAft>
            </a:pPr>
            <a:r>
              <a:rPr sz="1150" b="0">
                <a:solidFill>
                  <a:srgbClr val="5B6372"/>
                </a:solidFill>
                <a:latin typeface="Arial"/>
              </a:rPr>
              <a:t>Dynamics 365, Salesforce, HubSpot — or none at all. All are welcome.</a:t>
            </a:r>
          </a:p>
        </p:txBody>
      </p:sp>
      <p:sp>
        <p:nvSpPr>
          <p:cNvPr id="17" name="Rectangle 16"/>
          <p:cNvSpPr/>
          <p:nvPr/>
        </p:nvSpPr>
        <p:spPr>
          <a:xfrm>
            <a:off x="777240" y="4069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9080"/>
            <a:ext cx="91440" cy="2084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78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Which part you own</a:t>
            </a:r>
          </a:p>
          <a:p>
            <a:pPr algn="l">
              <a:spcAft>
                <a:spcPts val="300"/>
              </a:spcAft>
            </a:pPr>
            <a:r>
              <a:rPr sz="1150" b="0">
                <a:solidFill>
                  <a:srgbClr val="5B6372"/>
                </a:solidFill>
                <a:latin typeface="Arial"/>
              </a:rPr>
              <a:t>Marketing, sales, customer service or field operations?</a:t>
            </a:r>
          </a:p>
        </p:txBody>
      </p:sp>
      <p:sp>
        <p:nvSpPr>
          <p:cNvPr id="22" name="Rectangle 21"/>
          <p:cNvSpPr/>
          <p:nvPr/>
        </p:nvSpPr>
        <p:spPr>
          <a:xfrm>
            <a:off x="6222492" y="4069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69080"/>
            <a:ext cx="91440" cy="2084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60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4178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Your goal for tomorrow</a:t>
            </a:r>
          </a:p>
          <a:p>
            <a:pPr algn="l">
              <a:spcAft>
                <a:spcPts val="300"/>
              </a:spcAft>
            </a:pPr>
            <a:r>
              <a:rPr sz="1150" b="0">
                <a:solidFill>
                  <a:srgbClr val="5B6372"/>
                </a:solidFill>
                <a:latin typeface="Arial"/>
              </a:rPr>
              <a:t>One thing you want to be able to do with Dynamics 365 by the end of Day 2.</a:t>
            </a:r>
          </a:p>
        </p:txBody>
      </p:sp>
      <p:sp>
        <p:nvSpPr>
          <p:cNvPr id="27" name="TextBox 2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8" name="TextBox 2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941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41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0025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0025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37076" cy="795528"/>
          </a:xfrm>
          <a:prstGeom prst="rect">
            <a:avLst/>
          </a:prstGeom>
          <a:noFill/>
        </p:spPr>
        <p:txBody>
          <a:bodyPr wrap="square" anchor="ctr">
            <a:spAutoFit/>
          </a:bodyPr>
          <a:lstStyle/>
          <a:p>
            <a:pPr algn="l">
              <a:spcAft>
                <a:spcPts val="400"/>
              </a:spcAft>
            </a:pPr>
            <a:r>
              <a:rPr sz="1400" b="0">
                <a:solidFill>
                  <a:srgbClr val="161B26"/>
                </a:solidFill>
                <a:latin typeface="Arial"/>
              </a:rPr>
              <a:t>Set your mobile phone to silent mode.</a:t>
            </a:r>
          </a:p>
        </p:txBody>
      </p:sp>
      <p:sp>
        <p:nvSpPr>
          <p:cNvPr id="12" name="Rectangle 11"/>
          <p:cNvSpPr/>
          <p:nvPr/>
        </p:nvSpPr>
        <p:spPr>
          <a:xfrm>
            <a:off x="6222492" y="1783080"/>
            <a:ext cx="5189220" cy="941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941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0025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0025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74520"/>
            <a:ext cx="4037076" cy="795528"/>
          </a:xfrm>
          <a:prstGeom prst="rect">
            <a:avLst/>
          </a:prstGeom>
          <a:noFill/>
        </p:spPr>
        <p:txBody>
          <a:bodyPr wrap="square" anchor="ctr">
            <a:spAutoFit/>
          </a:bodyPr>
          <a:lstStyle/>
          <a:p>
            <a:pPr algn="l">
              <a:spcAft>
                <a:spcPts val="400"/>
              </a:spcAft>
            </a:pPr>
            <a:r>
              <a:rPr sz="1400" b="0">
                <a:solidFill>
                  <a:srgbClr val="161B26"/>
                </a:solidFill>
                <a:latin typeface="Arial"/>
              </a:rPr>
              <a:t>Participate actively — no question is too small.</a:t>
            </a:r>
          </a:p>
        </p:txBody>
      </p:sp>
      <p:sp>
        <p:nvSpPr>
          <p:cNvPr id="17" name="Rectangle 16"/>
          <p:cNvSpPr/>
          <p:nvPr/>
        </p:nvSpPr>
        <p:spPr>
          <a:xfrm>
            <a:off x="777240" y="2926080"/>
            <a:ext cx="5189220" cy="941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26080"/>
            <a:ext cx="91440" cy="941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455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455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17520"/>
            <a:ext cx="4037076" cy="795528"/>
          </a:xfrm>
          <a:prstGeom prst="rect">
            <a:avLst/>
          </a:prstGeom>
          <a:noFill/>
        </p:spPr>
        <p:txBody>
          <a:bodyPr wrap="square" anchor="ctr">
            <a:spAutoFit/>
          </a:bodyPr>
          <a:lstStyle/>
          <a:p>
            <a:pPr algn="l">
              <a:spcAft>
                <a:spcPts val="400"/>
              </a:spcAft>
            </a:pPr>
            <a:r>
              <a:rPr sz="1400" b="0">
                <a:solidFill>
                  <a:srgbClr val="161B26"/>
                </a:solidFill>
                <a:latin typeface="Arial"/>
              </a:rPr>
              <a:t>Respect each other's views; agree to disagree.</a:t>
            </a:r>
          </a:p>
        </p:txBody>
      </p:sp>
      <p:sp>
        <p:nvSpPr>
          <p:cNvPr id="22" name="Rectangle 21"/>
          <p:cNvSpPr/>
          <p:nvPr/>
        </p:nvSpPr>
        <p:spPr>
          <a:xfrm>
            <a:off x="6222492" y="2926080"/>
            <a:ext cx="5189220" cy="941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2926080"/>
            <a:ext cx="91440" cy="941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1455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1455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017520"/>
            <a:ext cx="4037076" cy="795528"/>
          </a:xfrm>
          <a:prstGeom prst="rect">
            <a:avLst/>
          </a:prstGeom>
          <a:noFill/>
        </p:spPr>
        <p:txBody>
          <a:bodyPr wrap="square" anchor="ctr">
            <a:spAutoFit/>
          </a:bodyPr>
          <a:lstStyle/>
          <a:p>
            <a:pPr algn="l">
              <a:spcAft>
                <a:spcPts val="400"/>
              </a:spcAft>
            </a:pPr>
            <a:r>
              <a:rPr sz="1400" b="0">
                <a:solidFill>
                  <a:srgbClr val="161B26"/>
                </a:solidFill>
                <a:latin typeface="Arial"/>
              </a:rPr>
              <a:t>One conversation at a time.</a:t>
            </a:r>
          </a:p>
        </p:txBody>
      </p:sp>
      <p:sp>
        <p:nvSpPr>
          <p:cNvPr id="27" name="Rectangle 26"/>
          <p:cNvSpPr/>
          <p:nvPr/>
        </p:nvSpPr>
        <p:spPr>
          <a:xfrm>
            <a:off x="777240" y="4069080"/>
            <a:ext cx="5189220" cy="941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69080"/>
            <a:ext cx="91440" cy="941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85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85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60520"/>
            <a:ext cx="4037076" cy="795528"/>
          </a:xfrm>
          <a:prstGeom prst="rect">
            <a:avLst/>
          </a:prstGeom>
          <a:noFill/>
        </p:spPr>
        <p:txBody>
          <a:bodyPr wrap="square" anchor="ctr">
            <a:spAutoFit/>
          </a:bodyPr>
          <a:lstStyle/>
          <a:p>
            <a:pPr algn="l">
              <a:spcAft>
                <a:spcPts val="400"/>
              </a:spcAft>
            </a:pPr>
            <a:r>
              <a:rPr sz="1400" b="0">
                <a:solidFill>
                  <a:srgbClr val="161B26"/>
                </a:solidFill>
                <a:latin typeface="Arial"/>
              </a:rPr>
              <a:t>Step out quietly for calls or breaks.</a:t>
            </a:r>
          </a:p>
        </p:txBody>
      </p:sp>
      <p:sp>
        <p:nvSpPr>
          <p:cNvPr id="32" name="Rectangle 31"/>
          <p:cNvSpPr/>
          <p:nvPr/>
        </p:nvSpPr>
        <p:spPr>
          <a:xfrm>
            <a:off x="6222492" y="4069080"/>
            <a:ext cx="5189220" cy="941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069080"/>
            <a:ext cx="91440" cy="941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42885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42885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160520"/>
            <a:ext cx="4037076" cy="795528"/>
          </a:xfrm>
          <a:prstGeom prst="rect">
            <a:avLst/>
          </a:prstGeom>
          <a:noFill/>
        </p:spPr>
        <p:txBody>
          <a:bodyPr wrap="square" anchor="ctr">
            <a:spAutoFit/>
          </a:bodyPr>
          <a:lstStyle/>
          <a:p>
            <a:pPr algn="l">
              <a:spcAft>
                <a:spcPts val="400"/>
              </a:spcAft>
            </a:pPr>
            <a:r>
              <a:rPr sz="1400" b="0">
                <a:solidFill>
                  <a:srgbClr val="161B26"/>
                </a:solidFill>
                <a:latin typeface="Arial"/>
              </a:rPr>
              <a:t>Be punctual; return from breaks on time.</a:t>
            </a:r>
          </a:p>
        </p:txBody>
      </p:sp>
      <p:sp>
        <p:nvSpPr>
          <p:cNvPr id="37" name="Rectangle 36"/>
          <p:cNvSpPr/>
          <p:nvPr/>
        </p:nvSpPr>
        <p:spPr>
          <a:xfrm>
            <a:off x="777240" y="5212080"/>
            <a:ext cx="5189220" cy="941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12080"/>
            <a:ext cx="91440" cy="941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15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15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03520"/>
            <a:ext cx="4037076" cy="795528"/>
          </a:xfrm>
          <a:prstGeom prst="rect">
            <a:avLst/>
          </a:prstGeom>
          <a:noFill/>
        </p:spPr>
        <p:txBody>
          <a:bodyPr wrap="square" anchor="ctr">
            <a:spAutoFit/>
          </a:bodyPr>
          <a:lstStyle/>
          <a:p>
            <a:pPr algn="l">
              <a:spcAft>
                <a:spcPts val="400"/>
              </a:spcAft>
            </a:pPr>
            <a:r>
              <a:rPr sz="1400" b="0">
                <a:solidFill>
                  <a:srgbClr val="161B26"/>
                </a:solidFill>
                <a:latin typeface="Arial"/>
              </a:rPr>
              <a:t>75% attendance is required for funding.</a:t>
            </a:r>
          </a:p>
        </p:txBody>
      </p:sp>
      <p:sp>
        <p:nvSpPr>
          <p:cNvPr id="42" name="Rectangle 41"/>
          <p:cNvSpPr/>
          <p:nvPr/>
        </p:nvSpPr>
        <p:spPr>
          <a:xfrm>
            <a:off x="6222492" y="5212080"/>
            <a:ext cx="5189220" cy="941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22492" y="5212080"/>
            <a:ext cx="91440" cy="941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0236" y="54315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0236" y="54315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55180" y="5303520"/>
            <a:ext cx="4037076" cy="795528"/>
          </a:xfrm>
          <a:prstGeom prst="rect">
            <a:avLst/>
          </a:prstGeom>
          <a:noFill/>
        </p:spPr>
        <p:txBody>
          <a:bodyPr wrap="square" anchor="ctr">
            <a:spAutoFit/>
          </a:bodyPr>
          <a:lstStyle/>
          <a:p>
            <a:pPr algn="l">
              <a:spcAft>
                <a:spcPts val="400"/>
              </a:spcAft>
            </a:pPr>
            <a:r>
              <a:rPr sz="1400" b="0">
                <a:solidFill>
                  <a:srgbClr val="161B26"/>
                </a:solidFill>
                <a:latin typeface="Arial"/>
              </a:rPr>
              <a:t>Ask for help the moment a lab step fails.</a:t>
            </a:r>
          </a:p>
        </p:txBody>
      </p:sp>
      <p:sp>
        <p:nvSpPr>
          <p:cNvPr id="47" name="TextBox 4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8" name="TextBox 4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48640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486400" cy="457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75104"/>
            <a:ext cx="155448" cy="15544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88720" y="1975104"/>
            <a:ext cx="155448" cy="1554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35608" y="19751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911096"/>
            <a:ext cx="4187952" cy="3017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65960" y="1911096"/>
            <a:ext cx="3913632" cy="301752"/>
          </a:xfrm>
          <a:prstGeom prst="rect">
            <a:avLst/>
          </a:prstGeom>
          <a:noFill/>
        </p:spPr>
        <p:txBody>
          <a:bodyPr wrap="square" anchor="ctr">
            <a:spAutoFit/>
          </a:bodyPr>
          <a:lstStyle/>
          <a:p>
            <a:pPr algn="l">
              <a:spcAft>
                <a:spcPts val="400"/>
              </a:spcAft>
            </a:pPr>
            <a:r>
              <a:rPr sz="1200" b="1">
                <a:solidFill>
                  <a:srgbClr val="1F6FEB"/>
                </a:solidFill>
                <a:latin typeface="Arial"/>
              </a:rPr>
              <a:t>https://lms-tms.tertiaryinfotech.com</a:t>
            </a:r>
          </a:p>
        </p:txBody>
      </p:sp>
      <p:sp>
        <p:nvSpPr>
          <p:cNvPr id="14" name="Rectangle 13"/>
          <p:cNvSpPr/>
          <p:nvPr/>
        </p:nvSpPr>
        <p:spPr>
          <a:xfrm>
            <a:off x="1005840" y="2487168"/>
            <a:ext cx="502920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487168"/>
            <a:ext cx="4663440" cy="658368"/>
          </a:xfrm>
          <a:prstGeom prst="rect">
            <a:avLst/>
          </a:prstGeom>
          <a:noFill/>
        </p:spPr>
        <p:txBody>
          <a:bodyPr wrap="square" anchor="ctr">
            <a:spAutoFit/>
          </a:bodyPr>
          <a:lstStyle/>
          <a:p>
            <a:pPr algn="l">
              <a:spcAft>
                <a:spcPts val="200"/>
              </a:spcAft>
            </a:pPr>
            <a:r>
              <a:rPr sz="1450" b="1">
                <a:solidFill>
                  <a:srgbClr val="FFFFFF"/>
                </a:solidFill>
                <a:latin typeface="Arial"/>
              </a:rPr>
              <a:t>Tertiary Infotech LMS/TMS</a:t>
            </a:r>
          </a:p>
          <a:p>
            <a:pPr algn="l">
              <a:spcAft>
                <a:spcPts val="200"/>
              </a:spcAft>
            </a:pPr>
            <a:r>
              <a:rPr sz="1050" b="0">
                <a:solidFill>
                  <a:srgbClr val="B3D4FF"/>
                </a:solidFill>
                <a:latin typeface="Arial"/>
              </a:rPr>
              <a:t>My Courses  ·  Attendance  ·  Assessment</a:t>
            </a:r>
          </a:p>
        </p:txBody>
      </p:sp>
      <p:sp>
        <p:nvSpPr>
          <p:cNvPr id="16" name="Rectangle 15"/>
          <p:cNvSpPr/>
          <p:nvPr/>
        </p:nvSpPr>
        <p:spPr>
          <a:xfrm>
            <a:off x="1005840" y="3291840"/>
            <a:ext cx="5029200" cy="420624"/>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291840"/>
            <a:ext cx="4663440" cy="420624"/>
          </a:xfrm>
          <a:prstGeom prst="rect">
            <a:avLst/>
          </a:prstGeom>
          <a:noFill/>
        </p:spPr>
        <p:txBody>
          <a:bodyPr wrap="square" anchor="ctr">
            <a:spAutoFit/>
          </a:bodyPr>
          <a:lstStyle/>
          <a:p>
            <a:pPr algn="l">
              <a:spcAft>
                <a:spcPts val="400"/>
              </a:spcAft>
            </a:pPr>
            <a:r>
              <a:rPr sz="1150" b="1">
                <a:solidFill>
                  <a:srgbClr val="1F6FEB"/>
                </a:solidFill>
                <a:latin typeface="Arial"/>
              </a:rPr>
              <a:t>Microsoft Dynamics 365 Fundamentals (CRM) (MB-910)</a:t>
            </a:r>
          </a:p>
        </p:txBody>
      </p:sp>
      <p:sp>
        <p:nvSpPr>
          <p:cNvPr id="18" name="Rectangle 17"/>
          <p:cNvSpPr/>
          <p:nvPr/>
        </p:nvSpPr>
        <p:spPr>
          <a:xfrm>
            <a:off x="1005840" y="3803904"/>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3803904"/>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Trainer Slides (PDF)   ⬇</a:t>
            </a:r>
          </a:p>
        </p:txBody>
      </p:sp>
      <p:sp>
        <p:nvSpPr>
          <p:cNvPr id="20" name="Rectangle 19"/>
          <p:cNvSpPr/>
          <p:nvPr/>
        </p:nvSpPr>
        <p:spPr>
          <a:xfrm>
            <a:off x="1005840" y="4315968"/>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315968"/>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Learner Guide (PDF)   ⬇</a:t>
            </a:r>
          </a:p>
        </p:txBody>
      </p:sp>
      <p:sp>
        <p:nvSpPr>
          <p:cNvPr id="22" name="Rectangle 21"/>
          <p:cNvSpPr/>
          <p:nvPr/>
        </p:nvSpPr>
        <p:spPr>
          <a:xfrm>
            <a:off x="1005840" y="4828032"/>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4828032"/>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Lab Files &amp; Mock Data   ⬇</a:t>
            </a:r>
          </a:p>
        </p:txBody>
      </p:sp>
      <p:sp>
        <p:nvSpPr>
          <p:cNvPr id="24" name="Rectangle 23"/>
          <p:cNvSpPr/>
          <p:nvPr/>
        </p:nvSpPr>
        <p:spPr>
          <a:xfrm>
            <a:off x="1005840" y="5340096"/>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5340096"/>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Assessment Submission   ↗</a:t>
            </a:r>
          </a:p>
        </p:txBody>
      </p:sp>
      <p:sp>
        <p:nvSpPr>
          <p:cNvPr id="26" name="Rectangle 25"/>
          <p:cNvSpPr/>
          <p:nvPr/>
        </p:nvSpPr>
        <p:spPr>
          <a:xfrm>
            <a:off x="6583680" y="1828800"/>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0" y="1828800"/>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48272" y="2071116"/>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48272" y="2071116"/>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30" name="TextBox 29"/>
          <p:cNvSpPr txBox="1"/>
          <p:nvPr/>
        </p:nvSpPr>
        <p:spPr>
          <a:xfrm>
            <a:off x="7333488" y="1828800"/>
            <a:ext cx="3913632" cy="905256"/>
          </a:xfrm>
          <a:prstGeom prst="rect">
            <a:avLst/>
          </a:prstGeom>
          <a:noFill/>
        </p:spPr>
        <p:txBody>
          <a:bodyPr wrap="square" anchor="ctr">
            <a:spAutoFit/>
          </a:bodyPr>
          <a:lstStyle/>
          <a:p>
            <a:pPr algn="l">
              <a:spcAft>
                <a:spcPts val="200"/>
              </a:spcAft>
            </a:pPr>
            <a:r>
              <a:rPr sz="1300" b="1">
                <a:solidFill>
                  <a:srgbClr val="1F6FEB"/>
                </a:solidFill>
                <a:latin typeface="Arial"/>
              </a:rPr>
              <a:t>Sign in</a:t>
            </a:r>
          </a:p>
          <a:p>
            <a:pPr algn="l">
              <a:spcAft>
                <a:spcPts val="200"/>
              </a:spcAft>
            </a:pPr>
            <a:r>
              <a:rPr sz="1100" b="0">
                <a:solidFill>
                  <a:srgbClr val="161B26"/>
                </a:solidFill>
                <a:latin typeface="Arial"/>
              </a:rPr>
              <a:t>lms-tms.tertiaryinfotech.com — log in with your registered email.</a:t>
            </a:r>
          </a:p>
        </p:txBody>
      </p:sp>
      <p:sp>
        <p:nvSpPr>
          <p:cNvPr id="31" name="Rectangle 30"/>
          <p:cNvSpPr/>
          <p:nvPr/>
        </p:nvSpPr>
        <p:spPr>
          <a:xfrm>
            <a:off x="6583680" y="2898648"/>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0" y="2898648"/>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48272" y="31409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48272" y="31409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35" name="TextBox 34"/>
          <p:cNvSpPr txBox="1"/>
          <p:nvPr/>
        </p:nvSpPr>
        <p:spPr>
          <a:xfrm>
            <a:off x="7333488" y="2898648"/>
            <a:ext cx="3913632" cy="905256"/>
          </a:xfrm>
          <a:prstGeom prst="rect">
            <a:avLst/>
          </a:prstGeom>
          <a:noFill/>
        </p:spPr>
        <p:txBody>
          <a:bodyPr wrap="square" anchor="ctr">
            <a:spAutoFit/>
          </a:bodyPr>
          <a:lstStyle/>
          <a:p>
            <a:pPr algn="l">
              <a:spcAft>
                <a:spcPts val="200"/>
              </a:spcAft>
            </a:pPr>
            <a:r>
              <a:rPr sz="1300" b="1">
                <a:solidFill>
                  <a:srgbClr val="10B981"/>
                </a:solidFill>
                <a:latin typeface="Arial"/>
              </a:rPr>
              <a:t>Open your course</a:t>
            </a:r>
          </a:p>
          <a:p>
            <a:pPr algn="l">
              <a:spcAft>
                <a:spcPts val="200"/>
              </a:spcAft>
            </a:pPr>
            <a:r>
              <a:rPr sz="1100" b="0">
                <a:solidFill>
                  <a:srgbClr val="161B26"/>
                </a:solidFill>
                <a:latin typeface="Arial"/>
              </a:rPr>
              <a:t>Select this course under My Courses.</a:t>
            </a:r>
          </a:p>
        </p:txBody>
      </p:sp>
      <p:sp>
        <p:nvSpPr>
          <p:cNvPr id="36" name="Rectangle 35"/>
          <p:cNvSpPr/>
          <p:nvPr/>
        </p:nvSpPr>
        <p:spPr>
          <a:xfrm>
            <a:off x="6583680" y="3968496"/>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83680" y="3968496"/>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48272" y="421081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48272" y="4210812"/>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40" name="TextBox 39"/>
          <p:cNvSpPr txBox="1"/>
          <p:nvPr/>
        </p:nvSpPr>
        <p:spPr>
          <a:xfrm>
            <a:off x="7333488" y="3968496"/>
            <a:ext cx="3913632" cy="905256"/>
          </a:xfrm>
          <a:prstGeom prst="rect">
            <a:avLst/>
          </a:prstGeom>
          <a:noFill/>
        </p:spPr>
        <p:txBody>
          <a:bodyPr wrap="square" anchor="ctr">
            <a:spAutoFit/>
          </a:bodyPr>
          <a:lstStyle/>
          <a:p>
            <a:pPr algn="l">
              <a:spcAft>
                <a:spcPts val="200"/>
              </a:spcAft>
            </a:pPr>
            <a:r>
              <a:rPr sz="1300" b="1">
                <a:solidFill>
                  <a:srgbClr val="7C3AED"/>
                </a:solidFill>
                <a:latin typeface="Arial"/>
              </a:rPr>
              <a:t>Download materials</a:t>
            </a:r>
          </a:p>
          <a:p>
            <a:pPr algn="l">
              <a:spcAft>
                <a:spcPts val="200"/>
              </a:spcAft>
            </a:pPr>
            <a:r>
              <a:rPr sz="1100" b="0">
                <a:solidFill>
                  <a:srgbClr val="161B26"/>
                </a:solidFill>
                <a:latin typeface="Arial"/>
              </a:rPr>
              <a:t>Slides, Learner Guide and lab files — your open-book references.</a:t>
            </a:r>
          </a:p>
        </p:txBody>
      </p:sp>
      <p:sp>
        <p:nvSpPr>
          <p:cNvPr id="41" name="Rectangle 40"/>
          <p:cNvSpPr/>
          <p:nvPr/>
        </p:nvSpPr>
        <p:spPr>
          <a:xfrm>
            <a:off x="6583680" y="5038344"/>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3680" y="5038344"/>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748272" y="52806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48272" y="5280660"/>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45" name="TextBox 44"/>
          <p:cNvSpPr txBox="1"/>
          <p:nvPr/>
        </p:nvSpPr>
        <p:spPr>
          <a:xfrm>
            <a:off x="7333488" y="5038344"/>
            <a:ext cx="3913632" cy="905256"/>
          </a:xfrm>
          <a:prstGeom prst="rect">
            <a:avLst/>
          </a:prstGeom>
          <a:noFill/>
        </p:spPr>
        <p:txBody>
          <a:bodyPr wrap="square" anchor="ctr">
            <a:spAutoFit/>
          </a:bodyPr>
          <a:lstStyle/>
          <a:p>
            <a:pPr algn="l">
              <a:spcAft>
                <a:spcPts val="200"/>
              </a:spcAft>
            </a:pPr>
            <a:r>
              <a:rPr sz="1300" b="1">
                <a:solidFill>
                  <a:srgbClr val="F59E0B"/>
                </a:solidFill>
                <a:latin typeface="Arial"/>
              </a:rPr>
              <a:t>Submit &amp; survey</a:t>
            </a:r>
          </a:p>
          <a:p>
            <a:pPr algn="l">
              <a:spcAft>
                <a:spcPts val="200"/>
              </a:spcAft>
            </a:pPr>
            <a:r>
              <a:rPr sz="1100" b="0">
                <a:solidFill>
                  <a:srgbClr val="161B26"/>
                </a:solidFill>
                <a:latin typeface="Arial"/>
              </a:rPr>
              <a:t>Upload your assessment answers and complete the TRAQOM survey.</a:t>
            </a:r>
          </a:p>
        </p:txBody>
      </p:sp>
      <p:sp>
        <p:nvSpPr>
          <p:cNvPr id="46" name="TextBox 45"/>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All course material is downloaded from the LMS/TMS portal — keep it open: the final assessment is open book.</a:t>
            </a:r>
          </a:p>
        </p:txBody>
      </p:sp>
      <p:sp>
        <p:nvSpPr>
          <p:cNvPr id="47" name="TextBox 4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8" name="TextBox 4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HANDS-ON · 10 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48640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486400" cy="457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75104"/>
            <a:ext cx="155448" cy="15544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88720" y="1975104"/>
            <a:ext cx="155448" cy="1554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35608" y="19751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911096"/>
            <a:ext cx="4187952" cy="3017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65960" y="1911096"/>
            <a:ext cx="3913632" cy="301752"/>
          </a:xfrm>
          <a:prstGeom prst="rect">
            <a:avLst/>
          </a:prstGeom>
          <a:noFill/>
        </p:spPr>
        <p:txBody>
          <a:bodyPr wrap="square" anchor="ctr">
            <a:spAutoFit/>
          </a:bodyPr>
          <a:lstStyle/>
          <a:p>
            <a:pPr algn="l">
              <a:spcAft>
                <a:spcPts val="400"/>
              </a:spcAft>
            </a:pPr>
            <a:r>
              <a:rPr sz="1200" b="1">
                <a:solidFill>
                  <a:srgbClr val="10B981"/>
                </a:solidFill>
                <a:latin typeface="Arial"/>
              </a:rPr>
              <a:t>https://make.powerapps.com</a:t>
            </a:r>
          </a:p>
        </p:txBody>
      </p:sp>
      <p:sp>
        <p:nvSpPr>
          <p:cNvPr id="14" name="Rectangle 13"/>
          <p:cNvSpPr/>
          <p:nvPr/>
        </p:nvSpPr>
        <p:spPr>
          <a:xfrm>
            <a:off x="1005840" y="2487168"/>
            <a:ext cx="5029200"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487168"/>
            <a:ext cx="4663440" cy="658368"/>
          </a:xfrm>
          <a:prstGeom prst="rect">
            <a:avLst/>
          </a:prstGeom>
          <a:noFill/>
        </p:spPr>
        <p:txBody>
          <a:bodyPr wrap="square" anchor="ctr">
            <a:spAutoFit/>
          </a:bodyPr>
          <a:lstStyle/>
          <a:p>
            <a:pPr algn="l">
              <a:spcAft>
                <a:spcPts val="200"/>
              </a:spcAft>
            </a:pPr>
            <a:r>
              <a:rPr sz="1450" b="1">
                <a:solidFill>
                  <a:srgbClr val="FFFFFF"/>
                </a:solidFill>
                <a:latin typeface="Arial"/>
              </a:rPr>
              <a:t>Power Platform  ·  Dynamics 365</a:t>
            </a:r>
          </a:p>
          <a:p>
            <a:pPr algn="l">
              <a:spcAft>
                <a:spcPts val="200"/>
              </a:spcAft>
            </a:pPr>
            <a:r>
              <a:rPr sz="1050" b="0">
                <a:solidFill>
                  <a:srgbClr val="CCF3E2"/>
                </a:solidFill>
                <a:latin typeface="Arial"/>
              </a:rPr>
              <a:t>Environment: Contoso Coffee Singapore (trainer tenant)</a:t>
            </a:r>
          </a:p>
        </p:txBody>
      </p:sp>
      <p:sp>
        <p:nvSpPr>
          <p:cNvPr id="16" name="Rectangle 15"/>
          <p:cNvSpPr/>
          <p:nvPr/>
        </p:nvSpPr>
        <p:spPr>
          <a:xfrm>
            <a:off x="1005840" y="3291840"/>
            <a:ext cx="5029200" cy="420624"/>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291840"/>
            <a:ext cx="4663440" cy="420624"/>
          </a:xfrm>
          <a:prstGeom prst="rect">
            <a:avLst/>
          </a:prstGeom>
          <a:noFill/>
        </p:spPr>
        <p:txBody>
          <a:bodyPr wrap="square" anchor="ctr">
            <a:spAutoFit/>
          </a:bodyPr>
          <a:lstStyle/>
          <a:p>
            <a:pPr algn="l">
              <a:spcAft>
                <a:spcPts val="400"/>
              </a:spcAft>
            </a:pPr>
            <a:r>
              <a:rPr sz="1150" b="1">
                <a:solidFill>
                  <a:srgbClr val="0B7A47"/>
                </a:solidFill>
                <a:latin typeface="Arial"/>
              </a:rPr>
              <a:t>Sales Hub</a:t>
            </a:r>
          </a:p>
        </p:txBody>
      </p:sp>
      <p:sp>
        <p:nvSpPr>
          <p:cNvPr id="18" name="Rectangle 17"/>
          <p:cNvSpPr/>
          <p:nvPr/>
        </p:nvSpPr>
        <p:spPr>
          <a:xfrm>
            <a:off x="1005840" y="3803904"/>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3803904"/>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Customer Service Hub</a:t>
            </a:r>
          </a:p>
        </p:txBody>
      </p:sp>
      <p:sp>
        <p:nvSpPr>
          <p:cNvPr id="20" name="Rectangle 19"/>
          <p:cNvSpPr/>
          <p:nvPr/>
        </p:nvSpPr>
        <p:spPr>
          <a:xfrm>
            <a:off x="1005840" y="4315968"/>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315968"/>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Field Service</a:t>
            </a:r>
          </a:p>
        </p:txBody>
      </p:sp>
      <p:sp>
        <p:nvSpPr>
          <p:cNvPr id="22" name="Rectangle 21"/>
          <p:cNvSpPr/>
          <p:nvPr/>
        </p:nvSpPr>
        <p:spPr>
          <a:xfrm>
            <a:off x="1005840" y="4828032"/>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4828032"/>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Customer Insights – Journeys</a:t>
            </a:r>
          </a:p>
        </p:txBody>
      </p:sp>
      <p:sp>
        <p:nvSpPr>
          <p:cNvPr id="24" name="Rectangle 23"/>
          <p:cNvSpPr/>
          <p:nvPr/>
        </p:nvSpPr>
        <p:spPr>
          <a:xfrm>
            <a:off x="1005840" y="5340096"/>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5340096"/>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Customer Voice</a:t>
            </a:r>
          </a:p>
        </p:txBody>
      </p:sp>
      <p:sp>
        <p:nvSpPr>
          <p:cNvPr id="26" name="Rectangle 25"/>
          <p:cNvSpPr/>
          <p:nvPr/>
        </p:nvSpPr>
        <p:spPr>
          <a:xfrm>
            <a:off x="6583680" y="1828800"/>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0" y="1828800"/>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48272" y="2071116"/>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48272" y="2071116"/>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30" name="TextBox 29"/>
          <p:cNvSpPr txBox="1"/>
          <p:nvPr/>
        </p:nvSpPr>
        <p:spPr>
          <a:xfrm>
            <a:off x="7333488" y="1828800"/>
            <a:ext cx="3913632" cy="905256"/>
          </a:xfrm>
          <a:prstGeom prst="rect">
            <a:avLst/>
          </a:prstGeom>
          <a:noFill/>
        </p:spPr>
        <p:txBody>
          <a:bodyPr wrap="square" anchor="ctr">
            <a:spAutoFit/>
          </a:bodyPr>
          <a:lstStyle/>
          <a:p>
            <a:pPr algn="l">
              <a:spcAft>
                <a:spcPts val="200"/>
              </a:spcAft>
            </a:pPr>
            <a:r>
              <a:rPr sz="1300" b="1">
                <a:solidFill>
                  <a:srgbClr val="1F6FEB"/>
                </a:solidFill>
                <a:latin typeface="Arial"/>
              </a:rPr>
              <a:t>Sign in</a:t>
            </a:r>
          </a:p>
          <a:p>
            <a:pPr algn="l">
              <a:spcAft>
                <a:spcPts val="200"/>
              </a:spcAft>
            </a:pPr>
            <a:r>
              <a:rPr sz="1100" b="0">
                <a:solidFill>
                  <a:srgbClr val="161B26"/>
                </a:solidFill>
                <a:latin typeface="Arial"/>
              </a:rPr>
              <a:t>Use the trainer-provided training&lt;N&gt;@tertiaryinfotech.onmicrosoft.com account.</a:t>
            </a:r>
          </a:p>
        </p:txBody>
      </p:sp>
      <p:sp>
        <p:nvSpPr>
          <p:cNvPr id="31" name="Rectangle 30"/>
          <p:cNvSpPr/>
          <p:nvPr/>
        </p:nvSpPr>
        <p:spPr>
          <a:xfrm>
            <a:off x="6583680" y="2898648"/>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0" y="2898648"/>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48272" y="31409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48272" y="31409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35" name="TextBox 34"/>
          <p:cNvSpPr txBox="1"/>
          <p:nvPr/>
        </p:nvSpPr>
        <p:spPr>
          <a:xfrm>
            <a:off x="7333488" y="2898648"/>
            <a:ext cx="3913632" cy="905256"/>
          </a:xfrm>
          <a:prstGeom prst="rect">
            <a:avLst/>
          </a:prstGeom>
          <a:noFill/>
        </p:spPr>
        <p:txBody>
          <a:bodyPr wrap="square" anchor="ctr">
            <a:spAutoFit/>
          </a:bodyPr>
          <a:lstStyle/>
          <a:p>
            <a:pPr algn="l">
              <a:spcAft>
                <a:spcPts val="200"/>
              </a:spcAft>
            </a:pPr>
            <a:r>
              <a:rPr sz="1300" b="1">
                <a:solidFill>
                  <a:srgbClr val="10B981"/>
                </a:solidFill>
                <a:latin typeface="Arial"/>
              </a:rPr>
              <a:t>Prefix your records</a:t>
            </a:r>
          </a:p>
          <a:p>
            <a:pPr algn="l">
              <a:spcAft>
                <a:spcPts val="200"/>
              </a:spcAft>
            </a:pPr>
            <a:r>
              <a:rPr sz="1100" b="0">
                <a:solidFill>
                  <a:srgbClr val="161B26"/>
                </a:solidFill>
                <a:latin typeface="Arial"/>
              </a:rPr>
              <a:t>Add your initials to every record — the tenant is shared with the class.</a:t>
            </a:r>
          </a:p>
        </p:txBody>
      </p:sp>
      <p:sp>
        <p:nvSpPr>
          <p:cNvPr id="36" name="Rectangle 35"/>
          <p:cNvSpPr/>
          <p:nvPr/>
        </p:nvSpPr>
        <p:spPr>
          <a:xfrm>
            <a:off x="6583680" y="3968496"/>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83680" y="3968496"/>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48272" y="421081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48272" y="4210812"/>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40" name="TextBox 39"/>
          <p:cNvSpPr txBox="1"/>
          <p:nvPr/>
        </p:nvSpPr>
        <p:spPr>
          <a:xfrm>
            <a:off x="7333488" y="3968496"/>
            <a:ext cx="3913632" cy="905256"/>
          </a:xfrm>
          <a:prstGeom prst="rect">
            <a:avLst/>
          </a:prstGeom>
          <a:noFill/>
        </p:spPr>
        <p:txBody>
          <a:bodyPr wrap="square" anchor="ctr">
            <a:spAutoFit/>
          </a:bodyPr>
          <a:lstStyle/>
          <a:p>
            <a:pPr algn="l">
              <a:spcAft>
                <a:spcPts val="200"/>
              </a:spcAft>
            </a:pPr>
            <a:r>
              <a:rPr sz="1300" b="1">
                <a:solidFill>
                  <a:srgbClr val="7C3AED"/>
                </a:solidFill>
                <a:latin typeface="Arial"/>
              </a:rPr>
              <a:t>Import the mock data</a:t>
            </a:r>
          </a:p>
          <a:p>
            <a:pPr algn="l">
              <a:spcAft>
                <a:spcPts val="200"/>
              </a:spcAft>
            </a:pPr>
            <a:r>
              <a:rPr sz="1100" b="0">
                <a:solidFill>
                  <a:srgbClr val="161B26"/>
                </a:solidFill>
                <a:latin typeface="Arial"/>
              </a:rPr>
              <a:t>Each lab folder carries its own CSV files to import.</a:t>
            </a:r>
          </a:p>
        </p:txBody>
      </p:sp>
      <p:sp>
        <p:nvSpPr>
          <p:cNvPr id="41" name="Rectangle 40"/>
          <p:cNvSpPr/>
          <p:nvPr/>
        </p:nvSpPr>
        <p:spPr>
          <a:xfrm>
            <a:off x="6583680" y="5038344"/>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3680" y="5038344"/>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748272" y="52806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48272" y="5280660"/>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45" name="TextBox 44"/>
          <p:cNvSpPr txBox="1"/>
          <p:nvPr/>
        </p:nvSpPr>
        <p:spPr>
          <a:xfrm>
            <a:off x="7333488" y="5038344"/>
            <a:ext cx="3913632" cy="905256"/>
          </a:xfrm>
          <a:prstGeom prst="rect">
            <a:avLst/>
          </a:prstGeom>
          <a:noFill/>
        </p:spPr>
        <p:txBody>
          <a:bodyPr wrap="square" anchor="ctr">
            <a:spAutoFit/>
          </a:bodyPr>
          <a:lstStyle/>
          <a:p>
            <a:pPr algn="l">
              <a:spcAft>
                <a:spcPts val="200"/>
              </a:spcAft>
            </a:pPr>
            <a:r>
              <a:rPr sz="1300" b="1">
                <a:solidFill>
                  <a:srgbClr val="F59E0B"/>
                </a:solidFill>
                <a:latin typeface="Arial"/>
              </a:rPr>
              <a:t>Follow the Learner Guide</a:t>
            </a:r>
          </a:p>
          <a:p>
            <a:pPr algn="l">
              <a:spcAft>
                <a:spcPts val="200"/>
              </a:spcAft>
            </a:pPr>
            <a:r>
              <a:rPr sz="1100" b="0">
                <a:solidFill>
                  <a:srgbClr val="161B26"/>
                </a:solidFill>
                <a:latin typeface="Arial"/>
              </a:rPr>
              <a:t>Every step, field value and verification is written there.</a:t>
            </a:r>
          </a:p>
        </p:txBody>
      </p:sp>
      <p:sp>
        <p:nvSpPr>
          <p:cNvPr id="46" name="TextBox 45"/>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No Dynamics 365 tenant? A 30-day trial at trials.dynamics.com gives you every app used in these labs.</a:t>
            </a:r>
          </a:p>
        </p:txBody>
      </p:sp>
      <p:sp>
        <p:nvSpPr>
          <p:cNvPr id="47" name="TextBox 4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8" name="TextBox 4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WE ARE GOING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Course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urse_map.png"/>
          <p:cNvPicPr>
            <a:picLocks noChangeAspect="1"/>
          </p:cNvPicPr>
          <p:nvPr/>
        </p:nvPicPr>
        <p:blipFill>
          <a:blip r:embed="rId2"/>
          <a:stretch>
            <a:fillRect/>
          </a:stretch>
        </p:blipFill>
        <p:spPr>
          <a:xfrm>
            <a:off x="1406045" y="1737360"/>
            <a:ext cx="9379604" cy="3931920"/>
          </a:xfrm>
          <a:prstGeom prst="rect">
            <a:avLst/>
          </a:prstGeom>
        </p:spPr>
      </p:pic>
      <p:sp>
        <p:nvSpPr>
          <p:cNvPr id="8" name="Rectangle 7"/>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42432"/>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Day 1 builds the platform foundations and the marketing apps; Day 2 covers Sales, Customer Service and Field Service, ending with the assessment.</a:t>
            </a:r>
          </a:p>
        </p:txBody>
      </p:sp>
      <p:sp>
        <p:nvSpPr>
          <p:cNvPr id="10" name="TextBox 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1" name="TextBox 1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8 TRAINING HOURS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Core platform &amp; shared capabilities</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The Customer Insights apps</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Morning  ·  AM digital attendance</a:t>
            </a:r>
          </a:p>
          <a:p>
            <a:pPr>
              <a:spcAft>
                <a:spcPts val="1000"/>
              </a:spcAft>
            </a:pPr>
            <a:r>
              <a:rPr sz="1200" b="0">
                <a:solidFill>
                  <a:srgbClr val="5B6372"/>
                </a:solidFill>
                <a:latin typeface="Arial"/>
              </a:rPr>
              <a:t>–  Welcome, introductions, ground rules, learning outcomes</a:t>
            </a:r>
          </a:p>
          <a:p>
            <a:pPr>
              <a:spcAft>
                <a:spcPts val="1000"/>
              </a:spcAft>
            </a:pPr>
            <a:r>
              <a:rPr sz="1200" b="0">
                <a:solidFill>
                  <a:srgbClr val="5B6372"/>
                </a:solidFill>
                <a:latin typeface="Arial"/>
              </a:rPr>
              <a:t>–  Topic 1 — Foundations of Dynamics 365 CE apps</a:t>
            </a:r>
          </a:p>
          <a:p>
            <a:pPr>
              <a:spcAft>
                <a:spcPts val="1000"/>
              </a:spcAft>
            </a:pPr>
            <a:r>
              <a:rPr sz="1200" b="0">
                <a:solidFill>
                  <a:srgbClr val="5B6372"/>
                </a:solidFill>
                <a:latin typeface="Arial"/>
              </a:rPr>
              <a:t>–  Lab 1 — Navigate Dynamics 365 and explore Dataverse</a:t>
            </a:r>
          </a:p>
          <a:p>
            <a:pPr>
              <a:spcAft>
                <a:spcPts val="1000"/>
              </a:spcAft>
            </a:pPr>
            <a:r>
              <a:rPr sz="1200" b="0">
                <a:solidFill>
                  <a:srgbClr val="5B6372"/>
                </a:solidFill>
                <a:latin typeface="Arial"/>
              </a:rPr>
              <a:t>–  Tea break (15 min)</a:t>
            </a:r>
          </a:p>
          <a:p>
            <a:pPr>
              <a:spcAft>
                <a:spcPts val="1000"/>
              </a:spcAft>
            </a:pPr>
            <a:r>
              <a:rPr sz="1200" b="0">
                <a:solidFill>
                  <a:srgbClr val="5B6372"/>
                </a:solidFill>
                <a:latin typeface="Arial"/>
              </a:rPr>
              <a:t>–  Topic 2 — Shared activities and integration options</a:t>
            </a:r>
          </a:p>
          <a:p>
            <a:pPr>
              <a:spcAft>
                <a:spcPts val="1000"/>
              </a:spcAft>
            </a:pPr>
            <a:r>
              <a:rPr sz="1200" b="0">
                <a:solidFill>
                  <a:srgbClr val="5B6372"/>
                </a:solidFill>
                <a:latin typeface="Arial"/>
              </a:rPr>
              <a:t>–  Lab 2 — Manage customers, activities and reporting views</a:t>
            </a:r>
          </a:p>
          <a:p>
            <a:pPr>
              <a:spcAft>
                <a:spcPts val="1000"/>
              </a:spcAft>
            </a:pPr>
            <a:r>
              <a:rPr sz="1200" b="0">
                <a:solidFill>
                  <a:srgbClr val="5B6372"/>
                </a:solidFill>
                <a:latin typeface="Arial"/>
              </a:rPr>
              <a:t>–  Lunch break  1:30–2:30pm</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Afternoon  ·  PM digital attendance</a:t>
            </a:r>
          </a:p>
          <a:p>
            <a:pPr>
              <a:spcAft>
                <a:spcPts val="1000"/>
              </a:spcAft>
            </a:pPr>
            <a:r>
              <a:rPr sz="1200" b="0">
                <a:solidFill>
                  <a:srgbClr val="5B6372"/>
                </a:solidFill>
                <a:latin typeface="Arial"/>
              </a:rPr>
              <a:t>–  Topic 3 — Customer Insights – Journeys</a:t>
            </a:r>
          </a:p>
          <a:p>
            <a:pPr>
              <a:spcAft>
                <a:spcPts val="1000"/>
              </a:spcAft>
            </a:pPr>
            <a:r>
              <a:rPr sz="1200" b="0">
                <a:solidFill>
                  <a:srgbClr val="5B6372"/>
                </a:solidFill>
                <a:latin typeface="Arial"/>
              </a:rPr>
              <a:t>–  Lab 3 — Build a segment, an email and a customer journey</a:t>
            </a:r>
          </a:p>
          <a:p>
            <a:pPr>
              <a:spcAft>
                <a:spcPts val="1000"/>
              </a:spcAft>
            </a:pPr>
            <a:r>
              <a:rPr sz="1200" b="0">
                <a:solidFill>
                  <a:srgbClr val="5B6372"/>
                </a:solidFill>
                <a:latin typeface="Arial"/>
              </a:rPr>
              <a:t>–  Tea break (15 min)</a:t>
            </a:r>
          </a:p>
          <a:p>
            <a:pPr>
              <a:spcAft>
                <a:spcPts val="1000"/>
              </a:spcAft>
            </a:pPr>
            <a:r>
              <a:rPr sz="1200" b="0">
                <a:solidFill>
                  <a:srgbClr val="5B6372"/>
                </a:solidFill>
                <a:latin typeface="Arial"/>
              </a:rPr>
              <a:t>–  Topic 4 — Customer Insights – Data and Customer Voice</a:t>
            </a:r>
          </a:p>
          <a:p>
            <a:pPr>
              <a:spcAft>
                <a:spcPts val="1000"/>
              </a:spcAft>
            </a:pPr>
            <a:r>
              <a:rPr sz="1200" b="0">
                <a:solidFill>
                  <a:srgbClr val="5B6372"/>
                </a:solidFill>
                <a:latin typeface="Arial"/>
              </a:rPr>
              <a:t>–  Lab 4 — Unify customer data and capture feedback</a:t>
            </a:r>
          </a:p>
          <a:p>
            <a:pPr>
              <a:spcAft>
                <a:spcPts val="1000"/>
              </a:spcAft>
            </a:pPr>
            <a:r>
              <a:rPr sz="1200" b="0">
                <a:solidFill>
                  <a:srgbClr val="5B6372"/>
                </a:solidFill>
                <a:latin typeface="Arial"/>
              </a:rPr>
              <a:t>–  Day 1 recap and Q&amp;A</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9:30am–6:30pm  ·  1-hour lunch  ·  tea breaks counted within training time.</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8 TRAINING HOURS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Day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Sales &amp; the start of Service</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Service, Field Service &amp; assessment</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Morning  ·  AM digital attendance</a:t>
            </a:r>
          </a:p>
          <a:p>
            <a:pPr>
              <a:spcAft>
                <a:spcPts val="1000"/>
              </a:spcAft>
            </a:pPr>
            <a:r>
              <a:rPr sz="1200" b="0">
                <a:solidFill>
                  <a:srgbClr val="5B6372"/>
                </a:solidFill>
                <a:latin typeface="Arial"/>
              </a:rPr>
              <a:t>–  Day 1 recap</a:t>
            </a:r>
          </a:p>
          <a:p>
            <a:pPr>
              <a:spcAft>
                <a:spcPts val="1000"/>
              </a:spcAft>
            </a:pPr>
            <a:r>
              <a:rPr sz="1200" b="0">
                <a:solidFill>
                  <a:srgbClr val="5B6372"/>
                </a:solidFill>
                <a:latin typeface="Arial"/>
              </a:rPr>
              <a:t>–  Topic 5 — Explore Dynamics 365 Sales</a:t>
            </a:r>
          </a:p>
          <a:p>
            <a:pPr>
              <a:spcAft>
                <a:spcPts val="1000"/>
              </a:spcAft>
            </a:pPr>
            <a:r>
              <a:rPr sz="1200" b="0">
                <a:solidFill>
                  <a:srgbClr val="5B6372"/>
                </a:solidFill>
                <a:latin typeface="Arial"/>
              </a:rPr>
              <a:t>–  Lab 5 — Run the lead-to-cash cycle</a:t>
            </a:r>
          </a:p>
          <a:p>
            <a:pPr>
              <a:spcAft>
                <a:spcPts val="1000"/>
              </a:spcAft>
            </a:pPr>
            <a:r>
              <a:rPr sz="1200" b="0">
                <a:solidFill>
                  <a:srgbClr val="5B6372"/>
                </a:solidFill>
                <a:latin typeface="Arial"/>
              </a:rPr>
              <a:t>–  Tea break (15 min)</a:t>
            </a:r>
          </a:p>
          <a:p>
            <a:pPr>
              <a:spcAft>
                <a:spcPts val="1000"/>
              </a:spcAft>
            </a:pPr>
            <a:r>
              <a:rPr sz="1200" b="0">
                <a:solidFill>
                  <a:srgbClr val="5B6372"/>
                </a:solidFill>
                <a:latin typeface="Arial"/>
              </a:rPr>
              <a:t>–  Topic 6 — Sales capabilities and related apps</a:t>
            </a:r>
          </a:p>
          <a:p>
            <a:pPr>
              <a:spcAft>
                <a:spcPts val="1000"/>
              </a:spcAft>
            </a:pPr>
            <a:r>
              <a:rPr sz="1200" b="0">
                <a:solidFill>
                  <a:srgbClr val="5B6372"/>
                </a:solidFill>
                <a:latin typeface="Arial"/>
              </a:rPr>
              <a:t>–  Lab 6 — Forecast the pipeline and evaluate Sales Insights</a:t>
            </a:r>
          </a:p>
          <a:p>
            <a:pPr>
              <a:spcAft>
                <a:spcPts val="1000"/>
              </a:spcAft>
            </a:pPr>
            <a:r>
              <a:rPr sz="1200" b="0">
                <a:solidFill>
                  <a:srgbClr val="5B6372"/>
                </a:solidFill>
                <a:latin typeface="Arial"/>
              </a:rPr>
              <a:t>–  Topic 7 — Explore Dynamics 365 Customer Service</a:t>
            </a:r>
          </a:p>
          <a:p>
            <a:pPr>
              <a:spcAft>
                <a:spcPts val="1000"/>
              </a:spcAft>
            </a:pPr>
            <a:r>
              <a:rPr sz="1200" b="0">
                <a:solidFill>
                  <a:srgbClr val="5B6372"/>
                </a:solidFill>
                <a:latin typeface="Arial"/>
              </a:rPr>
              <a:t>–  Lunch break  1:30–2:30pm</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Afternoon  ·  PM &amp; assessment attendance</a:t>
            </a:r>
          </a:p>
          <a:p>
            <a:pPr>
              <a:spcAft>
                <a:spcPts val="1000"/>
              </a:spcAft>
            </a:pPr>
            <a:r>
              <a:rPr sz="1200" b="0">
                <a:solidFill>
                  <a:srgbClr val="5B6372"/>
                </a:solidFill>
                <a:latin typeface="Arial"/>
              </a:rPr>
              <a:t>–  Lab 7 — Resolve a case with knowledge, queues and SLAs</a:t>
            </a:r>
          </a:p>
          <a:p>
            <a:pPr>
              <a:spcAft>
                <a:spcPts val="1000"/>
              </a:spcAft>
            </a:pPr>
            <a:r>
              <a:rPr sz="1200" b="0">
                <a:solidFill>
                  <a:srgbClr val="5B6372"/>
                </a:solidFill>
                <a:latin typeface="Arial"/>
              </a:rPr>
              <a:t>–  Topic 8 — Service capabilities and related apps</a:t>
            </a:r>
          </a:p>
          <a:p>
            <a:pPr>
              <a:spcAft>
                <a:spcPts val="1000"/>
              </a:spcAft>
            </a:pPr>
            <a:r>
              <a:rPr sz="1200" b="0">
                <a:solidFill>
                  <a:srgbClr val="5B6372"/>
                </a:solidFill>
                <a:latin typeface="Arial"/>
              </a:rPr>
              <a:t>–  Lab 8 — Omnichannel, supervisor insights and analytics</a:t>
            </a:r>
          </a:p>
          <a:p>
            <a:pPr>
              <a:spcAft>
                <a:spcPts val="1000"/>
              </a:spcAft>
            </a:pPr>
            <a:r>
              <a:rPr sz="1200" b="0">
                <a:solidFill>
                  <a:srgbClr val="5B6372"/>
                </a:solidFill>
                <a:latin typeface="Arial"/>
              </a:rPr>
              <a:t>–  Topic 9 &amp; 10 — Field Service and scheduling</a:t>
            </a:r>
          </a:p>
          <a:p>
            <a:pPr>
              <a:spcAft>
                <a:spcPts val="1000"/>
              </a:spcAft>
            </a:pPr>
            <a:r>
              <a:rPr sz="1200" b="0">
                <a:solidFill>
                  <a:srgbClr val="5B6372"/>
                </a:solidFill>
                <a:latin typeface="Arial"/>
              </a:rPr>
              <a:t>–  Labs 9 &amp; 10 — Work orders, scheduling, assets and IoT</a:t>
            </a:r>
          </a:p>
          <a:p>
            <a:pPr>
              <a:spcAft>
                <a:spcPts val="1000"/>
              </a:spcAft>
            </a:pPr>
            <a:r>
              <a:rPr sz="1200" b="0">
                <a:solidFill>
                  <a:srgbClr val="5B6372"/>
                </a:solidFill>
                <a:latin typeface="Arial"/>
              </a:rPr>
              <a:t>–  Briefing for assessment</a:t>
            </a:r>
          </a:p>
          <a:p>
            <a:pPr>
              <a:spcAft>
                <a:spcPts val="1000"/>
              </a:spcAft>
            </a:pPr>
            <a:r>
              <a:rPr sz="1200" b="0">
                <a:solidFill>
                  <a:srgbClr val="5B6372"/>
                </a:solidFill>
                <a:latin typeface="Arial"/>
              </a:rPr>
              <a:t>–  Written Assessment (1 h) + Practical Performance (1 h)</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The final assessment runs from 4:30pm on Day 2 — 2 hours in total, open book.</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ALIGNMENT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 — Customer Relationship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233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2563794" cy="233680"/>
          </a:xfrm>
          <a:prstGeom prst="rect">
            <a:avLst/>
          </a:prstGeom>
          <a:noFill/>
        </p:spPr>
        <p:txBody>
          <a:bodyPr wrap="square" anchor="ctr">
            <a:spAutoFit/>
          </a:bodyPr>
          <a:lstStyle/>
          <a:p>
            <a:pPr algn="l">
              <a:spcAft>
                <a:spcPts val="400"/>
              </a:spcAft>
            </a:pPr>
            <a:r>
              <a:rPr sz="1200" b="1">
                <a:solidFill>
                  <a:srgbClr val="FFFFFF"/>
                </a:solidFill>
                <a:latin typeface="Arial"/>
              </a:rPr>
              <a:t>TSC element</a:t>
            </a:r>
          </a:p>
        </p:txBody>
      </p:sp>
      <p:sp>
        <p:nvSpPr>
          <p:cNvPr id="9" name="Rectangle 8"/>
          <p:cNvSpPr/>
          <p:nvPr/>
        </p:nvSpPr>
        <p:spPr>
          <a:xfrm>
            <a:off x="3542202" y="1783080"/>
            <a:ext cx="7869509" cy="233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1074" y="1783080"/>
            <a:ext cx="7668341" cy="233680"/>
          </a:xfrm>
          <a:prstGeom prst="rect">
            <a:avLst/>
          </a:prstGeom>
          <a:noFill/>
        </p:spPr>
        <p:txBody>
          <a:bodyPr wrap="square" anchor="ctr">
            <a:spAutoFit/>
          </a:bodyPr>
          <a:lstStyle/>
          <a:p>
            <a:pPr algn="l">
              <a:spcAft>
                <a:spcPts val="400"/>
              </a:spcAft>
            </a:pPr>
            <a:r>
              <a:rPr sz="1200" b="1">
                <a:solidFill>
                  <a:srgbClr val="FFFFFF"/>
                </a:solidFill>
                <a:latin typeface="Arial"/>
              </a:rPr>
              <a:t>Detail</a:t>
            </a:r>
          </a:p>
        </p:txBody>
      </p:sp>
      <p:sp>
        <p:nvSpPr>
          <p:cNvPr id="11" name="Rectangle 10"/>
          <p:cNvSpPr/>
          <p:nvPr/>
        </p:nvSpPr>
        <p:spPr>
          <a:xfrm>
            <a:off x="777240" y="201676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01676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TSC Title / Code</a:t>
            </a:r>
          </a:p>
        </p:txBody>
      </p:sp>
      <p:sp>
        <p:nvSpPr>
          <p:cNvPr id="13" name="Rectangle 12"/>
          <p:cNvSpPr/>
          <p:nvPr/>
        </p:nvSpPr>
        <p:spPr>
          <a:xfrm>
            <a:off x="3542202" y="201676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61074" y="201676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Customer Relationship Management  ·  RET-RAN-4001-1.1</a:t>
            </a:r>
          </a:p>
        </p:txBody>
      </p:sp>
      <p:sp>
        <p:nvSpPr>
          <p:cNvPr id="15" name="Rectangle 14"/>
          <p:cNvSpPr/>
          <p:nvPr/>
        </p:nvSpPr>
        <p:spPr>
          <a:xfrm>
            <a:off x="777240" y="2250440"/>
            <a:ext cx="2764962"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25044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Ability A1</a:t>
            </a:r>
          </a:p>
        </p:txBody>
      </p:sp>
      <p:sp>
        <p:nvSpPr>
          <p:cNvPr id="17" name="Rectangle 16"/>
          <p:cNvSpPr/>
          <p:nvPr/>
        </p:nvSpPr>
        <p:spPr>
          <a:xfrm>
            <a:off x="3542202" y="2250440"/>
            <a:ext cx="7869509"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61074" y="225044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Develop and manage plans for implementing new CRM capabilities</a:t>
            </a:r>
          </a:p>
        </p:txBody>
      </p:sp>
      <p:sp>
        <p:nvSpPr>
          <p:cNvPr id="19" name="Rectangle 18"/>
          <p:cNvSpPr/>
          <p:nvPr/>
        </p:nvSpPr>
        <p:spPr>
          <a:xfrm>
            <a:off x="777240" y="248412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48412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Ability A2</a:t>
            </a:r>
          </a:p>
        </p:txBody>
      </p:sp>
      <p:sp>
        <p:nvSpPr>
          <p:cNvPr id="21" name="Rectangle 20"/>
          <p:cNvSpPr/>
          <p:nvPr/>
        </p:nvSpPr>
        <p:spPr>
          <a:xfrm>
            <a:off x="3542202" y="248412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61074" y="248412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Review research findings and recommend investments in CRM tools and technologies deployment</a:t>
            </a:r>
          </a:p>
        </p:txBody>
      </p:sp>
      <p:sp>
        <p:nvSpPr>
          <p:cNvPr id="23" name="Rectangle 22"/>
          <p:cNvSpPr/>
          <p:nvPr/>
        </p:nvSpPr>
        <p:spPr>
          <a:xfrm>
            <a:off x="777240" y="2717800"/>
            <a:ext cx="2764962"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271780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Ability A3</a:t>
            </a:r>
          </a:p>
        </p:txBody>
      </p:sp>
      <p:sp>
        <p:nvSpPr>
          <p:cNvPr id="25" name="Rectangle 24"/>
          <p:cNvSpPr/>
          <p:nvPr/>
        </p:nvSpPr>
        <p:spPr>
          <a:xfrm>
            <a:off x="3542202" y="2717800"/>
            <a:ext cx="7869509"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61074" y="271780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Manage and monitor optimisation of CRM tools and technologies</a:t>
            </a:r>
          </a:p>
        </p:txBody>
      </p:sp>
      <p:sp>
        <p:nvSpPr>
          <p:cNvPr id="27" name="Rectangle 26"/>
          <p:cNvSpPr/>
          <p:nvPr/>
        </p:nvSpPr>
        <p:spPr>
          <a:xfrm>
            <a:off x="777240" y="295148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295148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Ability A4</a:t>
            </a:r>
          </a:p>
        </p:txBody>
      </p:sp>
      <p:sp>
        <p:nvSpPr>
          <p:cNvPr id="29" name="Rectangle 28"/>
          <p:cNvSpPr/>
          <p:nvPr/>
        </p:nvSpPr>
        <p:spPr>
          <a:xfrm>
            <a:off x="3542202" y="295148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61074" y="295148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Draw and communicate insights from CRM data</a:t>
            </a:r>
          </a:p>
        </p:txBody>
      </p:sp>
      <p:sp>
        <p:nvSpPr>
          <p:cNvPr id="31" name="Rectangle 30"/>
          <p:cNvSpPr/>
          <p:nvPr/>
        </p:nvSpPr>
        <p:spPr>
          <a:xfrm>
            <a:off x="777240" y="3185160"/>
            <a:ext cx="2764962"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318516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Ability A5</a:t>
            </a:r>
          </a:p>
        </p:txBody>
      </p:sp>
      <p:sp>
        <p:nvSpPr>
          <p:cNvPr id="33" name="Rectangle 32"/>
          <p:cNvSpPr/>
          <p:nvPr/>
        </p:nvSpPr>
        <p:spPr>
          <a:xfrm>
            <a:off x="3542202" y="3185160"/>
            <a:ext cx="7869509"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61074" y="318516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Draw insights into team's performance and fine-tune sales processes</a:t>
            </a:r>
          </a:p>
        </p:txBody>
      </p:sp>
      <p:sp>
        <p:nvSpPr>
          <p:cNvPr id="35" name="Rectangle 34"/>
          <p:cNvSpPr/>
          <p:nvPr/>
        </p:nvSpPr>
        <p:spPr>
          <a:xfrm>
            <a:off x="777240" y="341884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341884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Ability A6</a:t>
            </a:r>
          </a:p>
        </p:txBody>
      </p:sp>
      <p:sp>
        <p:nvSpPr>
          <p:cNvPr id="37" name="Rectangle 36"/>
          <p:cNvSpPr/>
          <p:nvPr/>
        </p:nvSpPr>
        <p:spPr>
          <a:xfrm>
            <a:off x="3542202" y="341884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61074" y="341884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Utilise appropriate tools to share information and stay connected from anywhere</a:t>
            </a:r>
          </a:p>
        </p:txBody>
      </p:sp>
      <p:sp>
        <p:nvSpPr>
          <p:cNvPr id="39" name="Rectangle 38"/>
          <p:cNvSpPr/>
          <p:nvPr/>
        </p:nvSpPr>
        <p:spPr>
          <a:xfrm>
            <a:off x="777240" y="3652520"/>
            <a:ext cx="2764962"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365252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Ability A7</a:t>
            </a:r>
          </a:p>
        </p:txBody>
      </p:sp>
      <p:sp>
        <p:nvSpPr>
          <p:cNvPr id="41" name="Rectangle 40"/>
          <p:cNvSpPr/>
          <p:nvPr/>
        </p:nvSpPr>
        <p:spPr>
          <a:xfrm>
            <a:off x="3542202" y="3652520"/>
            <a:ext cx="7869509"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61074" y="365252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Develop and define customer journeys for marketing and remarketing</a:t>
            </a:r>
          </a:p>
        </p:txBody>
      </p:sp>
      <p:sp>
        <p:nvSpPr>
          <p:cNvPr id="43" name="Rectangle 42"/>
          <p:cNvSpPr/>
          <p:nvPr/>
        </p:nvSpPr>
        <p:spPr>
          <a:xfrm>
            <a:off x="777240" y="388620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388620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K1</a:t>
            </a:r>
          </a:p>
        </p:txBody>
      </p:sp>
      <p:sp>
        <p:nvSpPr>
          <p:cNvPr id="45" name="Rectangle 44"/>
          <p:cNvSpPr/>
          <p:nvPr/>
        </p:nvSpPr>
        <p:spPr>
          <a:xfrm>
            <a:off x="3542202" y="388620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61074" y="388620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Organisation's CRM strategies</a:t>
            </a:r>
          </a:p>
        </p:txBody>
      </p:sp>
      <p:sp>
        <p:nvSpPr>
          <p:cNvPr id="47" name="Rectangle 46"/>
          <p:cNvSpPr/>
          <p:nvPr/>
        </p:nvSpPr>
        <p:spPr>
          <a:xfrm>
            <a:off x="777240" y="4119880"/>
            <a:ext cx="2764962"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 y="411988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K2</a:t>
            </a:r>
          </a:p>
        </p:txBody>
      </p:sp>
      <p:sp>
        <p:nvSpPr>
          <p:cNvPr id="49" name="Rectangle 48"/>
          <p:cNvSpPr/>
          <p:nvPr/>
        </p:nvSpPr>
        <p:spPr>
          <a:xfrm>
            <a:off x="3542202" y="4119880"/>
            <a:ext cx="7869509"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61074" y="411988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Limitations of CRM</a:t>
            </a:r>
          </a:p>
        </p:txBody>
      </p:sp>
      <p:sp>
        <p:nvSpPr>
          <p:cNvPr id="51" name="Rectangle 50"/>
          <p:cNvSpPr/>
          <p:nvPr/>
        </p:nvSpPr>
        <p:spPr>
          <a:xfrm>
            <a:off x="777240" y="435356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96112" y="435356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K3</a:t>
            </a:r>
          </a:p>
        </p:txBody>
      </p:sp>
      <p:sp>
        <p:nvSpPr>
          <p:cNvPr id="53" name="Rectangle 52"/>
          <p:cNvSpPr/>
          <p:nvPr/>
        </p:nvSpPr>
        <p:spPr>
          <a:xfrm>
            <a:off x="3542202" y="435356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61074" y="435356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Opportunities of CRM</a:t>
            </a:r>
          </a:p>
        </p:txBody>
      </p:sp>
      <p:sp>
        <p:nvSpPr>
          <p:cNvPr id="55" name="Rectangle 54"/>
          <p:cNvSpPr/>
          <p:nvPr/>
        </p:nvSpPr>
        <p:spPr>
          <a:xfrm>
            <a:off x="777240" y="4587240"/>
            <a:ext cx="2764962"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96112" y="458724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K4</a:t>
            </a:r>
          </a:p>
        </p:txBody>
      </p:sp>
      <p:sp>
        <p:nvSpPr>
          <p:cNvPr id="57" name="Rectangle 56"/>
          <p:cNvSpPr/>
          <p:nvPr/>
        </p:nvSpPr>
        <p:spPr>
          <a:xfrm>
            <a:off x="3542202" y="4587240"/>
            <a:ext cx="7869509"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61074" y="458724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Types of CRM technology and tools</a:t>
            </a:r>
          </a:p>
        </p:txBody>
      </p:sp>
      <p:sp>
        <p:nvSpPr>
          <p:cNvPr id="59" name="Rectangle 58"/>
          <p:cNvSpPr/>
          <p:nvPr/>
        </p:nvSpPr>
        <p:spPr>
          <a:xfrm>
            <a:off x="777240" y="482092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96112" y="482092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K5</a:t>
            </a:r>
          </a:p>
        </p:txBody>
      </p:sp>
      <p:sp>
        <p:nvSpPr>
          <p:cNvPr id="61" name="Rectangle 60"/>
          <p:cNvSpPr/>
          <p:nvPr/>
        </p:nvSpPr>
        <p:spPr>
          <a:xfrm>
            <a:off x="3542202" y="482092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61074" y="482092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Criteria for recommending investments in CRM tools and technologies</a:t>
            </a:r>
          </a:p>
        </p:txBody>
      </p:sp>
      <p:sp>
        <p:nvSpPr>
          <p:cNvPr id="63" name="Rectangle 62"/>
          <p:cNvSpPr/>
          <p:nvPr/>
        </p:nvSpPr>
        <p:spPr>
          <a:xfrm>
            <a:off x="777240" y="5054600"/>
            <a:ext cx="2764962"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96112" y="505460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K6</a:t>
            </a:r>
          </a:p>
        </p:txBody>
      </p:sp>
      <p:sp>
        <p:nvSpPr>
          <p:cNvPr id="65" name="Rectangle 64"/>
          <p:cNvSpPr/>
          <p:nvPr/>
        </p:nvSpPr>
        <p:spPr>
          <a:xfrm>
            <a:off x="3542202" y="5054600"/>
            <a:ext cx="7869509"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61074" y="505460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Criteria for improving existing CRM practices and programmes</a:t>
            </a:r>
          </a:p>
        </p:txBody>
      </p:sp>
      <p:sp>
        <p:nvSpPr>
          <p:cNvPr id="67" name="Rectangle 66"/>
          <p:cNvSpPr/>
          <p:nvPr/>
        </p:nvSpPr>
        <p:spPr>
          <a:xfrm>
            <a:off x="777240" y="528828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6112" y="528828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K7</a:t>
            </a:r>
          </a:p>
        </p:txBody>
      </p:sp>
      <p:sp>
        <p:nvSpPr>
          <p:cNvPr id="69" name="Rectangle 68"/>
          <p:cNvSpPr/>
          <p:nvPr/>
        </p:nvSpPr>
        <p:spPr>
          <a:xfrm>
            <a:off x="3542202" y="528828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61074" y="528828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Processes involved in monitoring optimisation of CRM tools and technologies</a:t>
            </a:r>
          </a:p>
        </p:txBody>
      </p:sp>
      <p:sp>
        <p:nvSpPr>
          <p:cNvPr id="71" name="Rectangle 70"/>
          <p:cNvSpPr/>
          <p:nvPr/>
        </p:nvSpPr>
        <p:spPr>
          <a:xfrm>
            <a:off x="777240" y="5521960"/>
            <a:ext cx="2764962"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96112" y="552196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K8</a:t>
            </a:r>
          </a:p>
        </p:txBody>
      </p:sp>
      <p:sp>
        <p:nvSpPr>
          <p:cNvPr id="73" name="Rectangle 72"/>
          <p:cNvSpPr/>
          <p:nvPr/>
        </p:nvSpPr>
        <p:spPr>
          <a:xfrm>
            <a:off x="3542202" y="5521960"/>
            <a:ext cx="7869509" cy="233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661074" y="552196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Methods for drawing and communicating insights from CRM data</a:t>
            </a:r>
          </a:p>
        </p:txBody>
      </p:sp>
      <p:sp>
        <p:nvSpPr>
          <p:cNvPr id="75" name="Rectangle 74"/>
          <p:cNvSpPr/>
          <p:nvPr/>
        </p:nvSpPr>
        <p:spPr>
          <a:xfrm>
            <a:off x="777240" y="5755640"/>
            <a:ext cx="2764962"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96112" y="5755640"/>
            <a:ext cx="2563794" cy="233680"/>
          </a:xfrm>
          <a:prstGeom prst="rect">
            <a:avLst/>
          </a:prstGeom>
          <a:noFill/>
        </p:spPr>
        <p:txBody>
          <a:bodyPr wrap="square" anchor="ctr">
            <a:spAutoFit/>
          </a:bodyPr>
          <a:lstStyle/>
          <a:p>
            <a:pPr algn="l">
              <a:spcAft>
                <a:spcPts val="400"/>
              </a:spcAft>
            </a:pPr>
            <a:r>
              <a:rPr sz="1100" b="1">
                <a:solidFill>
                  <a:srgbClr val="161B26"/>
                </a:solidFill>
                <a:latin typeface="Arial"/>
              </a:rPr>
              <a:t>Knowledge K9</a:t>
            </a:r>
          </a:p>
        </p:txBody>
      </p:sp>
      <p:sp>
        <p:nvSpPr>
          <p:cNvPr id="77" name="Rectangle 76"/>
          <p:cNvSpPr/>
          <p:nvPr/>
        </p:nvSpPr>
        <p:spPr>
          <a:xfrm>
            <a:off x="3542202" y="5755640"/>
            <a:ext cx="7869509" cy="233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661074" y="5755640"/>
            <a:ext cx="7668341" cy="233680"/>
          </a:xfrm>
          <a:prstGeom prst="rect">
            <a:avLst/>
          </a:prstGeom>
          <a:noFill/>
        </p:spPr>
        <p:txBody>
          <a:bodyPr wrap="square" anchor="ctr">
            <a:spAutoFit/>
          </a:bodyPr>
          <a:lstStyle/>
          <a:p>
            <a:pPr algn="l">
              <a:spcAft>
                <a:spcPts val="400"/>
              </a:spcAft>
            </a:pPr>
            <a:r>
              <a:rPr sz="1100" b="0">
                <a:solidFill>
                  <a:srgbClr val="161B26"/>
                </a:solidFill>
                <a:latin typeface="Arial"/>
              </a:rPr>
              <a:t>Criteria for reviewing research findings related to CRM</a:t>
            </a:r>
          </a:p>
        </p:txBody>
      </p:sp>
      <p:sp>
        <p:nvSpPr>
          <p:cNvPr id="79" name="TextBox 78"/>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Every topic, lab and assessment item in this course maps to these TSC abilities and knowledge factors.</a:t>
            </a:r>
          </a:p>
        </p:txBody>
      </p:sp>
      <p:sp>
        <p:nvSpPr>
          <p:cNvPr id="80" name="TextBox 7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1" name="TextBox 8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82" name="TextBox 8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BY THE END OF THIS COURSE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882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882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48640"/>
          </a:xfrm>
          <a:prstGeom prst="rect">
            <a:avLst/>
          </a:prstGeom>
          <a:noFill/>
        </p:spPr>
        <p:txBody>
          <a:bodyPr wrap="square" anchor="ctr">
            <a:spAutoFit/>
          </a:bodyPr>
          <a:lstStyle/>
          <a:p>
            <a:pPr algn="l">
              <a:spcAft>
                <a:spcPts val="300"/>
              </a:spcAft>
            </a:pPr>
            <a:r>
              <a:rPr sz="1450" b="1">
                <a:solidFill>
                  <a:srgbClr val="161B26"/>
                </a:solidFill>
                <a:latin typeface="Arial"/>
              </a:rPr>
              <a:t>LO1</a:t>
            </a:r>
          </a:p>
          <a:p>
            <a:pPr algn="l">
              <a:spcAft>
                <a:spcPts val="300"/>
              </a:spcAft>
            </a:pPr>
            <a:r>
              <a:rPr sz="1100" b="0">
                <a:solidFill>
                  <a:srgbClr val="5B6372"/>
                </a:solidFill>
                <a:latin typeface="Arial"/>
              </a:rPr>
              <a:t>Develop strategies for implementing Microsoft Dynamics 365 CRM capabilities and utilising the tools to disseminate information</a:t>
            </a:r>
          </a:p>
        </p:txBody>
      </p:sp>
      <p:sp>
        <p:nvSpPr>
          <p:cNvPr id="12" name="Rectangle 11"/>
          <p:cNvSpPr/>
          <p:nvPr/>
        </p:nvSpPr>
        <p:spPr>
          <a:xfrm>
            <a:off x="777240" y="26974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7480"/>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8026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8026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07208"/>
            <a:ext cx="9482328" cy="548640"/>
          </a:xfrm>
          <a:prstGeom prst="rect">
            <a:avLst/>
          </a:prstGeom>
          <a:noFill/>
        </p:spPr>
        <p:txBody>
          <a:bodyPr wrap="square" anchor="ctr">
            <a:spAutoFit/>
          </a:bodyPr>
          <a:lstStyle/>
          <a:p>
            <a:pPr algn="l">
              <a:spcAft>
                <a:spcPts val="300"/>
              </a:spcAft>
            </a:pPr>
            <a:r>
              <a:rPr sz="1450" b="1">
                <a:solidFill>
                  <a:srgbClr val="161B26"/>
                </a:solidFill>
                <a:latin typeface="Arial"/>
              </a:rPr>
              <a:t>LO2</a:t>
            </a:r>
          </a:p>
          <a:p>
            <a:pPr algn="l">
              <a:spcAft>
                <a:spcPts val="300"/>
              </a:spcAft>
            </a:pPr>
            <a:r>
              <a:rPr sz="1100" b="0">
                <a:solidFill>
                  <a:srgbClr val="5B6372"/>
                </a:solidFill>
                <a:latin typeface="Arial"/>
              </a:rPr>
              <a:t>Develop frameworks to define customer journeys for marketing on Microsoft Dynamics 365 CRM</a:t>
            </a:r>
          </a:p>
        </p:txBody>
      </p:sp>
      <p:sp>
        <p:nvSpPr>
          <p:cNvPr id="17" name="Rectangle 16"/>
          <p:cNvSpPr/>
          <p:nvPr/>
        </p:nvSpPr>
        <p:spPr>
          <a:xfrm>
            <a:off x="777240" y="36118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1880"/>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21608"/>
            <a:ext cx="9482328" cy="548640"/>
          </a:xfrm>
          <a:prstGeom prst="rect">
            <a:avLst/>
          </a:prstGeom>
          <a:noFill/>
        </p:spPr>
        <p:txBody>
          <a:bodyPr wrap="square" anchor="ctr">
            <a:spAutoFit/>
          </a:bodyPr>
          <a:lstStyle/>
          <a:p>
            <a:pPr algn="l">
              <a:spcAft>
                <a:spcPts val="300"/>
              </a:spcAft>
            </a:pPr>
            <a:r>
              <a:rPr sz="1450" b="1">
                <a:solidFill>
                  <a:srgbClr val="161B26"/>
                </a:solidFill>
                <a:latin typeface="Arial"/>
              </a:rPr>
              <a:t>LO3</a:t>
            </a:r>
          </a:p>
          <a:p>
            <a:pPr algn="l">
              <a:spcAft>
                <a:spcPts val="300"/>
              </a:spcAft>
            </a:pPr>
            <a:r>
              <a:rPr sz="1100" b="0">
                <a:solidFill>
                  <a:srgbClr val="5B6372"/>
                </a:solidFill>
                <a:latin typeface="Arial"/>
              </a:rPr>
              <a:t>Manage strategies to optimise the deployment and performance of Dynamics 365 customer engagement apps</a:t>
            </a:r>
          </a:p>
        </p:txBody>
      </p:sp>
      <p:sp>
        <p:nvSpPr>
          <p:cNvPr id="22" name="Rectangle 21"/>
          <p:cNvSpPr/>
          <p:nvPr/>
        </p:nvSpPr>
        <p:spPr>
          <a:xfrm>
            <a:off x="777240" y="45262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26280"/>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14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14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36008"/>
            <a:ext cx="9482328" cy="548640"/>
          </a:xfrm>
          <a:prstGeom prst="rect">
            <a:avLst/>
          </a:prstGeom>
          <a:noFill/>
        </p:spPr>
        <p:txBody>
          <a:bodyPr wrap="square" anchor="ctr">
            <a:spAutoFit/>
          </a:bodyPr>
          <a:lstStyle/>
          <a:p>
            <a:pPr algn="l">
              <a:spcAft>
                <a:spcPts val="300"/>
              </a:spcAft>
            </a:pPr>
            <a:r>
              <a:rPr sz="1450" b="1">
                <a:solidFill>
                  <a:srgbClr val="161B26"/>
                </a:solidFill>
                <a:latin typeface="Arial"/>
              </a:rPr>
              <a:t>LO4</a:t>
            </a:r>
          </a:p>
          <a:p>
            <a:pPr algn="l">
              <a:spcAft>
                <a:spcPts val="300"/>
              </a:spcAft>
            </a:pPr>
            <a:r>
              <a:rPr sz="1100" b="0">
                <a:solidFill>
                  <a:srgbClr val="5B6372"/>
                </a:solidFill>
                <a:latin typeface="Arial"/>
              </a:rPr>
              <a:t>Draw actionable insights from Dynamics 365 CRM data to evaluate team and service performance</a:t>
            </a:r>
          </a:p>
        </p:txBody>
      </p:sp>
      <p:sp>
        <p:nvSpPr>
          <p:cNvPr id="27" name="Rectangle 26"/>
          <p:cNvSpPr/>
          <p:nvPr/>
        </p:nvSpPr>
        <p:spPr>
          <a:xfrm>
            <a:off x="777240" y="54406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406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58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58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50408"/>
            <a:ext cx="9482328" cy="548640"/>
          </a:xfrm>
          <a:prstGeom prst="rect">
            <a:avLst/>
          </a:prstGeom>
          <a:noFill/>
        </p:spPr>
        <p:txBody>
          <a:bodyPr wrap="square" anchor="ctr">
            <a:spAutoFit/>
          </a:bodyPr>
          <a:lstStyle/>
          <a:p>
            <a:pPr algn="l">
              <a:spcAft>
                <a:spcPts val="300"/>
              </a:spcAft>
            </a:pPr>
            <a:r>
              <a:rPr sz="1450" b="1">
                <a:solidFill>
                  <a:srgbClr val="161B26"/>
                </a:solidFill>
                <a:latin typeface="Arial"/>
              </a:rPr>
              <a:t>LO5</a:t>
            </a:r>
          </a:p>
          <a:p>
            <a:pPr algn="l">
              <a:spcAft>
                <a:spcPts val="300"/>
              </a:spcAft>
            </a:pPr>
            <a:r>
              <a:rPr sz="1100" b="0">
                <a:solidFill>
                  <a:srgbClr val="5B6372"/>
                </a:solidFill>
                <a:latin typeface="Arial"/>
              </a:rPr>
              <a:t>Review research outcomes and recommend investments in Dynamics 365 CRM tools and technologies</a:t>
            </a:r>
          </a:p>
        </p:txBody>
      </p:sp>
      <p:sp>
        <p:nvSpPr>
          <p:cNvPr id="32" name="TextBox 3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3" name="TextBox 3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 — Ten Topics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Day 1</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Day 2</a:t>
            </a:r>
          </a:p>
        </p:txBody>
      </p:sp>
      <p:sp>
        <p:nvSpPr>
          <p:cNvPr id="13" name="TextBox 12"/>
          <p:cNvSpPr txBox="1"/>
          <p:nvPr/>
        </p:nvSpPr>
        <p:spPr>
          <a:xfrm>
            <a:off x="1005840" y="2450592"/>
            <a:ext cx="4754880" cy="3474720"/>
          </a:xfrm>
          <a:prstGeom prst="rect">
            <a:avLst/>
          </a:prstGeom>
          <a:noFill/>
        </p:spPr>
        <p:txBody>
          <a:bodyPr wrap="square">
            <a:spAutoFit/>
          </a:bodyPr>
          <a:lstStyle/>
          <a:p>
            <a:pPr>
              <a:spcAft>
                <a:spcPts val="1000"/>
              </a:spcAft>
            </a:pPr>
            <a:r>
              <a:rPr sz="1300" b="1">
                <a:solidFill>
                  <a:srgbClr val="161B26"/>
                </a:solidFill>
                <a:latin typeface="Arial"/>
              </a:rPr>
              <a:t>•  Topic 1 — Foundations of CE apps</a:t>
            </a:r>
          </a:p>
          <a:p>
            <a:pPr>
              <a:spcAft>
                <a:spcPts val="1000"/>
              </a:spcAft>
            </a:pPr>
            <a:r>
              <a:rPr sz="1100" b="0">
                <a:solidFill>
                  <a:srgbClr val="5B6372"/>
                </a:solidFill>
                <a:latin typeface="Arial"/>
              </a:rPr>
              <a:t>–  CRM · Power Platform · Dataverse · the five apps · Copilot · navigation</a:t>
            </a:r>
          </a:p>
          <a:p>
            <a:pPr>
              <a:spcAft>
                <a:spcPts val="1000"/>
              </a:spcAft>
            </a:pPr>
            <a:r>
              <a:rPr sz="1300" b="1">
                <a:solidFill>
                  <a:srgbClr val="161B26"/>
                </a:solidFill>
                <a:latin typeface="Arial"/>
              </a:rPr>
              <a:t>•  Topic 2 — Shared activities &amp; integration</a:t>
            </a:r>
          </a:p>
          <a:p>
            <a:pPr>
              <a:spcAft>
                <a:spcPts val="1000"/>
              </a:spcAft>
            </a:pPr>
            <a:r>
              <a:rPr sz="1100" b="0">
                <a:solidFill>
                  <a:srgbClr val="5B6372"/>
                </a:solidFill>
                <a:latin typeface="Arial"/>
              </a:rPr>
              <a:t>–  Customers · activities · search · views, charts, dashboards · Excel, Teams, Outlook</a:t>
            </a:r>
          </a:p>
          <a:p>
            <a:pPr>
              <a:spcAft>
                <a:spcPts val="1000"/>
              </a:spcAft>
            </a:pPr>
            <a:r>
              <a:rPr sz="1300" b="1">
                <a:solidFill>
                  <a:srgbClr val="161B26"/>
                </a:solidFill>
                <a:latin typeface="Arial"/>
              </a:rPr>
              <a:t>•  Topic 3 — Customer Insights – Journeys</a:t>
            </a:r>
          </a:p>
          <a:p>
            <a:pPr>
              <a:spcAft>
                <a:spcPts val="1000"/>
              </a:spcAft>
            </a:pPr>
            <a:r>
              <a:rPr sz="1100" b="0">
                <a:solidFill>
                  <a:srgbClr val="5B6372"/>
                </a:solidFill>
                <a:latin typeface="Arial"/>
              </a:rPr>
              <a:t>–  Email marketing · segments · journeys · leads · forms · events</a:t>
            </a:r>
          </a:p>
          <a:p>
            <a:pPr>
              <a:spcAft>
                <a:spcPts val="1000"/>
              </a:spcAft>
            </a:pPr>
            <a:r>
              <a:rPr sz="1300" b="1">
                <a:solidFill>
                  <a:srgbClr val="161B26"/>
                </a:solidFill>
                <a:latin typeface="Arial"/>
              </a:rPr>
              <a:t>•  Topic 4 — CI – Data &amp; Customer Voice</a:t>
            </a:r>
          </a:p>
          <a:p>
            <a:pPr>
              <a:spcAft>
                <a:spcPts val="1000"/>
              </a:spcAft>
            </a:pPr>
            <a:r>
              <a:rPr sz="1100" b="0">
                <a:solidFill>
                  <a:srgbClr val="5B6372"/>
                </a:solidFill>
                <a:latin typeface="Arial"/>
              </a:rPr>
              <a:t>–  Unified profiles · measures · segments · survey feedback</a:t>
            </a:r>
          </a:p>
          <a:p>
            <a:pPr>
              <a:spcAft>
                <a:spcPts val="1000"/>
              </a:spcAft>
            </a:pPr>
            <a:r>
              <a:rPr sz="1300" b="1">
                <a:solidFill>
                  <a:srgbClr val="161B26"/>
                </a:solidFill>
                <a:latin typeface="Arial"/>
              </a:rPr>
              <a:t>•  Topic 5 — Explore Sales</a:t>
            </a:r>
          </a:p>
          <a:p>
            <a:pPr>
              <a:spcAft>
                <a:spcPts val="1000"/>
              </a:spcAft>
            </a:pPr>
            <a:r>
              <a:rPr sz="1100" b="0">
                <a:solidFill>
                  <a:srgbClr val="5B6372"/>
                </a:solidFill>
                <a:latin typeface="Arial"/>
              </a:rPr>
              <a:t>–  Lifecycle · leads · opportunities · quotes, orders, invoices · BPFs</a:t>
            </a:r>
          </a:p>
        </p:txBody>
      </p:sp>
      <p:sp>
        <p:nvSpPr>
          <p:cNvPr id="14" name="TextBox 13"/>
          <p:cNvSpPr txBox="1"/>
          <p:nvPr/>
        </p:nvSpPr>
        <p:spPr>
          <a:xfrm>
            <a:off x="6583680" y="2450592"/>
            <a:ext cx="4617720" cy="3474720"/>
          </a:xfrm>
          <a:prstGeom prst="rect">
            <a:avLst/>
          </a:prstGeom>
          <a:noFill/>
        </p:spPr>
        <p:txBody>
          <a:bodyPr wrap="square">
            <a:spAutoFit/>
          </a:bodyPr>
          <a:lstStyle/>
          <a:p>
            <a:pPr>
              <a:spcAft>
                <a:spcPts val="1000"/>
              </a:spcAft>
            </a:pPr>
            <a:r>
              <a:rPr sz="1300" b="1">
                <a:solidFill>
                  <a:srgbClr val="161B26"/>
                </a:solidFill>
                <a:latin typeface="Arial"/>
              </a:rPr>
              <a:t>•  Topic 6 — Sales capabilities &amp; apps</a:t>
            </a:r>
          </a:p>
          <a:p>
            <a:pPr>
              <a:spcAft>
                <a:spcPts val="1000"/>
              </a:spcAft>
            </a:pPr>
            <a:r>
              <a:rPr sz="1100" b="0">
                <a:solidFill>
                  <a:srgbClr val="5B6372"/>
                </a:solidFill>
                <a:latin typeface="Arial"/>
              </a:rPr>
              <a:t>–  Forecasting · Sales Insights · LinkedIn · mobile · Copilot for Sales</a:t>
            </a:r>
          </a:p>
          <a:p>
            <a:pPr>
              <a:spcAft>
                <a:spcPts val="1000"/>
              </a:spcAft>
            </a:pPr>
            <a:r>
              <a:rPr sz="1300" b="1">
                <a:solidFill>
                  <a:srgbClr val="161B26"/>
                </a:solidFill>
                <a:latin typeface="Arial"/>
              </a:rPr>
              <a:t>•  Topic 7 — Explore Customer Service</a:t>
            </a:r>
          </a:p>
          <a:p>
            <a:pPr>
              <a:spcAft>
                <a:spcPts val="1000"/>
              </a:spcAft>
            </a:pPr>
            <a:r>
              <a:rPr sz="1100" b="0">
                <a:solidFill>
                  <a:srgbClr val="5B6372"/>
                </a:solidFill>
                <a:latin typeface="Arial"/>
              </a:rPr>
              <a:t>–  Cases · SLAs &amp; entitlements · queues &amp; routing · knowledge</a:t>
            </a:r>
          </a:p>
          <a:p>
            <a:pPr>
              <a:spcAft>
                <a:spcPts val="1000"/>
              </a:spcAft>
            </a:pPr>
            <a:r>
              <a:rPr sz="1300" b="1">
                <a:solidFill>
                  <a:srgbClr val="161B26"/>
                </a:solidFill>
                <a:latin typeface="Arial"/>
              </a:rPr>
              <a:t>•  Topic 8 — Service capabilities &amp; apps</a:t>
            </a:r>
          </a:p>
          <a:p>
            <a:pPr>
              <a:spcAft>
                <a:spcPts val="1000"/>
              </a:spcAft>
            </a:pPr>
            <a:r>
              <a:rPr sz="1100" b="0">
                <a:solidFill>
                  <a:srgbClr val="5B6372"/>
                </a:solidFill>
                <a:latin typeface="Arial"/>
              </a:rPr>
              <a:t>–  Omnichannel · supervisor insights · sentiment · analytics</a:t>
            </a:r>
          </a:p>
          <a:p>
            <a:pPr>
              <a:spcAft>
                <a:spcPts val="1000"/>
              </a:spcAft>
            </a:pPr>
            <a:r>
              <a:rPr sz="1300" b="1">
                <a:solidFill>
                  <a:srgbClr val="161B26"/>
                </a:solidFill>
                <a:latin typeface="Arial"/>
              </a:rPr>
              <a:t>•  Topic 9 — Explore Field Service</a:t>
            </a:r>
          </a:p>
          <a:p>
            <a:pPr>
              <a:spcAft>
                <a:spcPts val="1000"/>
              </a:spcAft>
            </a:pPr>
            <a:r>
              <a:rPr sz="1100" b="0">
                <a:solidFill>
                  <a:srgbClr val="5B6372"/>
                </a:solidFill>
                <a:latin typeface="Arial"/>
              </a:rPr>
              <a:t>–  Work orders · lifecycle · inspections · mobile app</a:t>
            </a:r>
          </a:p>
          <a:p>
            <a:pPr>
              <a:spcAft>
                <a:spcPts val="1000"/>
              </a:spcAft>
            </a:pPr>
            <a:r>
              <a:rPr sz="1300" b="1">
                <a:solidFill>
                  <a:srgbClr val="161B26"/>
                </a:solidFill>
                <a:latin typeface="Arial"/>
              </a:rPr>
              <a:t>•  Topic 10 — FS scheduling &amp; related apps</a:t>
            </a:r>
          </a:p>
          <a:p>
            <a:pPr>
              <a:spcAft>
                <a:spcPts val="1000"/>
              </a:spcAft>
            </a:pPr>
            <a:r>
              <a:rPr sz="1100" b="0">
                <a:solidFill>
                  <a:srgbClr val="5B6372"/>
                </a:solidFill>
                <a:latin typeface="Arial"/>
              </a:rPr>
              <a:t>–  Schedule board &amp; assistant · assets · Connected Field Service</a:t>
            </a:r>
          </a:p>
        </p:txBody>
      </p:sp>
      <p:sp>
        <p:nvSpPr>
          <p:cNvPr id="15" name="TextBox 14"/>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6" name="TextBox 15"/>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Clear your desk</a:t>
            </a:r>
          </a:p>
          <a:p>
            <a:pPr algn="l">
              <a:spcAft>
                <a:spcPts val="300"/>
              </a:spcAft>
            </a:pPr>
            <a:r>
              <a:rPr sz="1150" b="0">
                <a:solidFill>
                  <a:srgbClr val="5B6372"/>
                </a:solidFill>
                <a:latin typeface="Arial"/>
              </a:rPr>
              <a:t>Phones and other materials go under the table or on the floor.</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No photos, no recording</a:t>
            </a:r>
          </a:p>
          <a:p>
            <a:pPr algn="l">
              <a:spcAft>
                <a:spcPts val="300"/>
              </a:spcAft>
            </a:pPr>
            <a:r>
              <a:rPr sz="1150" b="0">
                <a:solidFill>
                  <a:srgbClr val="5B6372"/>
                </a:solidFill>
                <a:latin typeface="Arial"/>
              </a:rPr>
              <a:t>Assessment scripts must not be photographed or recorded.</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No discussion</a:t>
            </a:r>
          </a:p>
          <a:p>
            <a:pPr algn="l">
              <a:spcAft>
                <a:spcPts val="300"/>
              </a:spcAft>
            </a:pPr>
            <a:r>
              <a:rPr sz="1150" b="0">
                <a:solidFill>
                  <a:srgbClr val="5B6372"/>
                </a:solidFill>
                <a:latin typeface="Arial"/>
              </a:rPr>
              <a:t>Work independently once the assessment has started.</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Black or blue pen</a:t>
            </a:r>
          </a:p>
          <a:p>
            <a:pPr algn="l">
              <a:spcAft>
                <a:spcPts val="300"/>
              </a:spcAft>
            </a:pPr>
            <a:r>
              <a:rPr sz="1150" b="0">
                <a:solidFill>
                  <a:srgbClr val="5B6372"/>
                </a:solidFill>
                <a:latin typeface="Arial"/>
              </a:rPr>
              <a:t>For hard-copy answers. No liquid paper or correction tape.</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Scripts collected on time</a:t>
            </a:r>
          </a:p>
          <a:p>
            <a:pPr algn="l">
              <a:spcAft>
                <a:spcPts val="300"/>
              </a:spcAft>
            </a:pPr>
            <a:r>
              <a:rPr sz="1150" b="0">
                <a:solidFill>
                  <a:srgbClr val="5B6372"/>
                </a:solidFill>
                <a:latin typeface="Arial"/>
              </a:rPr>
              <a:t>All scripts are collected when the time is up.</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You may appeal</a:t>
            </a:r>
          </a:p>
          <a:p>
            <a:pPr algn="l">
              <a:spcAft>
                <a:spcPts val="300"/>
              </a:spcAft>
            </a:pPr>
            <a:r>
              <a:rPr sz="1150" b="0">
                <a:solidFill>
                  <a:srgbClr val="5B6372"/>
                </a:solidFill>
                <a:latin typeface="Arial"/>
              </a:rPr>
              <a:t>An appeal process is available if you disagree with the outcome.</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7C3AED"/>
                </a:solidFill>
                <a:latin typeface="Arial"/>
              </a:rPr>
              <a:t>Instrument 1 — knowledge</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Instrument 2 — practical</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Written Assessment (WA)</a:t>
            </a:r>
          </a:p>
          <a:p>
            <a:pPr>
              <a:spcAft>
                <a:spcPts val="1000"/>
              </a:spcAft>
            </a:pPr>
            <a:r>
              <a:rPr sz="1200" b="0">
                <a:solidFill>
                  <a:srgbClr val="5B6372"/>
                </a:solidFill>
                <a:latin typeface="Arial"/>
              </a:rPr>
              <a:t>–  Short-Answer Questions (SAQ)</a:t>
            </a:r>
          </a:p>
          <a:p>
            <a:pPr>
              <a:spcAft>
                <a:spcPts val="1000"/>
              </a:spcAft>
            </a:pPr>
            <a:r>
              <a:rPr sz="1200" b="0">
                <a:solidFill>
                  <a:srgbClr val="5B6372"/>
                </a:solidFill>
                <a:latin typeface="Arial"/>
              </a:rPr>
              <a:t>–  1 hour · open book</a:t>
            </a:r>
          </a:p>
          <a:p>
            <a:pPr>
              <a:spcAft>
                <a:spcPts val="1000"/>
              </a:spcAft>
            </a:pPr>
            <a:r>
              <a:rPr sz="1200" b="0">
                <a:solidFill>
                  <a:srgbClr val="5B6372"/>
                </a:solidFill>
                <a:latin typeface="Arial"/>
              </a:rPr>
              <a:t>–  Tests your KNOWLEDGE of the four MB-910 skill areas</a:t>
            </a:r>
          </a:p>
          <a:p>
            <a:pPr>
              <a:spcAft>
                <a:spcPts val="1000"/>
              </a:spcAft>
            </a:pPr>
            <a:r>
              <a:rPr sz="1200" b="0">
                <a:solidFill>
                  <a:srgbClr val="5B6372"/>
                </a:solidFill>
                <a:latin typeface="Arial"/>
              </a:rPr>
              <a:t>–  Answer in your own words — no multiple choice</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Practical Performance (PP)</a:t>
            </a:r>
          </a:p>
          <a:p>
            <a:pPr>
              <a:spcAft>
                <a:spcPts val="1000"/>
              </a:spcAft>
            </a:pPr>
            <a:r>
              <a:rPr sz="1200" b="0">
                <a:solidFill>
                  <a:srgbClr val="5B6372"/>
                </a:solidFill>
                <a:latin typeface="Arial"/>
              </a:rPr>
              <a:t>–  Hands-on tasks in Dynamics 365</a:t>
            </a:r>
          </a:p>
          <a:p>
            <a:pPr>
              <a:spcAft>
                <a:spcPts val="1000"/>
              </a:spcAft>
            </a:pPr>
            <a:r>
              <a:rPr sz="1200" b="0">
                <a:solidFill>
                  <a:srgbClr val="5B6372"/>
                </a:solidFill>
                <a:latin typeface="Arial"/>
              </a:rPr>
              <a:t>–  1 hour · open book</a:t>
            </a:r>
          </a:p>
          <a:p>
            <a:pPr>
              <a:spcAft>
                <a:spcPts val="1000"/>
              </a:spcAft>
            </a:pPr>
            <a:r>
              <a:rPr sz="1200" b="0">
                <a:solidFill>
                  <a:srgbClr val="5B6372"/>
                </a:solidFill>
                <a:latin typeface="Arial"/>
              </a:rPr>
              <a:t>–  Tests your ABILITY — drawn from the ten class labs</a:t>
            </a:r>
          </a:p>
          <a:p>
            <a:pPr>
              <a:spcAft>
                <a:spcPts val="1000"/>
              </a:spcAft>
            </a:pPr>
            <a:r>
              <a:rPr sz="1200" b="0">
                <a:solidFill>
                  <a:srgbClr val="5B6372"/>
                </a:solidFill>
                <a:latin typeface="Arial"/>
              </a:rPr>
              <a:t>–  Nothing is assessed that you have not already done</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Open book means the course slides, the Learner Guide and approved materials only. You must be assessed Competent in BOTH instruments.</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_flow.png"/>
          <p:cNvPicPr>
            <a:picLocks noChangeAspect="1"/>
          </p:cNvPicPr>
          <p:nvPr/>
        </p:nvPicPr>
        <p:blipFill>
          <a:blip r:embed="rId2"/>
          <a:stretch>
            <a:fillRect/>
          </a:stretch>
        </p:blipFill>
        <p:spPr>
          <a:xfrm>
            <a:off x="883767" y="1742813"/>
            <a:ext cx="10424160" cy="3921014"/>
          </a:xfrm>
          <a:prstGeom prst="rect">
            <a:avLst/>
          </a:prstGeom>
        </p:spPr>
      </p:pic>
      <p:sp>
        <p:nvSpPr>
          <p:cNvPr id="8" name="Rectangle 7"/>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42432"/>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Survey → attendance → Written Assessment → Practical Performance → sign the Assessment Summary Record.</a:t>
            </a:r>
          </a:p>
        </p:txBody>
      </p:sp>
      <p:sp>
        <p:nvSpPr>
          <p:cNvPr id="10" name="TextBox 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1" name="TextBox 1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 REQUIREMENTS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74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75% minimum attendance</a:t>
            </a:r>
          </a:p>
          <a:p>
            <a:pPr algn="l">
              <a:spcAft>
                <a:spcPts val="300"/>
              </a:spcAft>
            </a:pPr>
            <a:r>
              <a:rPr sz="1150" b="0">
                <a:solidFill>
                  <a:srgbClr val="5B6372"/>
                </a:solidFill>
                <a:latin typeface="Arial"/>
              </a:rPr>
              <a:t>Based on the SSG digital attendance record — AM, PM and assessment, both days.</a:t>
            </a:r>
          </a:p>
        </p:txBody>
      </p:sp>
      <p:sp>
        <p:nvSpPr>
          <p:cNvPr id="12" name="Rectangle 11"/>
          <p:cNvSpPr/>
          <p:nvPr/>
        </p:nvSpPr>
        <p:spPr>
          <a:xfrm>
            <a:off x="6222492" y="1783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74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Assessed 'Competent'</a:t>
            </a:r>
          </a:p>
          <a:p>
            <a:pPr algn="l">
              <a:spcAft>
                <a:spcPts val="300"/>
              </a:spcAft>
            </a:pPr>
            <a:r>
              <a:rPr sz="1150" b="0">
                <a:solidFill>
                  <a:srgbClr val="5B6372"/>
                </a:solidFill>
                <a:latin typeface="Arial"/>
              </a:rPr>
              <a:t>In BOTH the Written Assessment and the Practical Performance.</a:t>
            </a:r>
          </a:p>
        </p:txBody>
      </p:sp>
      <p:sp>
        <p:nvSpPr>
          <p:cNvPr id="17" name="Rectangle 16"/>
          <p:cNvSpPr/>
          <p:nvPr/>
        </p:nvSpPr>
        <p:spPr>
          <a:xfrm>
            <a:off x="777240" y="4069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9080"/>
            <a:ext cx="91440" cy="2084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78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Complete the TRAQOM survey</a:t>
            </a:r>
          </a:p>
          <a:p>
            <a:pPr algn="l">
              <a:spcAft>
                <a:spcPts val="300"/>
              </a:spcAft>
            </a:pPr>
            <a:r>
              <a:rPr sz="1150" b="0">
                <a:solidFill>
                  <a:srgbClr val="5B6372"/>
                </a:solidFill>
                <a:latin typeface="Arial"/>
              </a:rPr>
              <a:t>The mandatory post-course survey on the LMS/TMS portal.</a:t>
            </a:r>
          </a:p>
        </p:txBody>
      </p:sp>
      <p:sp>
        <p:nvSpPr>
          <p:cNvPr id="22" name="Rectangle 21"/>
          <p:cNvSpPr/>
          <p:nvPr/>
        </p:nvSpPr>
        <p:spPr>
          <a:xfrm>
            <a:off x="6222492" y="4069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69080"/>
            <a:ext cx="91440" cy="2084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60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4178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Then you receive</a:t>
            </a:r>
          </a:p>
          <a:p>
            <a:pPr algn="l">
              <a:spcAft>
                <a:spcPts val="300"/>
              </a:spcAft>
            </a:pPr>
            <a:r>
              <a:rPr sz="1150" b="0">
                <a:solidFill>
                  <a:srgbClr val="5B6372"/>
                </a:solidFill>
                <a:latin typeface="Arial"/>
              </a:rPr>
              <a:t>A Tertiary Infotech Certificate of Achievement and an SSG OpenCert.</a:t>
            </a:r>
          </a:p>
        </p:txBody>
      </p:sp>
      <p:sp>
        <p:nvSpPr>
          <p:cNvPr id="27" name="TextBox 2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8" name="TextBox 2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LET'S BEGIN</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Day 1</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Core capabilities, shared activities and the Customer Insights apps.</a:t>
            </a:r>
          </a:p>
        </p:txBody>
      </p:sp>
      <p:sp>
        <p:nvSpPr>
          <p:cNvPr id="7" name="TextBox 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 name="TextBox 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Foundations of Dynamics 365 Customer Engagement Apps</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CRM concepts · Power Platform · Microsoft Dataverse · the five CE apps · Copilot · navigation</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01</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FOUNDATION OF EVERYTHING THAT FOLLOWS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Customer Relationship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A customer is an entity you serve</a:t>
            </a:r>
          </a:p>
          <a:p>
            <a:pPr algn="l">
              <a:spcAft>
                <a:spcPts val="300"/>
              </a:spcAft>
            </a:pPr>
            <a:r>
              <a:rPr sz="1150" b="0">
                <a:solidFill>
                  <a:srgbClr val="5B6372"/>
                </a:solidFill>
                <a:latin typeface="Arial"/>
              </a:rPr>
              <a:t>Any entity receiving, consuming or purchasing a product or service — an organisation or a person.</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Engagement is emotional</a:t>
            </a:r>
          </a:p>
          <a:p>
            <a:pPr algn="l">
              <a:spcAft>
                <a:spcPts val="300"/>
              </a:spcAft>
            </a:pPr>
            <a:r>
              <a:rPr sz="1150" b="0">
                <a:solidFill>
                  <a:srgbClr val="5B6372"/>
                </a:solidFill>
                <a:latin typeface="Arial"/>
              </a:rPr>
              <a:t>The connection between the customer and your brand — CRM exists to build and keep it.</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Engaged customers are worth more</a:t>
            </a:r>
          </a:p>
          <a:p>
            <a:pPr algn="l">
              <a:spcAft>
                <a:spcPts val="300"/>
              </a:spcAft>
            </a:pPr>
            <a:r>
              <a:rPr sz="1150" b="0">
                <a:solidFill>
                  <a:srgbClr val="5B6372"/>
                </a:solidFill>
                <a:latin typeface="Arial"/>
              </a:rPr>
              <a:t>They buy more often, stay longer, cost less to serve and recommend you to others.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CRM is the system of record</a:t>
            </a:r>
          </a:p>
          <a:p>
            <a:pPr algn="l">
              <a:spcAft>
                <a:spcPts val="300"/>
              </a:spcAft>
            </a:pPr>
            <a:r>
              <a:rPr sz="1150" b="0">
                <a:solidFill>
                  <a:srgbClr val="5B6372"/>
                </a:solidFill>
                <a:latin typeface="Arial"/>
              </a:rPr>
              <a:t>One place for every interaction across marketing, sales, service and field operations.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Not just a contact list</a:t>
            </a:r>
          </a:p>
          <a:p>
            <a:pPr algn="l">
              <a:spcAft>
                <a:spcPts val="300"/>
              </a:spcAft>
            </a:pPr>
            <a:r>
              <a:rPr sz="1150" b="0">
                <a:solidFill>
                  <a:srgbClr val="5B6372"/>
                </a:solidFill>
                <a:latin typeface="Arial"/>
              </a:rPr>
              <a:t>Process, automation, analytics and AI on top of the data — that is what makes it CRM.</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The business case</a:t>
            </a:r>
          </a:p>
          <a:p>
            <a:pPr algn="l">
              <a:spcAft>
                <a:spcPts val="300"/>
              </a:spcAft>
            </a:pPr>
            <a:r>
              <a:rPr sz="1150" b="0">
                <a:solidFill>
                  <a:srgbClr val="5B6372"/>
                </a:solidFill>
                <a:latin typeface="Arial"/>
              </a:rPr>
              <a:t>Higher retention, shorter sales cycles, faster resolution, better forecasting.</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PLATFORM, MANY APPS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Power Platform, Dataverse and the CE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latform_stack.png"/>
          <p:cNvPicPr>
            <a:picLocks noChangeAspect="1"/>
          </p:cNvPicPr>
          <p:nvPr/>
        </p:nvPicPr>
        <p:blipFill>
          <a:blip r:embed="rId2"/>
          <a:stretch>
            <a:fillRect/>
          </a:stretch>
        </p:blipFill>
        <p:spPr>
          <a:xfrm>
            <a:off x="777240" y="2126020"/>
            <a:ext cx="6126480" cy="3657519"/>
          </a:xfrm>
          <a:prstGeom prst="rect">
            <a:avLst/>
          </a:prstGeom>
        </p:spPr>
      </p:pic>
      <p:sp>
        <p:nvSpPr>
          <p:cNvPr id="8" name="Rectangle 7"/>
          <p:cNvSpPr/>
          <p:nvPr/>
        </p:nvSpPr>
        <p:spPr>
          <a:xfrm>
            <a:off x="7178040" y="1783080"/>
            <a:ext cx="423367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7804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15784" y="1783080"/>
            <a:ext cx="3813048" cy="962406"/>
          </a:xfrm>
          <a:prstGeom prst="rect">
            <a:avLst/>
          </a:prstGeom>
          <a:noFill/>
        </p:spPr>
        <p:txBody>
          <a:bodyPr wrap="square" anchor="ctr">
            <a:spAutoFit/>
          </a:bodyPr>
          <a:lstStyle/>
          <a:p>
            <a:pPr algn="l">
              <a:spcAft>
                <a:spcPts val="200"/>
              </a:spcAft>
            </a:pPr>
            <a:r>
              <a:rPr sz="1300" b="1">
                <a:solidFill>
                  <a:srgbClr val="1F6FEB"/>
                </a:solidFill>
                <a:latin typeface="Arial"/>
              </a:rPr>
              <a:t>Apps on top</a:t>
            </a:r>
          </a:p>
          <a:p>
            <a:pPr algn="l">
              <a:spcAft>
                <a:spcPts val="200"/>
              </a:spcAft>
            </a:pPr>
            <a:r>
              <a:rPr sz="1100" b="0">
                <a:solidFill>
                  <a:srgbClr val="161B26"/>
                </a:solidFill>
                <a:latin typeface="Arial"/>
              </a:rPr>
              <a:t>The five customer engagement apps are model-driven Power Apps — licensed separately, deployed modularly.</a:t>
            </a:r>
          </a:p>
        </p:txBody>
      </p:sp>
      <p:sp>
        <p:nvSpPr>
          <p:cNvPr id="11" name="Rectangle 10"/>
          <p:cNvSpPr/>
          <p:nvPr/>
        </p:nvSpPr>
        <p:spPr>
          <a:xfrm>
            <a:off x="7178040" y="2910078"/>
            <a:ext cx="423367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2910078"/>
            <a:ext cx="82296" cy="9624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15784" y="2910078"/>
            <a:ext cx="3813048" cy="962406"/>
          </a:xfrm>
          <a:prstGeom prst="rect">
            <a:avLst/>
          </a:prstGeom>
          <a:noFill/>
        </p:spPr>
        <p:txBody>
          <a:bodyPr wrap="square" anchor="ctr">
            <a:spAutoFit/>
          </a:bodyPr>
          <a:lstStyle/>
          <a:p>
            <a:pPr algn="l">
              <a:spcAft>
                <a:spcPts val="200"/>
              </a:spcAft>
            </a:pPr>
            <a:r>
              <a:rPr sz="1300" b="1">
                <a:solidFill>
                  <a:srgbClr val="10B981"/>
                </a:solidFill>
                <a:latin typeface="Arial"/>
              </a:rPr>
              <a:t>Dataverse in the middle</a:t>
            </a:r>
          </a:p>
          <a:p>
            <a:pPr algn="l">
              <a:spcAft>
                <a:spcPts val="200"/>
              </a:spcAft>
            </a:pPr>
            <a:r>
              <a:rPr sz="1100" b="0">
                <a:solidFill>
                  <a:srgbClr val="161B26"/>
                </a:solidFill>
                <a:latin typeface="Arial"/>
              </a:rPr>
              <a:t>One secure, governed database. Every app reads and writes the same rows.</a:t>
            </a:r>
          </a:p>
        </p:txBody>
      </p:sp>
      <p:sp>
        <p:nvSpPr>
          <p:cNvPr id="14" name="Rectangle 13"/>
          <p:cNvSpPr/>
          <p:nvPr/>
        </p:nvSpPr>
        <p:spPr>
          <a:xfrm>
            <a:off x="7178040" y="4037076"/>
            <a:ext cx="423367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5784" y="4037076"/>
            <a:ext cx="3813048" cy="962406"/>
          </a:xfrm>
          <a:prstGeom prst="rect">
            <a:avLst/>
          </a:prstGeom>
          <a:noFill/>
        </p:spPr>
        <p:txBody>
          <a:bodyPr wrap="square" anchor="ctr">
            <a:spAutoFit/>
          </a:bodyPr>
          <a:lstStyle/>
          <a:p>
            <a:pPr algn="l">
              <a:spcAft>
                <a:spcPts val="200"/>
              </a:spcAft>
            </a:pPr>
            <a:r>
              <a:rPr sz="1300" b="1">
                <a:solidFill>
                  <a:srgbClr val="7C3AED"/>
                </a:solidFill>
                <a:latin typeface="Arial"/>
              </a:rPr>
              <a:t>Power Platform underneath</a:t>
            </a:r>
          </a:p>
          <a:p>
            <a:pPr algn="l">
              <a:spcAft>
                <a:spcPts val="200"/>
              </a:spcAft>
            </a:pPr>
            <a:r>
              <a:rPr sz="1100" b="0">
                <a:solidFill>
                  <a:srgbClr val="161B26"/>
                </a:solidFill>
                <a:latin typeface="Arial"/>
              </a:rPr>
              <a:t>Power Apps, Power Automate, Power BI, Power Pages and Copilot Studio extend every app.</a:t>
            </a:r>
          </a:p>
        </p:txBody>
      </p:sp>
      <p:sp>
        <p:nvSpPr>
          <p:cNvPr id="17" name="Rectangle 16"/>
          <p:cNvSpPr/>
          <p:nvPr/>
        </p:nvSpPr>
        <p:spPr>
          <a:xfrm>
            <a:off x="7178040" y="5164074"/>
            <a:ext cx="423367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5164074"/>
            <a:ext cx="82296" cy="9624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5784" y="5164074"/>
            <a:ext cx="3813048" cy="962406"/>
          </a:xfrm>
          <a:prstGeom prst="rect">
            <a:avLst/>
          </a:prstGeom>
          <a:noFill/>
        </p:spPr>
        <p:txBody>
          <a:bodyPr wrap="square" anchor="ctr">
            <a:spAutoFit/>
          </a:bodyPr>
          <a:lstStyle/>
          <a:p>
            <a:pPr algn="l">
              <a:spcAft>
                <a:spcPts val="200"/>
              </a:spcAft>
            </a:pPr>
            <a:r>
              <a:rPr sz="1300" b="1">
                <a:solidFill>
                  <a:srgbClr val="F59E0B"/>
                </a:solidFill>
                <a:latin typeface="Arial"/>
              </a:rPr>
              <a:t>Azure at the base</a:t>
            </a:r>
          </a:p>
          <a:p>
            <a:pPr algn="l">
              <a:spcAft>
                <a:spcPts val="200"/>
              </a:spcAft>
            </a:pPr>
            <a:r>
              <a:rPr sz="1100" b="0">
                <a:solidFill>
                  <a:srgbClr val="161B26"/>
                </a:solidFill>
                <a:latin typeface="Arial"/>
              </a:rPr>
              <a:t>Entra ID identity, security, compliance and the global cloud infrastructure.</a:t>
            </a:r>
          </a:p>
        </p:txBody>
      </p:sp>
      <p:sp>
        <p:nvSpPr>
          <p:cNvPr id="20" name="TextBox 1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1" name="TextBox 2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BENEFITS OF A SHARED DATA STORE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Dataverse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Easy to manage</a:t>
            </a:r>
          </a:p>
          <a:p>
            <a:pPr algn="l">
              <a:spcAft>
                <a:spcPts val="300"/>
              </a:spcAft>
            </a:pPr>
            <a:r>
              <a:rPr sz="1150" b="0">
                <a:solidFill>
                  <a:srgbClr val="5B6372"/>
                </a:solidFill>
                <a:latin typeface="Arial"/>
              </a:rPr>
              <a:t>Metadata and data are stored together in the cloud — no schema to maintain by hand.</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Easy to secure</a:t>
            </a:r>
          </a:p>
          <a:p>
            <a:pPr algn="l">
              <a:spcAft>
                <a:spcPts val="300"/>
              </a:spcAft>
            </a:pPr>
            <a:r>
              <a:rPr sz="1150" b="0">
                <a:solidFill>
                  <a:srgbClr val="5B6372"/>
                </a:solidFill>
                <a:latin typeface="Arial"/>
              </a:rPr>
              <a:t>Role-based security controls access to tables, rows and even individual columns.</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Rich metadata</a:t>
            </a:r>
          </a:p>
          <a:p>
            <a:pPr algn="l">
              <a:spcAft>
                <a:spcPts val="300"/>
              </a:spcAft>
            </a:pPr>
            <a:r>
              <a:rPr sz="1150" b="0">
                <a:solidFill>
                  <a:srgbClr val="5B6372"/>
                </a:solidFill>
                <a:latin typeface="Arial"/>
              </a:rPr>
              <a:t>Data types, relationships and behaviour are used directly by apps and reports.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Logic and validation</a:t>
            </a:r>
          </a:p>
          <a:p>
            <a:pPr algn="l">
              <a:spcAft>
                <a:spcPts val="300"/>
              </a:spcAft>
            </a:pPr>
            <a:r>
              <a:rPr sz="1150" b="0">
                <a:solidFill>
                  <a:srgbClr val="5B6372"/>
                </a:solidFill>
                <a:latin typeface="Arial"/>
              </a:rPr>
              <a:t>Business rules, calculated columns, workflows and duplicate detection run in the data layer.</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Productivity tools</a:t>
            </a:r>
          </a:p>
          <a:p>
            <a:pPr algn="l">
              <a:spcAft>
                <a:spcPts val="300"/>
              </a:spcAft>
            </a:pPr>
            <a:r>
              <a:rPr sz="1150" b="0">
                <a:solidFill>
                  <a:srgbClr val="5B6372"/>
                </a:solidFill>
                <a:latin typeface="Arial"/>
              </a:rPr>
              <a:t>Available as an add-in for Excel and Outlook, so users work where they already are.</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One source of truth</a:t>
            </a:r>
          </a:p>
          <a:p>
            <a:pPr algn="l">
              <a:spcAft>
                <a:spcPts val="300"/>
              </a:spcAft>
            </a:pPr>
            <a:r>
              <a:rPr sz="1150" b="0">
                <a:solidFill>
                  <a:srgbClr val="5B6372"/>
                </a:solidFill>
                <a:latin typeface="Arial"/>
              </a:rPr>
              <a:t>Change a customer's address once and every app sees it immediately.</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MODULAR — LICENSE WHAT YOU NEED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Five Customer Engagement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2351105" cy="600891"/>
          </a:xfrm>
          <a:prstGeom prst="rect">
            <a:avLst/>
          </a:prstGeom>
          <a:noFill/>
        </p:spPr>
        <p:txBody>
          <a:bodyPr wrap="square" anchor="ctr">
            <a:spAutoFit/>
          </a:bodyPr>
          <a:lstStyle/>
          <a:p>
            <a:pPr algn="l">
              <a:spcAft>
                <a:spcPts val="400"/>
              </a:spcAft>
            </a:pPr>
            <a:r>
              <a:rPr sz="1200" b="1">
                <a:solidFill>
                  <a:srgbClr val="FFFFFF"/>
                </a:solidFill>
                <a:latin typeface="Arial"/>
              </a:rPr>
              <a:t>App</a:t>
            </a:r>
          </a:p>
        </p:txBody>
      </p:sp>
      <p:sp>
        <p:nvSpPr>
          <p:cNvPr id="9" name="Rectangle 8"/>
          <p:cNvSpPr/>
          <p:nvPr/>
        </p:nvSpPr>
        <p:spPr>
          <a:xfrm>
            <a:off x="3329513" y="1783080"/>
            <a:ext cx="3615720"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8385" y="1783080"/>
            <a:ext cx="3414552" cy="600891"/>
          </a:xfrm>
          <a:prstGeom prst="rect">
            <a:avLst/>
          </a:prstGeom>
          <a:noFill/>
        </p:spPr>
        <p:txBody>
          <a:bodyPr wrap="square" anchor="ctr">
            <a:spAutoFit/>
          </a:bodyPr>
          <a:lstStyle/>
          <a:p>
            <a:pPr algn="l">
              <a:spcAft>
                <a:spcPts val="400"/>
              </a:spcAft>
            </a:pPr>
            <a:r>
              <a:rPr sz="1200" b="1">
                <a:solidFill>
                  <a:srgbClr val="FFFFFF"/>
                </a:solidFill>
                <a:latin typeface="Arial"/>
              </a:rPr>
              <a:t>What it does</a:t>
            </a:r>
          </a:p>
        </p:txBody>
      </p:sp>
      <p:sp>
        <p:nvSpPr>
          <p:cNvPr id="11" name="Rectangle 10"/>
          <p:cNvSpPr/>
          <p:nvPr/>
        </p:nvSpPr>
        <p:spPr>
          <a:xfrm>
            <a:off x="6945233" y="1783080"/>
            <a:ext cx="2020549"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64105" y="1783080"/>
            <a:ext cx="1819381" cy="600891"/>
          </a:xfrm>
          <a:prstGeom prst="rect">
            <a:avLst/>
          </a:prstGeom>
          <a:noFill/>
        </p:spPr>
        <p:txBody>
          <a:bodyPr wrap="square" anchor="ctr">
            <a:spAutoFit/>
          </a:bodyPr>
          <a:lstStyle/>
          <a:p>
            <a:pPr algn="l">
              <a:spcAft>
                <a:spcPts val="400"/>
              </a:spcAft>
            </a:pPr>
            <a:r>
              <a:rPr sz="1200" b="1">
                <a:solidFill>
                  <a:srgbClr val="FFFFFF"/>
                </a:solidFill>
                <a:latin typeface="Arial"/>
              </a:rPr>
              <a:t>Primary user</a:t>
            </a:r>
          </a:p>
        </p:txBody>
      </p:sp>
      <p:sp>
        <p:nvSpPr>
          <p:cNvPr id="13" name="Rectangle 12"/>
          <p:cNvSpPr/>
          <p:nvPr/>
        </p:nvSpPr>
        <p:spPr>
          <a:xfrm>
            <a:off x="8965782" y="1783080"/>
            <a:ext cx="244592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84654" y="1783080"/>
            <a:ext cx="2244760" cy="600891"/>
          </a:xfrm>
          <a:prstGeom prst="rect">
            <a:avLst/>
          </a:prstGeom>
          <a:noFill/>
        </p:spPr>
        <p:txBody>
          <a:bodyPr wrap="square" anchor="ctr">
            <a:spAutoFit/>
          </a:bodyPr>
          <a:lstStyle/>
          <a:p>
            <a:pPr algn="l">
              <a:spcAft>
                <a:spcPts val="400"/>
              </a:spcAft>
            </a:pPr>
            <a:r>
              <a:rPr sz="1200" b="1">
                <a:solidFill>
                  <a:srgbClr val="FFFFFF"/>
                </a:solidFill>
                <a:latin typeface="Arial"/>
              </a:rPr>
              <a:t>Core record</a:t>
            </a:r>
          </a:p>
        </p:txBody>
      </p:sp>
      <p:sp>
        <p:nvSpPr>
          <p:cNvPr id="15" name="Rectangle 14"/>
          <p:cNvSpPr/>
          <p:nvPr/>
        </p:nvSpPr>
        <p:spPr>
          <a:xfrm>
            <a:off x="777240" y="2383971"/>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383971"/>
            <a:ext cx="2351105" cy="600891"/>
          </a:xfrm>
          <a:prstGeom prst="rect">
            <a:avLst/>
          </a:prstGeom>
          <a:noFill/>
        </p:spPr>
        <p:txBody>
          <a:bodyPr wrap="square" anchor="ctr">
            <a:spAutoFit/>
          </a:bodyPr>
          <a:lstStyle/>
          <a:p>
            <a:pPr algn="l">
              <a:spcAft>
                <a:spcPts val="400"/>
              </a:spcAft>
            </a:pPr>
            <a:r>
              <a:rPr sz="1100" b="1">
                <a:solidFill>
                  <a:srgbClr val="161B26"/>
                </a:solidFill>
                <a:latin typeface="Arial"/>
              </a:rPr>
              <a:t>Customer Insights – Journeys</a:t>
            </a:r>
          </a:p>
        </p:txBody>
      </p:sp>
      <p:sp>
        <p:nvSpPr>
          <p:cNvPr id="17" name="Rectangle 16"/>
          <p:cNvSpPr/>
          <p:nvPr/>
        </p:nvSpPr>
        <p:spPr>
          <a:xfrm>
            <a:off x="3329513" y="2383971"/>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48385" y="2383971"/>
            <a:ext cx="3414552" cy="600891"/>
          </a:xfrm>
          <a:prstGeom prst="rect">
            <a:avLst/>
          </a:prstGeom>
          <a:noFill/>
        </p:spPr>
        <p:txBody>
          <a:bodyPr wrap="square" anchor="ctr">
            <a:spAutoFit/>
          </a:bodyPr>
          <a:lstStyle/>
          <a:p>
            <a:pPr algn="l">
              <a:spcAft>
                <a:spcPts val="400"/>
              </a:spcAft>
            </a:pPr>
            <a:r>
              <a:rPr sz="1100" b="0">
                <a:solidFill>
                  <a:srgbClr val="161B26"/>
                </a:solidFill>
                <a:latin typeface="Arial"/>
              </a:rPr>
              <a:t>Multi-channel marketing campaigns and customer journeys</a:t>
            </a:r>
          </a:p>
        </p:txBody>
      </p:sp>
      <p:sp>
        <p:nvSpPr>
          <p:cNvPr id="19" name="Rectangle 18"/>
          <p:cNvSpPr/>
          <p:nvPr/>
        </p:nvSpPr>
        <p:spPr>
          <a:xfrm>
            <a:off x="6945233" y="2383971"/>
            <a:ext cx="2020549"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64105" y="2383971"/>
            <a:ext cx="1819381" cy="600891"/>
          </a:xfrm>
          <a:prstGeom prst="rect">
            <a:avLst/>
          </a:prstGeom>
          <a:noFill/>
        </p:spPr>
        <p:txBody>
          <a:bodyPr wrap="square" anchor="ctr">
            <a:spAutoFit/>
          </a:bodyPr>
          <a:lstStyle/>
          <a:p>
            <a:pPr algn="l">
              <a:spcAft>
                <a:spcPts val="400"/>
              </a:spcAft>
            </a:pPr>
            <a:r>
              <a:rPr sz="1100" b="0">
                <a:solidFill>
                  <a:srgbClr val="161B26"/>
                </a:solidFill>
                <a:latin typeface="Arial"/>
              </a:rPr>
              <a:t>Marketer</a:t>
            </a:r>
          </a:p>
        </p:txBody>
      </p:sp>
      <p:sp>
        <p:nvSpPr>
          <p:cNvPr id="21" name="Rectangle 20"/>
          <p:cNvSpPr/>
          <p:nvPr/>
        </p:nvSpPr>
        <p:spPr>
          <a:xfrm>
            <a:off x="8965782" y="2383971"/>
            <a:ext cx="244592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84654" y="2383971"/>
            <a:ext cx="2244760" cy="600891"/>
          </a:xfrm>
          <a:prstGeom prst="rect">
            <a:avLst/>
          </a:prstGeom>
          <a:noFill/>
        </p:spPr>
        <p:txBody>
          <a:bodyPr wrap="square" anchor="ctr">
            <a:spAutoFit/>
          </a:bodyPr>
          <a:lstStyle/>
          <a:p>
            <a:pPr algn="l">
              <a:spcAft>
                <a:spcPts val="400"/>
              </a:spcAft>
            </a:pPr>
            <a:r>
              <a:rPr sz="1100" b="0">
                <a:solidFill>
                  <a:srgbClr val="161B26"/>
                </a:solidFill>
                <a:latin typeface="Arial"/>
              </a:rPr>
              <a:t>Journey, segment</a:t>
            </a:r>
          </a:p>
        </p:txBody>
      </p:sp>
      <p:sp>
        <p:nvSpPr>
          <p:cNvPr id="23" name="Rectangle 22"/>
          <p:cNvSpPr/>
          <p:nvPr/>
        </p:nvSpPr>
        <p:spPr>
          <a:xfrm>
            <a:off x="777240" y="2984862"/>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2984862"/>
            <a:ext cx="2351105" cy="600891"/>
          </a:xfrm>
          <a:prstGeom prst="rect">
            <a:avLst/>
          </a:prstGeom>
          <a:noFill/>
        </p:spPr>
        <p:txBody>
          <a:bodyPr wrap="square" anchor="ctr">
            <a:spAutoFit/>
          </a:bodyPr>
          <a:lstStyle/>
          <a:p>
            <a:pPr algn="l">
              <a:spcAft>
                <a:spcPts val="400"/>
              </a:spcAft>
            </a:pPr>
            <a:r>
              <a:rPr sz="1100" b="1">
                <a:solidFill>
                  <a:srgbClr val="161B26"/>
                </a:solidFill>
                <a:latin typeface="Arial"/>
              </a:rPr>
              <a:t>Customer Insights – Data</a:t>
            </a:r>
          </a:p>
        </p:txBody>
      </p:sp>
      <p:sp>
        <p:nvSpPr>
          <p:cNvPr id="25" name="Rectangle 24"/>
          <p:cNvSpPr/>
          <p:nvPr/>
        </p:nvSpPr>
        <p:spPr>
          <a:xfrm>
            <a:off x="3329513" y="2984862"/>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48385" y="2984862"/>
            <a:ext cx="3414552" cy="600891"/>
          </a:xfrm>
          <a:prstGeom prst="rect">
            <a:avLst/>
          </a:prstGeom>
          <a:noFill/>
        </p:spPr>
        <p:txBody>
          <a:bodyPr wrap="square" anchor="ctr">
            <a:spAutoFit/>
          </a:bodyPr>
          <a:lstStyle/>
          <a:p>
            <a:pPr algn="l">
              <a:spcAft>
                <a:spcPts val="400"/>
              </a:spcAft>
            </a:pPr>
            <a:r>
              <a:rPr sz="1100" b="0">
                <a:solidFill>
                  <a:srgbClr val="161B26"/>
                </a:solidFill>
                <a:latin typeface="Arial"/>
              </a:rPr>
              <a:t>Unifies data from many sources into one customer profile</a:t>
            </a:r>
          </a:p>
        </p:txBody>
      </p:sp>
      <p:sp>
        <p:nvSpPr>
          <p:cNvPr id="27" name="Rectangle 26"/>
          <p:cNvSpPr/>
          <p:nvPr/>
        </p:nvSpPr>
        <p:spPr>
          <a:xfrm>
            <a:off x="6945233" y="2984862"/>
            <a:ext cx="2020549"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64105" y="2984862"/>
            <a:ext cx="1819381" cy="600891"/>
          </a:xfrm>
          <a:prstGeom prst="rect">
            <a:avLst/>
          </a:prstGeom>
          <a:noFill/>
        </p:spPr>
        <p:txBody>
          <a:bodyPr wrap="square" anchor="ctr">
            <a:spAutoFit/>
          </a:bodyPr>
          <a:lstStyle/>
          <a:p>
            <a:pPr algn="l">
              <a:spcAft>
                <a:spcPts val="400"/>
              </a:spcAft>
            </a:pPr>
            <a:r>
              <a:rPr sz="1100" b="0">
                <a:solidFill>
                  <a:srgbClr val="161B26"/>
                </a:solidFill>
                <a:latin typeface="Arial"/>
              </a:rPr>
              <a:t>Data analyst</a:t>
            </a:r>
          </a:p>
        </p:txBody>
      </p:sp>
      <p:sp>
        <p:nvSpPr>
          <p:cNvPr id="29" name="Rectangle 28"/>
          <p:cNvSpPr/>
          <p:nvPr/>
        </p:nvSpPr>
        <p:spPr>
          <a:xfrm>
            <a:off x="8965782" y="2984862"/>
            <a:ext cx="244592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84654" y="2984862"/>
            <a:ext cx="2244760" cy="600891"/>
          </a:xfrm>
          <a:prstGeom prst="rect">
            <a:avLst/>
          </a:prstGeom>
          <a:noFill/>
        </p:spPr>
        <p:txBody>
          <a:bodyPr wrap="square" anchor="ctr">
            <a:spAutoFit/>
          </a:bodyPr>
          <a:lstStyle/>
          <a:p>
            <a:pPr algn="l">
              <a:spcAft>
                <a:spcPts val="400"/>
              </a:spcAft>
            </a:pPr>
            <a:r>
              <a:rPr sz="1100" b="0">
                <a:solidFill>
                  <a:srgbClr val="161B26"/>
                </a:solidFill>
                <a:latin typeface="Arial"/>
              </a:rPr>
              <a:t>Unified profile</a:t>
            </a:r>
          </a:p>
        </p:txBody>
      </p:sp>
      <p:sp>
        <p:nvSpPr>
          <p:cNvPr id="31" name="Rectangle 30"/>
          <p:cNvSpPr/>
          <p:nvPr/>
        </p:nvSpPr>
        <p:spPr>
          <a:xfrm>
            <a:off x="777240" y="3585753"/>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3585753"/>
            <a:ext cx="2351105" cy="600891"/>
          </a:xfrm>
          <a:prstGeom prst="rect">
            <a:avLst/>
          </a:prstGeom>
          <a:noFill/>
        </p:spPr>
        <p:txBody>
          <a:bodyPr wrap="square" anchor="ctr">
            <a:spAutoFit/>
          </a:bodyPr>
          <a:lstStyle/>
          <a:p>
            <a:pPr algn="l">
              <a:spcAft>
                <a:spcPts val="400"/>
              </a:spcAft>
            </a:pPr>
            <a:r>
              <a:rPr sz="1100" b="1">
                <a:solidFill>
                  <a:srgbClr val="161B26"/>
                </a:solidFill>
                <a:latin typeface="Arial"/>
              </a:rPr>
              <a:t>Sales</a:t>
            </a:r>
          </a:p>
        </p:txBody>
      </p:sp>
      <p:sp>
        <p:nvSpPr>
          <p:cNvPr id="33" name="Rectangle 32"/>
          <p:cNvSpPr/>
          <p:nvPr/>
        </p:nvSpPr>
        <p:spPr>
          <a:xfrm>
            <a:off x="3329513" y="3585753"/>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48385" y="3585753"/>
            <a:ext cx="3414552" cy="600891"/>
          </a:xfrm>
          <a:prstGeom prst="rect">
            <a:avLst/>
          </a:prstGeom>
          <a:noFill/>
        </p:spPr>
        <p:txBody>
          <a:bodyPr wrap="square" anchor="ctr">
            <a:spAutoFit/>
          </a:bodyPr>
          <a:lstStyle/>
          <a:p>
            <a:pPr algn="l">
              <a:spcAft>
                <a:spcPts val="400"/>
              </a:spcAft>
            </a:pPr>
            <a:r>
              <a:rPr sz="1100" b="0">
                <a:solidFill>
                  <a:srgbClr val="161B26"/>
                </a:solidFill>
                <a:latin typeface="Arial"/>
              </a:rPr>
              <a:t>Manages the pipeline from lead through to invoice</a:t>
            </a:r>
          </a:p>
        </p:txBody>
      </p:sp>
      <p:sp>
        <p:nvSpPr>
          <p:cNvPr id="35" name="Rectangle 34"/>
          <p:cNvSpPr/>
          <p:nvPr/>
        </p:nvSpPr>
        <p:spPr>
          <a:xfrm>
            <a:off x="6945233" y="3585753"/>
            <a:ext cx="2020549"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64105" y="3585753"/>
            <a:ext cx="1819381" cy="600891"/>
          </a:xfrm>
          <a:prstGeom prst="rect">
            <a:avLst/>
          </a:prstGeom>
          <a:noFill/>
        </p:spPr>
        <p:txBody>
          <a:bodyPr wrap="square" anchor="ctr">
            <a:spAutoFit/>
          </a:bodyPr>
          <a:lstStyle/>
          <a:p>
            <a:pPr algn="l">
              <a:spcAft>
                <a:spcPts val="400"/>
              </a:spcAft>
            </a:pPr>
            <a:r>
              <a:rPr sz="1100" b="0">
                <a:solidFill>
                  <a:srgbClr val="161B26"/>
                </a:solidFill>
                <a:latin typeface="Arial"/>
              </a:rPr>
              <a:t>Seller</a:t>
            </a:r>
          </a:p>
        </p:txBody>
      </p:sp>
      <p:sp>
        <p:nvSpPr>
          <p:cNvPr id="37" name="Rectangle 36"/>
          <p:cNvSpPr/>
          <p:nvPr/>
        </p:nvSpPr>
        <p:spPr>
          <a:xfrm>
            <a:off x="8965782" y="3585753"/>
            <a:ext cx="244592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84654" y="3585753"/>
            <a:ext cx="2244760" cy="600891"/>
          </a:xfrm>
          <a:prstGeom prst="rect">
            <a:avLst/>
          </a:prstGeom>
          <a:noFill/>
        </p:spPr>
        <p:txBody>
          <a:bodyPr wrap="square" anchor="ctr">
            <a:spAutoFit/>
          </a:bodyPr>
          <a:lstStyle/>
          <a:p>
            <a:pPr algn="l">
              <a:spcAft>
                <a:spcPts val="400"/>
              </a:spcAft>
            </a:pPr>
            <a:r>
              <a:rPr sz="1100" b="0">
                <a:solidFill>
                  <a:srgbClr val="161B26"/>
                </a:solidFill>
                <a:latin typeface="Arial"/>
              </a:rPr>
              <a:t>Lead, opportunity</a:t>
            </a:r>
          </a:p>
        </p:txBody>
      </p:sp>
      <p:sp>
        <p:nvSpPr>
          <p:cNvPr id="39" name="Rectangle 38"/>
          <p:cNvSpPr/>
          <p:nvPr/>
        </p:nvSpPr>
        <p:spPr>
          <a:xfrm>
            <a:off x="777240" y="4186644"/>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4186644"/>
            <a:ext cx="2351105" cy="600891"/>
          </a:xfrm>
          <a:prstGeom prst="rect">
            <a:avLst/>
          </a:prstGeom>
          <a:noFill/>
        </p:spPr>
        <p:txBody>
          <a:bodyPr wrap="square" anchor="ctr">
            <a:spAutoFit/>
          </a:bodyPr>
          <a:lstStyle/>
          <a:p>
            <a:pPr algn="l">
              <a:spcAft>
                <a:spcPts val="400"/>
              </a:spcAft>
            </a:pPr>
            <a:r>
              <a:rPr sz="1100" b="1">
                <a:solidFill>
                  <a:srgbClr val="161B26"/>
                </a:solidFill>
                <a:latin typeface="Arial"/>
              </a:rPr>
              <a:t>Customer Service</a:t>
            </a:r>
          </a:p>
        </p:txBody>
      </p:sp>
      <p:sp>
        <p:nvSpPr>
          <p:cNvPr id="41" name="Rectangle 40"/>
          <p:cNvSpPr/>
          <p:nvPr/>
        </p:nvSpPr>
        <p:spPr>
          <a:xfrm>
            <a:off x="3329513" y="4186644"/>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48385" y="4186644"/>
            <a:ext cx="3414552" cy="600891"/>
          </a:xfrm>
          <a:prstGeom prst="rect">
            <a:avLst/>
          </a:prstGeom>
          <a:noFill/>
        </p:spPr>
        <p:txBody>
          <a:bodyPr wrap="square" anchor="ctr">
            <a:spAutoFit/>
          </a:bodyPr>
          <a:lstStyle/>
          <a:p>
            <a:pPr algn="l">
              <a:spcAft>
                <a:spcPts val="400"/>
              </a:spcAft>
            </a:pPr>
            <a:r>
              <a:rPr sz="1100" b="0">
                <a:solidFill>
                  <a:srgbClr val="161B26"/>
                </a:solidFill>
                <a:latin typeface="Arial"/>
              </a:rPr>
              <a:t>Handles customer issues to resolution across channels</a:t>
            </a:r>
          </a:p>
        </p:txBody>
      </p:sp>
      <p:sp>
        <p:nvSpPr>
          <p:cNvPr id="43" name="Rectangle 42"/>
          <p:cNvSpPr/>
          <p:nvPr/>
        </p:nvSpPr>
        <p:spPr>
          <a:xfrm>
            <a:off x="6945233" y="4186644"/>
            <a:ext cx="2020549"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64105" y="4186644"/>
            <a:ext cx="1819381" cy="600891"/>
          </a:xfrm>
          <a:prstGeom prst="rect">
            <a:avLst/>
          </a:prstGeom>
          <a:noFill/>
        </p:spPr>
        <p:txBody>
          <a:bodyPr wrap="square" anchor="ctr">
            <a:spAutoFit/>
          </a:bodyPr>
          <a:lstStyle/>
          <a:p>
            <a:pPr algn="l">
              <a:spcAft>
                <a:spcPts val="400"/>
              </a:spcAft>
            </a:pPr>
            <a:r>
              <a:rPr sz="1100" b="0">
                <a:solidFill>
                  <a:srgbClr val="161B26"/>
                </a:solidFill>
                <a:latin typeface="Arial"/>
              </a:rPr>
              <a:t>Support agent</a:t>
            </a:r>
          </a:p>
        </p:txBody>
      </p:sp>
      <p:sp>
        <p:nvSpPr>
          <p:cNvPr id="45" name="Rectangle 44"/>
          <p:cNvSpPr/>
          <p:nvPr/>
        </p:nvSpPr>
        <p:spPr>
          <a:xfrm>
            <a:off x="8965782" y="4186644"/>
            <a:ext cx="244592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84654" y="4186644"/>
            <a:ext cx="2244760" cy="600891"/>
          </a:xfrm>
          <a:prstGeom prst="rect">
            <a:avLst/>
          </a:prstGeom>
          <a:noFill/>
        </p:spPr>
        <p:txBody>
          <a:bodyPr wrap="square" anchor="ctr">
            <a:spAutoFit/>
          </a:bodyPr>
          <a:lstStyle/>
          <a:p>
            <a:pPr algn="l">
              <a:spcAft>
                <a:spcPts val="400"/>
              </a:spcAft>
            </a:pPr>
            <a:r>
              <a:rPr sz="1100" b="0">
                <a:solidFill>
                  <a:srgbClr val="161B26"/>
                </a:solidFill>
                <a:latin typeface="Arial"/>
              </a:rPr>
              <a:t>Case</a:t>
            </a:r>
          </a:p>
        </p:txBody>
      </p:sp>
      <p:sp>
        <p:nvSpPr>
          <p:cNvPr id="47" name="Rectangle 46"/>
          <p:cNvSpPr/>
          <p:nvPr/>
        </p:nvSpPr>
        <p:spPr>
          <a:xfrm>
            <a:off x="777240" y="4787535"/>
            <a:ext cx="2552273"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 y="4787535"/>
            <a:ext cx="2351105" cy="600891"/>
          </a:xfrm>
          <a:prstGeom prst="rect">
            <a:avLst/>
          </a:prstGeom>
          <a:noFill/>
        </p:spPr>
        <p:txBody>
          <a:bodyPr wrap="square" anchor="ctr">
            <a:spAutoFit/>
          </a:bodyPr>
          <a:lstStyle/>
          <a:p>
            <a:pPr algn="l">
              <a:spcAft>
                <a:spcPts val="400"/>
              </a:spcAft>
            </a:pPr>
            <a:r>
              <a:rPr sz="1100" b="1">
                <a:solidFill>
                  <a:srgbClr val="161B26"/>
                </a:solidFill>
                <a:latin typeface="Arial"/>
              </a:rPr>
              <a:t>Field Service</a:t>
            </a:r>
          </a:p>
        </p:txBody>
      </p:sp>
      <p:sp>
        <p:nvSpPr>
          <p:cNvPr id="49" name="Rectangle 48"/>
          <p:cNvSpPr/>
          <p:nvPr/>
        </p:nvSpPr>
        <p:spPr>
          <a:xfrm>
            <a:off x="3329513" y="4787535"/>
            <a:ext cx="361572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48385" y="4787535"/>
            <a:ext cx="3414552" cy="600891"/>
          </a:xfrm>
          <a:prstGeom prst="rect">
            <a:avLst/>
          </a:prstGeom>
          <a:noFill/>
        </p:spPr>
        <p:txBody>
          <a:bodyPr wrap="square" anchor="ctr">
            <a:spAutoFit/>
          </a:bodyPr>
          <a:lstStyle/>
          <a:p>
            <a:pPr algn="l">
              <a:spcAft>
                <a:spcPts val="400"/>
              </a:spcAft>
            </a:pPr>
            <a:r>
              <a:rPr sz="1100" b="0">
                <a:solidFill>
                  <a:srgbClr val="161B26"/>
                </a:solidFill>
                <a:latin typeface="Arial"/>
              </a:rPr>
              <a:t>Schedules and completes work at the customer's site</a:t>
            </a:r>
          </a:p>
        </p:txBody>
      </p:sp>
      <p:sp>
        <p:nvSpPr>
          <p:cNvPr id="51" name="Rectangle 50"/>
          <p:cNvSpPr/>
          <p:nvPr/>
        </p:nvSpPr>
        <p:spPr>
          <a:xfrm>
            <a:off x="6945233" y="4787535"/>
            <a:ext cx="2020549"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64105" y="4787535"/>
            <a:ext cx="1819381" cy="600891"/>
          </a:xfrm>
          <a:prstGeom prst="rect">
            <a:avLst/>
          </a:prstGeom>
          <a:noFill/>
        </p:spPr>
        <p:txBody>
          <a:bodyPr wrap="square" anchor="ctr">
            <a:spAutoFit/>
          </a:bodyPr>
          <a:lstStyle/>
          <a:p>
            <a:pPr algn="l">
              <a:spcAft>
                <a:spcPts val="400"/>
              </a:spcAft>
            </a:pPr>
            <a:r>
              <a:rPr sz="1100" b="0">
                <a:solidFill>
                  <a:srgbClr val="161B26"/>
                </a:solidFill>
                <a:latin typeface="Arial"/>
              </a:rPr>
              <a:t>Dispatcher, technician</a:t>
            </a:r>
          </a:p>
        </p:txBody>
      </p:sp>
      <p:sp>
        <p:nvSpPr>
          <p:cNvPr id="53" name="Rectangle 52"/>
          <p:cNvSpPr/>
          <p:nvPr/>
        </p:nvSpPr>
        <p:spPr>
          <a:xfrm>
            <a:off x="8965782" y="4787535"/>
            <a:ext cx="244592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84654" y="4787535"/>
            <a:ext cx="2244760" cy="600891"/>
          </a:xfrm>
          <a:prstGeom prst="rect">
            <a:avLst/>
          </a:prstGeom>
          <a:noFill/>
        </p:spPr>
        <p:txBody>
          <a:bodyPr wrap="square" anchor="ctr">
            <a:spAutoFit/>
          </a:bodyPr>
          <a:lstStyle/>
          <a:p>
            <a:pPr algn="l">
              <a:spcAft>
                <a:spcPts val="400"/>
              </a:spcAft>
            </a:pPr>
            <a:r>
              <a:rPr sz="1100" b="0">
                <a:solidFill>
                  <a:srgbClr val="161B26"/>
                </a:solidFill>
                <a:latin typeface="Arial"/>
              </a:rPr>
              <a:t>Work order</a:t>
            </a:r>
          </a:p>
        </p:txBody>
      </p:sp>
      <p:sp>
        <p:nvSpPr>
          <p:cNvPr id="55" name="Rectangle 54"/>
          <p:cNvSpPr/>
          <p:nvPr/>
        </p:nvSpPr>
        <p:spPr>
          <a:xfrm>
            <a:off x="777240" y="5388426"/>
            <a:ext cx="2552273"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96112" y="5388426"/>
            <a:ext cx="2351105" cy="600891"/>
          </a:xfrm>
          <a:prstGeom prst="rect">
            <a:avLst/>
          </a:prstGeom>
          <a:noFill/>
        </p:spPr>
        <p:txBody>
          <a:bodyPr wrap="square" anchor="ctr">
            <a:spAutoFit/>
          </a:bodyPr>
          <a:lstStyle/>
          <a:p>
            <a:pPr algn="l">
              <a:spcAft>
                <a:spcPts val="400"/>
              </a:spcAft>
            </a:pPr>
            <a:r>
              <a:rPr sz="1100" b="1">
                <a:solidFill>
                  <a:srgbClr val="161B26"/>
                </a:solidFill>
                <a:latin typeface="Arial"/>
              </a:rPr>
              <a:t>Project Operations</a:t>
            </a:r>
          </a:p>
        </p:txBody>
      </p:sp>
      <p:sp>
        <p:nvSpPr>
          <p:cNvPr id="57" name="Rectangle 56"/>
          <p:cNvSpPr/>
          <p:nvPr/>
        </p:nvSpPr>
        <p:spPr>
          <a:xfrm>
            <a:off x="3329513" y="5388426"/>
            <a:ext cx="361572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48385" y="5388426"/>
            <a:ext cx="3414552" cy="600891"/>
          </a:xfrm>
          <a:prstGeom prst="rect">
            <a:avLst/>
          </a:prstGeom>
          <a:noFill/>
        </p:spPr>
        <p:txBody>
          <a:bodyPr wrap="square" anchor="ctr">
            <a:spAutoFit/>
          </a:bodyPr>
          <a:lstStyle/>
          <a:p>
            <a:pPr algn="l">
              <a:spcAft>
                <a:spcPts val="400"/>
              </a:spcAft>
            </a:pPr>
            <a:r>
              <a:rPr sz="1100" b="0">
                <a:solidFill>
                  <a:srgbClr val="161B26"/>
                </a:solidFill>
                <a:latin typeface="Arial"/>
              </a:rPr>
              <a:t>Runs project-based sales, resourcing and delivery</a:t>
            </a:r>
          </a:p>
        </p:txBody>
      </p:sp>
      <p:sp>
        <p:nvSpPr>
          <p:cNvPr id="59" name="Rectangle 58"/>
          <p:cNvSpPr/>
          <p:nvPr/>
        </p:nvSpPr>
        <p:spPr>
          <a:xfrm>
            <a:off x="6945233" y="5388426"/>
            <a:ext cx="2020549"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064105" y="5388426"/>
            <a:ext cx="1819381" cy="600891"/>
          </a:xfrm>
          <a:prstGeom prst="rect">
            <a:avLst/>
          </a:prstGeom>
          <a:noFill/>
        </p:spPr>
        <p:txBody>
          <a:bodyPr wrap="square" anchor="ctr">
            <a:spAutoFit/>
          </a:bodyPr>
          <a:lstStyle/>
          <a:p>
            <a:pPr algn="l">
              <a:spcAft>
                <a:spcPts val="400"/>
              </a:spcAft>
            </a:pPr>
            <a:r>
              <a:rPr sz="1100" b="0">
                <a:solidFill>
                  <a:srgbClr val="161B26"/>
                </a:solidFill>
                <a:latin typeface="Arial"/>
              </a:rPr>
              <a:t>Project manager</a:t>
            </a:r>
          </a:p>
        </p:txBody>
      </p:sp>
      <p:sp>
        <p:nvSpPr>
          <p:cNvPr id="61" name="Rectangle 60"/>
          <p:cNvSpPr/>
          <p:nvPr/>
        </p:nvSpPr>
        <p:spPr>
          <a:xfrm>
            <a:off x="8965782" y="5388426"/>
            <a:ext cx="244592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84654" y="5388426"/>
            <a:ext cx="2244760" cy="600891"/>
          </a:xfrm>
          <a:prstGeom prst="rect">
            <a:avLst/>
          </a:prstGeom>
          <a:noFill/>
        </p:spPr>
        <p:txBody>
          <a:bodyPr wrap="square" anchor="ctr">
            <a:spAutoFit/>
          </a:bodyPr>
          <a:lstStyle/>
          <a:p>
            <a:pPr algn="l">
              <a:spcAft>
                <a:spcPts val="400"/>
              </a:spcAft>
            </a:pPr>
            <a:r>
              <a:rPr sz="1100" b="0">
                <a:solidFill>
                  <a:srgbClr val="161B26"/>
                </a:solidFill>
                <a:latin typeface="Arial"/>
              </a:rPr>
              <a:t>Project</a:t>
            </a:r>
          </a:p>
        </p:txBody>
      </p:sp>
      <p:sp>
        <p:nvSpPr>
          <p:cNvPr id="63" name="TextBox 62"/>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All six share the same Dataverse: a contact created in Sales is the same contact the service agent sees.</a:t>
            </a:r>
          </a:p>
        </p:txBody>
      </p:sp>
      <p:sp>
        <p:nvSpPr>
          <p:cNvPr id="64" name="TextBox 63"/>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65" name="TextBox 64"/>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66" name="TextBox 6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AI EMBEDDED IN EVERY APP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Copilot Across Dynamics 365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pilot_map.png"/>
          <p:cNvPicPr>
            <a:picLocks noChangeAspect="1"/>
          </p:cNvPicPr>
          <p:nvPr/>
        </p:nvPicPr>
        <p:blipFill>
          <a:blip r:embed="rId2"/>
          <a:stretch>
            <a:fillRect/>
          </a:stretch>
        </p:blipFill>
        <p:spPr>
          <a:xfrm>
            <a:off x="777240" y="2670473"/>
            <a:ext cx="6309360" cy="2568614"/>
          </a:xfrm>
          <a:prstGeom prst="rect">
            <a:avLst/>
          </a:prstGeom>
        </p:spPr>
      </p:pic>
      <p:sp>
        <p:nvSpPr>
          <p:cNvPr id="8" name="Rectangle 7"/>
          <p:cNvSpPr/>
          <p:nvPr/>
        </p:nvSpPr>
        <p:spPr>
          <a:xfrm>
            <a:off x="7360920" y="1783080"/>
            <a:ext cx="405079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6092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98664" y="1783080"/>
            <a:ext cx="3630168" cy="962406"/>
          </a:xfrm>
          <a:prstGeom prst="rect">
            <a:avLst/>
          </a:prstGeom>
          <a:noFill/>
        </p:spPr>
        <p:txBody>
          <a:bodyPr wrap="square" anchor="ctr">
            <a:spAutoFit/>
          </a:bodyPr>
          <a:lstStyle/>
          <a:p>
            <a:pPr algn="l">
              <a:spcAft>
                <a:spcPts val="200"/>
              </a:spcAft>
            </a:pPr>
            <a:r>
              <a:rPr sz="1300" b="1">
                <a:solidFill>
                  <a:srgbClr val="1F6FEB"/>
                </a:solidFill>
                <a:latin typeface="Arial"/>
              </a:rPr>
              <a:t>Natural language in</a:t>
            </a:r>
          </a:p>
          <a:p>
            <a:pPr algn="l">
              <a:spcAft>
                <a:spcPts val="200"/>
              </a:spcAft>
            </a:pPr>
            <a:r>
              <a:rPr sz="1100" b="0">
                <a:solidFill>
                  <a:srgbClr val="161B26"/>
                </a:solidFill>
                <a:latin typeface="Arial"/>
              </a:rPr>
              <a:t>Ask in plain English; Copilot works against your real, permission-trimmed CRM data.</a:t>
            </a:r>
          </a:p>
        </p:txBody>
      </p:sp>
      <p:sp>
        <p:nvSpPr>
          <p:cNvPr id="11" name="Rectangle 10"/>
          <p:cNvSpPr/>
          <p:nvPr/>
        </p:nvSpPr>
        <p:spPr>
          <a:xfrm>
            <a:off x="7360920" y="2910078"/>
            <a:ext cx="405079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60920" y="2910078"/>
            <a:ext cx="82296" cy="9624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98664" y="2910078"/>
            <a:ext cx="3630168" cy="962406"/>
          </a:xfrm>
          <a:prstGeom prst="rect">
            <a:avLst/>
          </a:prstGeom>
          <a:noFill/>
        </p:spPr>
        <p:txBody>
          <a:bodyPr wrap="square" anchor="ctr">
            <a:spAutoFit/>
          </a:bodyPr>
          <a:lstStyle/>
          <a:p>
            <a:pPr algn="l">
              <a:spcAft>
                <a:spcPts val="200"/>
              </a:spcAft>
            </a:pPr>
            <a:r>
              <a:rPr sz="1300" b="1">
                <a:solidFill>
                  <a:srgbClr val="10B981"/>
                </a:solidFill>
                <a:latin typeface="Arial"/>
              </a:rPr>
              <a:t>Summarise anything</a:t>
            </a:r>
          </a:p>
          <a:p>
            <a:pPr algn="l">
              <a:spcAft>
                <a:spcPts val="200"/>
              </a:spcAft>
            </a:pPr>
            <a:r>
              <a:rPr sz="1100" b="0">
                <a:solidFill>
                  <a:srgbClr val="161B26"/>
                </a:solidFill>
                <a:latin typeface="Arial"/>
              </a:rPr>
              <a:t>Records, cases, conversations and long email threads condensed to what matters.</a:t>
            </a:r>
          </a:p>
        </p:txBody>
      </p:sp>
      <p:sp>
        <p:nvSpPr>
          <p:cNvPr id="14" name="Rectangle 13"/>
          <p:cNvSpPr/>
          <p:nvPr/>
        </p:nvSpPr>
        <p:spPr>
          <a:xfrm>
            <a:off x="7360920" y="4037076"/>
            <a:ext cx="405079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6092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98664" y="4037076"/>
            <a:ext cx="3630168" cy="962406"/>
          </a:xfrm>
          <a:prstGeom prst="rect">
            <a:avLst/>
          </a:prstGeom>
          <a:noFill/>
        </p:spPr>
        <p:txBody>
          <a:bodyPr wrap="square" anchor="ctr">
            <a:spAutoFit/>
          </a:bodyPr>
          <a:lstStyle/>
          <a:p>
            <a:pPr algn="l">
              <a:spcAft>
                <a:spcPts val="200"/>
              </a:spcAft>
            </a:pPr>
            <a:r>
              <a:rPr sz="1300" b="1">
                <a:solidFill>
                  <a:srgbClr val="7C3AED"/>
                </a:solidFill>
                <a:latin typeface="Arial"/>
              </a:rPr>
              <a:t>Draft the next action</a:t>
            </a:r>
          </a:p>
          <a:p>
            <a:pPr algn="l">
              <a:spcAft>
                <a:spcPts val="200"/>
              </a:spcAft>
            </a:pPr>
            <a:r>
              <a:rPr sz="1100" b="0">
                <a:solidFill>
                  <a:srgbClr val="161B26"/>
                </a:solidFill>
                <a:latin typeface="Arial"/>
              </a:rPr>
              <a:t>Emails, replies, work orders and marketing content generated in context.</a:t>
            </a:r>
          </a:p>
        </p:txBody>
      </p:sp>
      <p:sp>
        <p:nvSpPr>
          <p:cNvPr id="17" name="Rectangle 16"/>
          <p:cNvSpPr/>
          <p:nvPr/>
        </p:nvSpPr>
        <p:spPr>
          <a:xfrm>
            <a:off x="7360920" y="5164074"/>
            <a:ext cx="405079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60920" y="5164074"/>
            <a:ext cx="82296" cy="9624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98664" y="5164074"/>
            <a:ext cx="3630168" cy="962406"/>
          </a:xfrm>
          <a:prstGeom prst="rect">
            <a:avLst/>
          </a:prstGeom>
          <a:noFill/>
        </p:spPr>
        <p:txBody>
          <a:bodyPr wrap="square" anchor="ctr">
            <a:spAutoFit/>
          </a:bodyPr>
          <a:lstStyle/>
          <a:p>
            <a:pPr algn="l">
              <a:spcAft>
                <a:spcPts val="200"/>
              </a:spcAft>
            </a:pPr>
            <a:r>
              <a:rPr sz="1300" b="1">
                <a:solidFill>
                  <a:srgbClr val="F59E0B"/>
                </a:solidFill>
                <a:latin typeface="Arial"/>
              </a:rPr>
              <a:t>Always review</a:t>
            </a:r>
          </a:p>
          <a:p>
            <a:pPr algn="l">
              <a:spcAft>
                <a:spcPts val="200"/>
              </a:spcAft>
            </a:pPr>
            <a:r>
              <a:rPr sz="1100" b="0">
                <a:solidFill>
                  <a:srgbClr val="161B26"/>
                </a:solidFill>
                <a:latin typeface="Arial"/>
              </a:rPr>
              <a:t>Copilot proposes, the human decides — every suggestion is editable before it is saved.</a:t>
            </a:r>
          </a:p>
        </p:txBody>
      </p:sp>
      <p:sp>
        <p:nvSpPr>
          <p:cNvPr id="20" name="TextBox 1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1" name="TextBox 2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ONE DATA SET, MANY ENTRY POINTS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Ways to Access Dynamics 365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Web browser</a:t>
            </a:r>
          </a:p>
          <a:p>
            <a:pPr algn="l">
              <a:spcAft>
                <a:spcPts val="300"/>
              </a:spcAft>
            </a:pPr>
            <a:r>
              <a:rPr sz="1150" b="0">
                <a:solidFill>
                  <a:srgbClr val="5B6372"/>
                </a:solidFill>
                <a:latin typeface="Arial"/>
              </a:rPr>
              <a:t>The full model-driven app experience — the primary way most users work.</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Mobile apps</a:t>
            </a:r>
          </a:p>
          <a:p>
            <a:pPr algn="l">
              <a:spcAft>
                <a:spcPts val="300"/>
              </a:spcAft>
            </a:pPr>
            <a:r>
              <a:rPr sz="1150" b="0">
                <a:solidFill>
                  <a:srgbClr val="5B6372"/>
                </a:solidFill>
                <a:latin typeface="Arial"/>
              </a:rPr>
              <a:t>Dedicated Sales and Field Service apps optimised for phones and offline use.</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Microsoft Outlook</a:t>
            </a:r>
          </a:p>
          <a:p>
            <a:pPr algn="l">
              <a:spcAft>
                <a:spcPts val="300"/>
              </a:spcAft>
            </a:pPr>
            <a:r>
              <a:rPr sz="1150" b="0">
                <a:solidFill>
                  <a:srgbClr val="5B6372"/>
                </a:solidFill>
                <a:latin typeface="Arial"/>
              </a:rPr>
              <a:t>The Dynamics 365 App for Outlook tracks email and shows CRM context in the inbox.</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Microsoft Teams</a:t>
            </a:r>
          </a:p>
          <a:p>
            <a:pPr algn="l">
              <a:spcAft>
                <a:spcPts val="300"/>
              </a:spcAft>
            </a:pPr>
            <a:r>
              <a:rPr sz="1150" b="0">
                <a:solidFill>
                  <a:srgbClr val="5B6372"/>
                </a:solidFill>
                <a:latin typeface="Arial"/>
              </a:rPr>
              <a:t>The collaboration hub — pin records to channels, chat in context, share files.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Power Pages portals</a:t>
            </a:r>
          </a:p>
          <a:p>
            <a:pPr algn="l">
              <a:spcAft>
                <a:spcPts val="300"/>
              </a:spcAft>
            </a:pPr>
            <a:r>
              <a:rPr sz="1150" b="0">
                <a:solidFill>
                  <a:srgbClr val="5B6372"/>
                </a:solidFill>
                <a:latin typeface="Arial"/>
              </a:rPr>
              <a:t>External sites that let customers and partners read and write CRM data safely.</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Search from anywhere</a:t>
            </a:r>
          </a:p>
          <a:p>
            <a:pPr algn="l">
              <a:spcAft>
                <a:spcPts val="300"/>
              </a:spcAft>
            </a:pPr>
            <a:r>
              <a:rPr sz="1150" b="0">
                <a:solidFill>
                  <a:srgbClr val="5B6372"/>
                </a:solidFill>
                <a:latin typeface="Arial"/>
              </a:rPr>
              <a:t>Dataverse search finds records across tables from a single search box.</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1 — Navigate Dynamics 365 and Explore Dataverse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1  ·  45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You are a new CRM analyst at Contoso Coffee Singapore. Before you can advise on CRM investment you must know what is actually deployed. Sign in to the Power Platform admin centre, identify the environment and its Dataverse database, open the Sales Hub and Customer Service Hub apps, and map how the five customer engagement apps share one data store. You finish by recording an environment inventory your team can act on.</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Sign in to the Power Platform admin center</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Inspect the environment and its Dataverse database</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Open the Sales Hub and switch apps from the app launcher</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Explore Dataverse tables, columns and relationships</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Record the environment inventory and navigation map</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An environment inventory table (environment name, type, region, Dataverse URL, installed CE apps, security roles) plus an annotated navigation map screenshot set.</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Power Platform admin center, make.powerapps.com, Dynamics 365 Sales Hub, Customer Service Hub, Dataverse</a:t>
            </a:r>
            <a:r>
              <a:rPr sz="1150" b="0">
                <a:solidFill>
                  <a:srgbClr val="5B6372"/>
                </a:solidFill>
                <a:latin typeface="Arial"/>
              </a:rPr>
              <a:t>     ·     Full step-by-step: Learner Guide, Lab 1</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Shared Activities and Integration Options</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Accounts &amp; contacts · activities · search &amp; filters · views, charts and dashboards · Excel, Teams and Outlook integration</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02</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THE CUSTOMER IS MODELLED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Accounts, Contacts and Activities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ta_model.png"/>
          <p:cNvPicPr>
            <a:picLocks noChangeAspect="1"/>
          </p:cNvPicPr>
          <p:nvPr/>
        </p:nvPicPr>
        <p:blipFill>
          <a:blip r:embed="rId2"/>
          <a:stretch>
            <a:fillRect/>
          </a:stretch>
        </p:blipFill>
        <p:spPr>
          <a:xfrm>
            <a:off x="777240" y="2506680"/>
            <a:ext cx="6035040" cy="2896199"/>
          </a:xfrm>
          <a:prstGeom prst="rect">
            <a:avLst/>
          </a:prstGeom>
        </p:spPr>
      </p:pic>
      <p:sp>
        <p:nvSpPr>
          <p:cNvPr id="8" name="Rectangle 7"/>
          <p:cNvSpPr/>
          <p:nvPr/>
        </p:nvSpPr>
        <p:spPr>
          <a:xfrm>
            <a:off x="7086600" y="1783080"/>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8660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24344" y="1783080"/>
            <a:ext cx="3904488" cy="962406"/>
          </a:xfrm>
          <a:prstGeom prst="rect">
            <a:avLst/>
          </a:prstGeom>
          <a:noFill/>
        </p:spPr>
        <p:txBody>
          <a:bodyPr wrap="square" anchor="ctr">
            <a:spAutoFit/>
          </a:bodyPr>
          <a:lstStyle/>
          <a:p>
            <a:pPr algn="l">
              <a:spcAft>
                <a:spcPts val="200"/>
              </a:spcAft>
            </a:pPr>
            <a:r>
              <a:rPr sz="1300" b="1">
                <a:solidFill>
                  <a:srgbClr val="1F6FEB"/>
                </a:solidFill>
                <a:latin typeface="Arial"/>
              </a:rPr>
              <a:t>Account = organisation</a:t>
            </a:r>
          </a:p>
          <a:p>
            <a:pPr algn="l">
              <a:spcAft>
                <a:spcPts val="200"/>
              </a:spcAft>
            </a:pPr>
            <a:r>
              <a:rPr sz="1100" b="0">
                <a:solidFill>
                  <a:srgbClr val="161B26"/>
                </a:solidFill>
                <a:latin typeface="Arial"/>
              </a:rPr>
              <a:t>The company you do business with — used in B2B scenarios.</a:t>
            </a:r>
          </a:p>
        </p:txBody>
      </p:sp>
      <p:sp>
        <p:nvSpPr>
          <p:cNvPr id="11" name="Rectangle 10"/>
          <p:cNvSpPr/>
          <p:nvPr/>
        </p:nvSpPr>
        <p:spPr>
          <a:xfrm>
            <a:off x="7086600" y="2910078"/>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86600" y="2910078"/>
            <a:ext cx="82296" cy="9624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24344" y="2910078"/>
            <a:ext cx="3904488" cy="962406"/>
          </a:xfrm>
          <a:prstGeom prst="rect">
            <a:avLst/>
          </a:prstGeom>
          <a:noFill/>
        </p:spPr>
        <p:txBody>
          <a:bodyPr wrap="square" anchor="ctr">
            <a:spAutoFit/>
          </a:bodyPr>
          <a:lstStyle/>
          <a:p>
            <a:pPr algn="l">
              <a:spcAft>
                <a:spcPts val="200"/>
              </a:spcAft>
            </a:pPr>
            <a:r>
              <a:rPr sz="1300" b="1">
                <a:solidFill>
                  <a:srgbClr val="10B981"/>
                </a:solidFill>
                <a:latin typeface="Arial"/>
              </a:rPr>
              <a:t>Contact = person</a:t>
            </a:r>
          </a:p>
          <a:p>
            <a:pPr algn="l">
              <a:spcAft>
                <a:spcPts val="200"/>
              </a:spcAft>
            </a:pPr>
            <a:r>
              <a:rPr sz="1100" b="0">
                <a:solidFill>
                  <a:srgbClr val="161B26"/>
                </a:solidFill>
                <a:latin typeface="Arial"/>
              </a:rPr>
              <a:t>An individual — used in B2C, and related to a parent account in B2B.</a:t>
            </a:r>
          </a:p>
        </p:txBody>
      </p:sp>
      <p:sp>
        <p:nvSpPr>
          <p:cNvPr id="14" name="Rectangle 13"/>
          <p:cNvSpPr/>
          <p:nvPr/>
        </p:nvSpPr>
        <p:spPr>
          <a:xfrm>
            <a:off x="7086600" y="4037076"/>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8660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4344" y="4037076"/>
            <a:ext cx="3904488" cy="962406"/>
          </a:xfrm>
          <a:prstGeom prst="rect">
            <a:avLst/>
          </a:prstGeom>
          <a:noFill/>
        </p:spPr>
        <p:txBody>
          <a:bodyPr wrap="square" anchor="ctr">
            <a:spAutoFit/>
          </a:bodyPr>
          <a:lstStyle/>
          <a:p>
            <a:pPr algn="l">
              <a:spcAft>
                <a:spcPts val="200"/>
              </a:spcAft>
            </a:pPr>
            <a:r>
              <a:rPr sz="1300" b="1">
                <a:solidFill>
                  <a:srgbClr val="7C3AED"/>
                </a:solidFill>
                <a:latin typeface="Arial"/>
              </a:rPr>
              <a:t>Hybrid uses both</a:t>
            </a:r>
          </a:p>
          <a:p>
            <a:pPr algn="l">
              <a:spcAft>
                <a:spcPts val="200"/>
              </a:spcAft>
            </a:pPr>
            <a:r>
              <a:rPr sz="1100" b="0">
                <a:solidFill>
                  <a:srgbClr val="161B26"/>
                </a:solidFill>
                <a:latin typeface="Arial"/>
              </a:rPr>
              <a:t>Most organisations sell to companies AND to individuals; Dynamics 365 supports both at once.</a:t>
            </a:r>
          </a:p>
        </p:txBody>
      </p:sp>
      <p:sp>
        <p:nvSpPr>
          <p:cNvPr id="17" name="Rectangle 16"/>
          <p:cNvSpPr/>
          <p:nvPr/>
        </p:nvSpPr>
        <p:spPr>
          <a:xfrm>
            <a:off x="7086600" y="5164074"/>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86600" y="5164074"/>
            <a:ext cx="82296" cy="9624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24344" y="5164074"/>
            <a:ext cx="3904488" cy="962406"/>
          </a:xfrm>
          <a:prstGeom prst="rect">
            <a:avLst/>
          </a:prstGeom>
          <a:noFill/>
        </p:spPr>
        <p:txBody>
          <a:bodyPr wrap="square" anchor="ctr">
            <a:spAutoFit/>
          </a:bodyPr>
          <a:lstStyle/>
          <a:p>
            <a:pPr algn="l">
              <a:spcAft>
                <a:spcPts val="200"/>
              </a:spcAft>
            </a:pPr>
            <a:r>
              <a:rPr sz="1300" b="1">
                <a:solidFill>
                  <a:srgbClr val="F59E0B"/>
                </a:solidFill>
                <a:latin typeface="Arial"/>
              </a:rPr>
              <a:t>Activities are the history</a:t>
            </a:r>
          </a:p>
          <a:p>
            <a:pPr algn="l">
              <a:spcAft>
                <a:spcPts val="200"/>
              </a:spcAft>
            </a:pPr>
            <a:r>
              <a:rPr sz="1100" b="0">
                <a:solidFill>
                  <a:srgbClr val="161B26"/>
                </a:solidFill>
                <a:latin typeface="Arial"/>
              </a:rPr>
              <a:t>Phone calls, tasks, emails, appointments, letters and faxes — all on the timeline.</a:t>
            </a:r>
          </a:p>
        </p:txBody>
      </p:sp>
      <p:sp>
        <p:nvSpPr>
          <p:cNvPr id="20" name="TextBox 1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1" name="TextBox 2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CUSTOMER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B2B, B2C and Hybrid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B2B — account-led</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B2C — contact-led</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Business-to-Business (B2B)</a:t>
            </a:r>
          </a:p>
          <a:p>
            <a:pPr>
              <a:spcAft>
                <a:spcPts val="1000"/>
              </a:spcAft>
            </a:pPr>
            <a:r>
              <a:rPr sz="1200" b="0">
                <a:solidFill>
                  <a:srgbClr val="5B6372"/>
                </a:solidFill>
                <a:latin typeface="Arial"/>
              </a:rPr>
              <a:t>–  You sell to organisations</a:t>
            </a:r>
          </a:p>
          <a:p>
            <a:pPr>
              <a:spcAft>
                <a:spcPts val="1000"/>
              </a:spcAft>
            </a:pPr>
            <a:r>
              <a:rPr sz="1200" b="0">
                <a:solidFill>
                  <a:srgbClr val="5B6372"/>
                </a:solidFill>
                <a:latin typeface="Arial"/>
              </a:rPr>
              <a:t>–  The ACCOUNT is the customer</a:t>
            </a:r>
          </a:p>
          <a:p>
            <a:pPr>
              <a:spcAft>
                <a:spcPts val="1000"/>
              </a:spcAft>
            </a:pPr>
            <a:r>
              <a:rPr sz="1200" b="0">
                <a:solidFill>
                  <a:srgbClr val="5B6372"/>
                </a:solidFill>
                <a:latin typeface="Arial"/>
              </a:rPr>
              <a:t>–  Contacts are the people at that account</a:t>
            </a:r>
          </a:p>
          <a:p>
            <a:pPr>
              <a:spcAft>
                <a:spcPts val="1000"/>
              </a:spcAft>
            </a:pPr>
            <a:r>
              <a:rPr sz="1200" b="0">
                <a:solidFill>
                  <a:srgbClr val="5B6372"/>
                </a:solidFill>
                <a:latin typeface="Arial"/>
              </a:rPr>
              <a:t>–  Longer cycles, multiple stakeholders, quotes and contracts</a:t>
            </a:r>
          </a:p>
          <a:p>
            <a:pPr>
              <a:spcAft>
                <a:spcPts val="1000"/>
              </a:spcAft>
            </a:pPr>
            <a:r>
              <a:rPr sz="1200" b="0">
                <a:solidFill>
                  <a:srgbClr val="5B6372"/>
                </a:solidFill>
                <a:latin typeface="Arial"/>
              </a:rPr>
              <a:t>–  Example: Contoso sells espresso machines to hotel groups</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Business-to-Consumer (B2C)</a:t>
            </a:r>
          </a:p>
          <a:p>
            <a:pPr>
              <a:spcAft>
                <a:spcPts val="1000"/>
              </a:spcAft>
            </a:pPr>
            <a:r>
              <a:rPr sz="1200" b="0">
                <a:solidFill>
                  <a:srgbClr val="5B6372"/>
                </a:solidFill>
                <a:latin typeface="Arial"/>
              </a:rPr>
              <a:t>–  You sell to individuals</a:t>
            </a:r>
          </a:p>
          <a:p>
            <a:pPr>
              <a:spcAft>
                <a:spcPts val="1000"/>
              </a:spcAft>
            </a:pPr>
            <a:r>
              <a:rPr sz="1200" b="0">
                <a:solidFill>
                  <a:srgbClr val="5B6372"/>
                </a:solidFill>
                <a:latin typeface="Arial"/>
              </a:rPr>
              <a:t>–  The CONTACT is the customer</a:t>
            </a:r>
          </a:p>
          <a:p>
            <a:pPr>
              <a:spcAft>
                <a:spcPts val="1000"/>
              </a:spcAft>
            </a:pPr>
            <a:r>
              <a:rPr sz="1200" b="0">
                <a:solidFill>
                  <a:srgbClr val="5B6372"/>
                </a:solidFill>
                <a:latin typeface="Arial"/>
              </a:rPr>
              <a:t>–  No parent account required</a:t>
            </a:r>
          </a:p>
          <a:p>
            <a:pPr>
              <a:spcAft>
                <a:spcPts val="1000"/>
              </a:spcAft>
            </a:pPr>
            <a:r>
              <a:rPr sz="1200" b="0">
                <a:solidFill>
                  <a:srgbClr val="5B6372"/>
                </a:solidFill>
                <a:latin typeface="Arial"/>
              </a:rPr>
              <a:t>–  Higher volume, shorter cycles, self-service</a:t>
            </a:r>
          </a:p>
          <a:p>
            <a:pPr>
              <a:spcAft>
                <a:spcPts val="1000"/>
              </a:spcAft>
            </a:pPr>
            <a:r>
              <a:rPr sz="1200" b="0">
                <a:solidFill>
                  <a:srgbClr val="5B6372"/>
                </a:solidFill>
                <a:latin typeface="Arial"/>
              </a:rPr>
              <a:t>–  Hybrid: many organisations run both models in one Dataverse</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The Customer lookup field on cases, opportunities and work orders accepts EITHER an account or a contact — that is what makes hybrid possible.</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EVERY TOUCH IS AN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Six Activity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74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Phone call</a:t>
            </a:r>
          </a:p>
          <a:p>
            <a:pPr algn="l">
              <a:spcAft>
                <a:spcPts val="300"/>
              </a:spcAft>
            </a:pPr>
            <a:r>
              <a:rPr sz="1050" b="0">
                <a:solidFill>
                  <a:srgbClr val="5B6372"/>
                </a:solidFill>
                <a:latin typeface="Arial"/>
              </a:rPr>
              <a:t>An inbound or outbound call — logged with direction, duration and outcome.</a:t>
            </a:r>
          </a:p>
        </p:txBody>
      </p:sp>
      <p:sp>
        <p:nvSpPr>
          <p:cNvPr id="12" name="Rectangle 11"/>
          <p:cNvSpPr/>
          <p:nvPr/>
        </p:nvSpPr>
        <p:spPr>
          <a:xfrm>
            <a:off x="4407408"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83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45152" y="2574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40096"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Task</a:t>
            </a:r>
          </a:p>
          <a:p>
            <a:pPr algn="l">
              <a:spcAft>
                <a:spcPts val="300"/>
              </a:spcAft>
            </a:pPr>
            <a:r>
              <a:rPr sz="1050" b="0">
                <a:solidFill>
                  <a:srgbClr val="5B6372"/>
                </a:solidFill>
                <a:latin typeface="Arial"/>
              </a:rPr>
              <a:t>A to-do with an owner and a due date — the workhorse follow-up activity.</a:t>
            </a:r>
          </a:p>
        </p:txBody>
      </p:sp>
      <p:sp>
        <p:nvSpPr>
          <p:cNvPr id="17" name="Rectangle 16"/>
          <p:cNvSpPr/>
          <p:nvPr/>
        </p:nvSpPr>
        <p:spPr>
          <a:xfrm>
            <a:off x="8037576"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83080"/>
            <a:ext cx="91440" cy="2084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5320" y="2574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8970264"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Email</a:t>
            </a:r>
          </a:p>
          <a:p>
            <a:pPr algn="l">
              <a:spcAft>
                <a:spcPts val="300"/>
              </a:spcAft>
            </a:pPr>
            <a:r>
              <a:rPr sz="1050" b="0">
                <a:solidFill>
                  <a:srgbClr val="5B6372"/>
                </a:solidFill>
                <a:latin typeface="Arial"/>
              </a:rPr>
              <a:t>Sent, received or drafted — tracked automatically when Outlook integration is on.</a:t>
            </a:r>
          </a:p>
        </p:txBody>
      </p:sp>
      <p:sp>
        <p:nvSpPr>
          <p:cNvPr id="22" name="Rectangle 21"/>
          <p:cNvSpPr/>
          <p:nvPr/>
        </p:nvSpPr>
        <p:spPr>
          <a:xfrm>
            <a:off x="777240"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69080"/>
            <a:ext cx="91440" cy="2084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860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Appointment</a:t>
            </a:r>
          </a:p>
          <a:p>
            <a:pPr algn="l">
              <a:spcAft>
                <a:spcPts val="300"/>
              </a:spcAft>
            </a:pPr>
            <a:r>
              <a:rPr sz="1050" b="0">
                <a:solidFill>
                  <a:srgbClr val="5B6372"/>
                </a:solidFill>
                <a:latin typeface="Arial"/>
              </a:rPr>
              <a:t>A meeting with a time, duration, location and required/optional attendees.</a:t>
            </a:r>
          </a:p>
        </p:txBody>
      </p:sp>
      <p:sp>
        <p:nvSpPr>
          <p:cNvPr id="27" name="Rectangle 26"/>
          <p:cNvSpPr/>
          <p:nvPr/>
        </p:nvSpPr>
        <p:spPr>
          <a:xfrm>
            <a:off x="4407408"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4069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45152" y="4860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5152"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5340096"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Letter</a:t>
            </a:r>
          </a:p>
          <a:p>
            <a:pPr algn="l">
              <a:spcAft>
                <a:spcPts val="300"/>
              </a:spcAft>
            </a:pPr>
            <a:r>
              <a:rPr sz="1050" b="0">
                <a:solidFill>
                  <a:srgbClr val="5B6372"/>
                </a:solidFill>
                <a:latin typeface="Arial"/>
              </a:rPr>
              <a:t>Physical correspondence recorded for a complete history.</a:t>
            </a:r>
          </a:p>
        </p:txBody>
      </p:sp>
      <p:sp>
        <p:nvSpPr>
          <p:cNvPr id="32" name="Rectangle 31"/>
          <p:cNvSpPr/>
          <p:nvPr/>
        </p:nvSpPr>
        <p:spPr>
          <a:xfrm>
            <a:off x="8037576"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4069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75320" y="4860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8970264"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Fax</a:t>
            </a:r>
          </a:p>
          <a:p>
            <a:pPr algn="l">
              <a:spcAft>
                <a:spcPts val="300"/>
              </a:spcAft>
            </a:pPr>
            <a:r>
              <a:rPr sz="1050" b="0">
                <a:solidFill>
                  <a:srgbClr val="5B6372"/>
                </a:solidFill>
                <a:latin typeface="Arial"/>
              </a:rPr>
              <a:t>Retained for regulated industries that still require it.</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DIFFERENT JOBS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Filtering vs Searching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Filter</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Search</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Filtering — narrow what you can see</a:t>
            </a:r>
          </a:p>
          <a:p>
            <a:pPr>
              <a:spcAft>
                <a:spcPts val="1000"/>
              </a:spcAft>
            </a:pPr>
            <a:r>
              <a:rPr sz="1200" b="0">
                <a:solidFill>
                  <a:srgbClr val="5B6372"/>
                </a:solidFill>
                <a:latin typeface="Arial"/>
              </a:rPr>
              <a:t>–  You are already in a view or list</a:t>
            </a:r>
          </a:p>
          <a:p>
            <a:pPr>
              <a:spcAft>
                <a:spcPts val="1000"/>
              </a:spcAft>
            </a:pPr>
            <a:r>
              <a:rPr sz="1200" b="0">
                <a:solidFill>
                  <a:srgbClr val="5B6372"/>
                </a:solidFill>
                <a:latin typeface="Arial"/>
              </a:rPr>
              <a:t>–  Filter on column headers, or use a view's built-in filters</a:t>
            </a:r>
          </a:p>
          <a:p>
            <a:pPr>
              <a:spcAft>
                <a:spcPts val="1000"/>
              </a:spcAft>
            </a:pPr>
            <a:r>
              <a:rPr sz="1200" b="0">
                <a:solidFill>
                  <a:srgbClr val="5B6372"/>
                </a:solidFill>
                <a:latin typeface="Arial"/>
              </a:rPr>
              <a:t>–  Fast, broad results within ONE table</a:t>
            </a:r>
          </a:p>
          <a:p>
            <a:pPr>
              <a:spcAft>
                <a:spcPts val="1000"/>
              </a:spcAft>
            </a:pPr>
            <a:r>
              <a:rPr sz="1200" b="0">
                <a:solidFill>
                  <a:srgbClr val="5B6372"/>
                </a:solidFill>
                <a:latin typeface="Arial"/>
              </a:rPr>
              <a:t>–  Use when: 'show me only the Singapore accounts'</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Searching — find what you cannot see</a:t>
            </a:r>
          </a:p>
          <a:p>
            <a:pPr>
              <a:spcAft>
                <a:spcPts val="1000"/>
              </a:spcAft>
            </a:pPr>
            <a:r>
              <a:rPr sz="1200" b="0">
                <a:solidFill>
                  <a:srgbClr val="5B6372"/>
                </a:solidFill>
                <a:latin typeface="Arial"/>
              </a:rPr>
              <a:t>–  Search a View — text search inside the current view</a:t>
            </a:r>
          </a:p>
          <a:p>
            <a:pPr>
              <a:spcAft>
                <a:spcPts val="1000"/>
              </a:spcAft>
            </a:pPr>
            <a:r>
              <a:rPr sz="1200" b="0">
                <a:solidFill>
                  <a:srgbClr val="5B6372"/>
                </a:solidFill>
                <a:latin typeface="Arial"/>
              </a:rPr>
              <a:t>–  Dataverse multi-table search — one box, many tables at once</a:t>
            </a:r>
          </a:p>
          <a:p>
            <a:pPr>
              <a:spcAft>
                <a:spcPts val="1000"/>
              </a:spcAft>
            </a:pPr>
            <a:r>
              <a:rPr sz="1200" b="0">
                <a:solidFill>
                  <a:srgbClr val="5B6372"/>
                </a:solidFill>
                <a:latin typeface="Arial"/>
              </a:rPr>
              <a:t>–  Returns accounts, contacts, cases, activities together</a:t>
            </a:r>
          </a:p>
          <a:p>
            <a:pPr>
              <a:spcAft>
                <a:spcPts val="1000"/>
              </a:spcAft>
            </a:pPr>
            <a:r>
              <a:rPr sz="1200" b="0">
                <a:solidFill>
                  <a:srgbClr val="5B6372"/>
                </a:solidFill>
                <a:latin typeface="Arial"/>
              </a:rPr>
              <a:t>–  Use when: 'find anything mentioning Marina Bay'</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Advanced Find sits above both: a visual query designer that builds criteria across related tables and saves the result as a reusable personal view.</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REPORTING STACK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Views, Charts and Dashboards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800" b="1">
                <a:solidFill>
                  <a:srgbClr val="1F6FEB"/>
                </a:solidFill>
                <a:latin typeface="Arial"/>
              </a:rPr>
              <a:t>Views</a:t>
            </a:r>
          </a:p>
        </p:txBody>
      </p:sp>
      <p:sp>
        <p:nvSpPr>
          <p:cNvPr id="10" name="TextBox 9"/>
          <p:cNvSpPr txBox="1"/>
          <p:nvPr/>
        </p:nvSpPr>
        <p:spPr>
          <a:xfrm>
            <a:off x="100584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A saved, filtered list of records from ONE table.</a:t>
            </a:r>
          </a:p>
          <a:p>
            <a:pPr>
              <a:spcAft>
                <a:spcPts val="800"/>
              </a:spcAft>
            </a:pPr>
            <a:r>
              <a:rPr sz="1300" b="0">
                <a:solidFill>
                  <a:srgbClr val="161B26"/>
                </a:solidFill>
                <a:latin typeface="Arial"/>
              </a:rPr>
              <a:t>•  System views are shared; personal views are yours (and shareable).</a:t>
            </a:r>
          </a:p>
          <a:p>
            <a:pPr>
              <a:spcAft>
                <a:spcPts val="800"/>
              </a:spcAft>
            </a:pPr>
            <a:r>
              <a:rPr sz="1300" b="0">
                <a:solidFill>
                  <a:srgbClr val="161B26"/>
                </a:solidFill>
                <a:latin typeface="Arial"/>
              </a:rPr>
              <a:t>•  Define the columns, the filter criteria and the sort order.</a:t>
            </a:r>
          </a:p>
          <a:p>
            <a:pPr>
              <a:spcAft>
                <a:spcPts val="800"/>
              </a:spcAft>
            </a:pPr>
            <a:r>
              <a:rPr sz="1300" b="0">
                <a:solidFill>
                  <a:srgbClr val="161B26"/>
                </a:solidFill>
                <a:latin typeface="Arial"/>
              </a:rPr>
              <a:t>•  The foundation — a chart and a dashboard both start from a view.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800" b="1">
                <a:solidFill>
                  <a:srgbClr val="10B981"/>
                </a:solidFill>
                <a:latin typeface="Arial"/>
              </a:rPr>
              <a:t>Charts</a:t>
            </a:r>
          </a:p>
        </p:txBody>
      </p:sp>
      <p:sp>
        <p:nvSpPr>
          <p:cNvPr id="14" name="TextBox 13"/>
          <p:cNvSpPr txBox="1"/>
          <p:nvPr/>
        </p:nvSpPr>
        <p:spPr>
          <a:xfrm>
            <a:off x="480060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A visualisation of the data in a view.</a:t>
            </a:r>
          </a:p>
          <a:p>
            <a:pPr>
              <a:spcAft>
                <a:spcPts val="800"/>
              </a:spcAft>
            </a:pPr>
            <a:r>
              <a:rPr sz="1300" b="0">
                <a:solidFill>
                  <a:srgbClr val="161B26"/>
                </a:solidFill>
                <a:latin typeface="Arial"/>
              </a:rPr>
              <a:t>•  Interactive — click a bar or segment and the underlying list filters to it.</a:t>
            </a:r>
          </a:p>
          <a:p>
            <a:pPr>
              <a:spcAft>
                <a:spcPts val="800"/>
              </a:spcAft>
            </a:pPr>
            <a:r>
              <a:rPr sz="1300" b="0">
                <a:solidFill>
                  <a:srgbClr val="161B26"/>
                </a:solidFill>
                <a:latin typeface="Arial"/>
              </a:rPr>
              <a:t>•  Column, bar, pie, funnel, line and tag charts.</a:t>
            </a:r>
          </a:p>
          <a:p>
            <a:pPr>
              <a:spcAft>
                <a:spcPts val="800"/>
              </a:spcAft>
            </a:pPr>
            <a:r>
              <a:rPr sz="1300" b="0">
                <a:solidFill>
                  <a:srgbClr val="161B26"/>
                </a:solidFill>
                <a:latin typeface="Arial"/>
              </a:rPr>
              <a:t>•  Drill down without writing a single query.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800" b="1">
                <a:solidFill>
                  <a:srgbClr val="7C3AED"/>
                </a:solidFill>
                <a:latin typeface="Arial"/>
              </a:rPr>
              <a:t>Dashboards</a:t>
            </a:r>
          </a:p>
        </p:txBody>
      </p:sp>
      <p:sp>
        <p:nvSpPr>
          <p:cNvPr id="18" name="TextBox 17"/>
          <p:cNvSpPr txBox="1"/>
          <p:nvPr/>
        </p:nvSpPr>
        <p:spPr>
          <a:xfrm>
            <a:off x="8595360" y="2651760"/>
            <a:ext cx="2926080" cy="3200400"/>
          </a:xfrm>
          <a:prstGeom prst="rect">
            <a:avLst/>
          </a:prstGeom>
          <a:noFill/>
        </p:spPr>
        <p:txBody>
          <a:bodyPr wrap="square">
            <a:spAutoFit/>
          </a:bodyPr>
          <a:lstStyle/>
          <a:p>
            <a:pPr>
              <a:spcAft>
                <a:spcPts val="800"/>
              </a:spcAft>
            </a:pPr>
            <a:r>
              <a:rPr sz="1300" b="0">
                <a:solidFill>
                  <a:srgbClr val="161B26"/>
                </a:solidFill>
                <a:latin typeface="Arial"/>
              </a:rPr>
              <a:t>•  A combination of charts, views, iframes and web resources.</a:t>
            </a:r>
          </a:p>
          <a:p>
            <a:pPr>
              <a:spcAft>
                <a:spcPts val="800"/>
              </a:spcAft>
            </a:pPr>
            <a:r>
              <a:rPr sz="1300" b="0">
                <a:solidFill>
                  <a:srgbClr val="161B26"/>
                </a:solidFill>
                <a:latin typeface="Arial"/>
              </a:rPr>
              <a:t>•  Up to six components in one at-a-glance screen.</a:t>
            </a:r>
          </a:p>
          <a:p>
            <a:pPr>
              <a:spcAft>
                <a:spcPts val="800"/>
              </a:spcAft>
            </a:pPr>
            <a:r>
              <a:rPr sz="1300" b="0">
                <a:solidFill>
                  <a:srgbClr val="161B26"/>
                </a:solidFill>
                <a:latin typeface="Arial"/>
              </a:rPr>
              <a:t>•  System dashboards for the team; personal dashboards for you.</a:t>
            </a:r>
          </a:p>
          <a:p>
            <a:pPr>
              <a:spcAft>
                <a:spcPts val="800"/>
              </a:spcAft>
            </a:pPr>
            <a:r>
              <a:rPr sz="1300" b="0">
                <a:solidFill>
                  <a:srgbClr val="161B26"/>
                </a:solidFill>
                <a:latin typeface="Arial"/>
              </a:rPr>
              <a:t>•  Power BI goes further: cross-source, richer visuals, scheduled refresh.</a:t>
            </a:r>
          </a:p>
        </p:txBody>
      </p:sp>
      <p:sp>
        <p:nvSpPr>
          <p:cNvPr id="19" name="TextBox 1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0" name="TextBox 1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 NATIVE DYNAMICS 365 CHART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Reading a Chart — Cases by Origin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949440" cy="4114800"/>
        </p:xfrm>
        <a:graphic>
          <a:graphicData uri="http://schemas.openxmlformats.org/drawingml/2006/chart">
            <c:chart xmlns:c="http://schemas.openxmlformats.org/drawingml/2006/chart" r:id="rId2"/>
          </a:graphicData>
        </a:graphic>
      </p:graphicFrame>
      <p:sp>
        <p:nvSpPr>
          <p:cNvPr id="8" name="Rectangle 7"/>
          <p:cNvSpPr/>
          <p:nvPr/>
        </p:nvSpPr>
        <p:spPr>
          <a:xfrm>
            <a:off x="7955279" y="1783080"/>
            <a:ext cx="34564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83080"/>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5" y="1783080"/>
            <a:ext cx="3072384" cy="905256"/>
          </a:xfrm>
          <a:prstGeom prst="rect">
            <a:avLst/>
          </a:prstGeom>
          <a:noFill/>
        </p:spPr>
        <p:txBody>
          <a:bodyPr wrap="square" anchor="ctr">
            <a:spAutoFit/>
          </a:bodyPr>
          <a:lstStyle/>
          <a:p>
            <a:pPr algn="l">
              <a:spcAft>
                <a:spcPts val="200"/>
              </a:spcAft>
            </a:pPr>
            <a:r>
              <a:rPr sz="1250" b="1">
                <a:solidFill>
                  <a:srgbClr val="1F6FEB"/>
                </a:solidFill>
                <a:latin typeface="Arial"/>
              </a:rPr>
              <a:t>Phone still leads</a:t>
            </a:r>
          </a:p>
          <a:p>
            <a:pPr algn="l">
              <a:spcAft>
                <a:spcPts val="200"/>
              </a:spcAft>
            </a:pPr>
            <a:r>
              <a:rPr sz="1050" b="0">
                <a:solidFill>
                  <a:srgbClr val="161B26"/>
                </a:solidFill>
                <a:latin typeface="Arial"/>
              </a:rPr>
              <a:t>142 cases — but it is the most expensive channel to staff.</a:t>
            </a:r>
          </a:p>
        </p:txBody>
      </p:sp>
      <p:sp>
        <p:nvSpPr>
          <p:cNvPr id="11" name="Rectangle 10"/>
          <p:cNvSpPr/>
          <p:nvPr/>
        </p:nvSpPr>
        <p:spPr>
          <a:xfrm>
            <a:off x="7955279" y="2852928"/>
            <a:ext cx="34564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55279" y="2852928"/>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5" y="2852928"/>
            <a:ext cx="3072384" cy="905256"/>
          </a:xfrm>
          <a:prstGeom prst="rect">
            <a:avLst/>
          </a:prstGeom>
          <a:noFill/>
        </p:spPr>
        <p:txBody>
          <a:bodyPr wrap="square" anchor="ctr">
            <a:spAutoFit/>
          </a:bodyPr>
          <a:lstStyle/>
          <a:p>
            <a:pPr algn="l">
              <a:spcAft>
                <a:spcPts val="200"/>
              </a:spcAft>
            </a:pPr>
            <a:r>
              <a:rPr sz="1250" b="1">
                <a:solidFill>
                  <a:srgbClr val="10B981"/>
                </a:solidFill>
                <a:latin typeface="Arial"/>
              </a:rPr>
              <a:t>Chat is growing</a:t>
            </a:r>
          </a:p>
          <a:p>
            <a:pPr algn="l">
              <a:spcAft>
                <a:spcPts val="200"/>
              </a:spcAft>
            </a:pPr>
            <a:r>
              <a:rPr sz="1050" b="0">
                <a:solidFill>
                  <a:srgbClr val="161B26"/>
                </a:solidFill>
                <a:latin typeface="Arial"/>
              </a:rPr>
              <a:t>96 cases at a fraction of the cost per contact.</a:t>
            </a:r>
          </a:p>
        </p:txBody>
      </p:sp>
      <p:sp>
        <p:nvSpPr>
          <p:cNvPr id="14" name="Rectangle 13"/>
          <p:cNvSpPr/>
          <p:nvPr/>
        </p:nvSpPr>
        <p:spPr>
          <a:xfrm>
            <a:off x="7955279" y="3922776"/>
            <a:ext cx="34564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3922776"/>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4735" y="3922776"/>
            <a:ext cx="3072384" cy="905256"/>
          </a:xfrm>
          <a:prstGeom prst="rect">
            <a:avLst/>
          </a:prstGeom>
          <a:noFill/>
        </p:spPr>
        <p:txBody>
          <a:bodyPr wrap="square" anchor="ctr">
            <a:spAutoFit/>
          </a:bodyPr>
          <a:lstStyle/>
          <a:p>
            <a:pPr algn="l">
              <a:spcAft>
                <a:spcPts val="200"/>
              </a:spcAft>
            </a:pPr>
            <a:r>
              <a:rPr sz="1250" b="1">
                <a:solidFill>
                  <a:srgbClr val="7C3AED"/>
                </a:solidFill>
                <a:latin typeface="Arial"/>
              </a:rPr>
              <a:t>Social is small</a:t>
            </a:r>
          </a:p>
          <a:p>
            <a:pPr algn="l">
              <a:spcAft>
                <a:spcPts val="200"/>
              </a:spcAft>
            </a:pPr>
            <a:r>
              <a:rPr sz="1050" b="0">
                <a:solidFill>
                  <a:srgbClr val="161B26"/>
                </a:solidFill>
                <a:latin typeface="Arial"/>
              </a:rPr>
              <a:t>27 cases — but publicly visible, so response time matters most.</a:t>
            </a:r>
          </a:p>
        </p:txBody>
      </p:sp>
      <p:sp>
        <p:nvSpPr>
          <p:cNvPr id="17" name="Rectangle 16"/>
          <p:cNvSpPr/>
          <p:nvPr/>
        </p:nvSpPr>
        <p:spPr>
          <a:xfrm>
            <a:off x="7955279" y="4992624"/>
            <a:ext cx="34564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4992624"/>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5" y="4992624"/>
            <a:ext cx="3072384" cy="905256"/>
          </a:xfrm>
          <a:prstGeom prst="rect">
            <a:avLst/>
          </a:prstGeom>
          <a:noFill/>
        </p:spPr>
        <p:txBody>
          <a:bodyPr wrap="square" anchor="ctr">
            <a:spAutoFit/>
          </a:bodyPr>
          <a:lstStyle/>
          <a:p>
            <a:pPr algn="l">
              <a:spcAft>
                <a:spcPts val="200"/>
              </a:spcAft>
            </a:pPr>
            <a:r>
              <a:rPr sz="1250" b="1">
                <a:solidFill>
                  <a:srgbClr val="F59E0B"/>
                </a:solidFill>
                <a:latin typeface="Arial"/>
              </a:rPr>
              <a:t>The decision</a:t>
            </a:r>
          </a:p>
          <a:p>
            <a:pPr algn="l">
              <a:spcAft>
                <a:spcPts val="200"/>
              </a:spcAft>
            </a:pPr>
            <a:r>
              <a:rPr sz="1050" b="0">
                <a:solidFill>
                  <a:srgbClr val="161B26"/>
                </a:solidFill>
                <a:latin typeface="Arial"/>
              </a:rPr>
              <a:t>Deflect phone volume to chat and self-service knowledge.</a:t>
            </a:r>
          </a:p>
        </p:txBody>
      </p:sp>
      <p:sp>
        <p:nvSpPr>
          <p:cNvPr id="20" name="Rectangle 19"/>
          <p:cNvSpPr/>
          <p:nvPr/>
        </p:nvSpPr>
        <p:spPr>
          <a:xfrm>
            <a:off x="777240" y="6035040"/>
            <a:ext cx="10634472" cy="38404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6035040"/>
            <a:ext cx="10241280" cy="384048"/>
          </a:xfrm>
          <a:prstGeom prst="rect">
            <a:avLst/>
          </a:prstGeom>
          <a:noFill/>
        </p:spPr>
        <p:txBody>
          <a:bodyPr wrap="square" anchor="ctr">
            <a:spAutoFit/>
          </a:bodyPr>
          <a:lstStyle/>
          <a:p>
            <a:pPr algn="l">
              <a:spcAft>
                <a:spcPts val="400"/>
              </a:spcAft>
            </a:pPr>
            <a:r>
              <a:rPr sz="1050" b="1">
                <a:solidFill>
                  <a:srgbClr val="1F6FEB"/>
                </a:solidFill>
                <a:latin typeface="Arial"/>
              </a:rPr>
              <a:t>WHAT THE DATA SHOWS   </a:t>
            </a:r>
            <a:r>
              <a:rPr sz="1200" b="0">
                <a:solidFill>
                  <a:srgbClr val="161B26"/>
                </a:solidFill>
                <a:latin typeface="Arial"/>
              </a:rPr>
              <a:t>Charts are interactive — clicking the Phone column filters the case list to just those 142 records.</a:t>
            </a:r>
          </a:p>
        </p:txBody>
      </p:sp>
      <p:sp>
        <p:nvSpPr>
          <p:cNvPr id="22" name="TextBox 2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3" name="TextBox 2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EXPORT THE RIGHT WAY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Excel Integration — Two Modes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Static — a snapshot</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Dynamic — a live link</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Static worksheet</a:t>
            </a:r>
          </a:p>
          <a:p>
            <a:pPr>
              <a:spcAft>
                <a:spcPts val="1000"/>
              </a:spcAft>
            </a:pPr>
            <a:r>
              <a:rPr sz="1200" b="0">
                <a:solidFill>
                  <a:srgbClr val="5B6372"/>
                </a:solidFill>
                <a:latin typeface="Arial"/>
              </a:rPr>
              <a:t>–  A point-in-time snapshot of the data</a:t>
            </a:r>
          </a:p>
          <a:p>
            <a:pPr>
              <a:spcAft>
                <a:spcPts val="1000"/>
              </a:spcAft>
            </a:pPr>
            <a:r>
              <a:rPr sz="1200" b="0">
                <a:solidFill>
                  <a:srgbClr val="5B6372"/>
                </a:solidFill>
                <a:latin typeface="Arial"/>
              </a:rPr>
              <a:t>–  No link back to Dataverse — it never refreshes</a:t>
            </a:r>
          </a:p>
          <a:p>
            <a:pPr>
              <a:spcAft>
                <a:spcPts val="1000"/>
              </a:spcAft>
            </a:pPr>
            <a:r>
              <a:rPr sz="1200" b="0">
                <a:solidFill>
                  <a:srgbClr val="5B6372"/>
                </a:solidFill>
                <a:latin typeface="Arial"/>
              </a:rPr>
              <a:t>–  Use for: an ad-hoc analysis, an emailed extract, an archive</a:t>
            </a:r>
          </a:p>
          <a:p>
            <a:pPr>
              <a:spcAft>
                <a:spcPts val="1000"/>
              </a:spcAft>
            </a:pPr>
            <a:r>
              <a:rPr sz="1200" b="0">
                <a:solidFill>
                  <a:srgbClr val="5B6372"/>
                </a:solidFill>
                <a:latin typeface="Arial"/>
              </a:rPr>
              <a:t>–  Risk: it is stale the moment it is created</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Dynamic worksheet / PivotTable</a:t>
            </a:r>
          </a:p>
          <a:p>
            <a:pPr>
              <a:spcAft>
                <a:spcPts val="1000"/>
              </a:spcAft>
            </a:pPr>
            <a:r>
              <a:rPr sz="1200" b="0">
                <a:solidFill>
                  <a:srgbClr val="5B6372"/>
                </a:solidFill>
                <a:latin typeface="Arial"/>
              </a:rPr>
              <a:t>–  Keeps a live link to the Dataverse data</a:t>
            </a:r>
          </a:p>
          <a:p>
            <a:pPr>
              <a:spcAft>
                <a:spcPts val="1000"/>
              </a:spcAft>
            </a:pPr>
            <a:r>
              <a:rPr sz="1200" b="0">
                <a:solidFill>
                  <a:srgbClr val="5B6372"/>
                </a:solidFill>
                <a:latin typeface="Arial"/>
              </a:rPr>
              <a:t>–  Refresh in Excel to pull the current records</a:t>
            </a:r>
          </a:p>
          <a:p>
            <a:pPr>
              <a:spcAft>
                <a:spcPts val="1000"/>
              </a:spcAft>
            </a:pPr>
            <a:r>
              <a:rPr sz="1200" b="0">
                <a:solidFill>
                  <a:srgbClr val="5B6372"/>
                </a:solidFill>
                <a:latin typeface="Arial"/>
              </a:rPr>
              <a:t>–  Excel templates: pre-built reports with formulas and charts already in place</a:t>
            </a:r>
          </a:p>
          <a:p>
            <a:pPr>
              <a:spcAft>
                <a:spcPts val="1000"/>
              </a:spcAft>
            </a:pPr>
            <a:r>
              <a:rPr sz="1200" b="0">
                <a:solidFill>
                  <a:srgbClr val="5B6372"/>
                </a:solidFill>
                <a:latin typeface="Arial"/>
              </a:rPr>
              <a:t>–  Users get up-to-date reports without knowing Excel formulas</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Excel templates let a power user build the report once; everyone else just opens it against their own filtered data.</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MEET USERS WHERE THEY ALREADY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Microsoft Teams and Outlook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Teams collaboration hub</a:t>
            </a:r>
          </a:p>
          <a:p>
            <a:pPr algn="l">
              <a:spcAft>
                <a:spcPts val="300"/>
              </a:spcAft>
            </a:pPr>
            <a:r>
              <a:rPr sz="1100" b="0">
                <a:solidFill>
                  <a:srgbClr val="5B6372"/>
                </a:solidFill>
                <a:latin typeface="Arial"/>
              </a:rPr>
              <a:t>Pin a Dynamics 365 record or view into a channel tab so the whole team works from it.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Teams file integration</a:t>
            </a:r>
          </a:p>
          <a:p>
            <a:pPr algn="l">
              <a:spcAft>
                <a:spcPts val="300"/>
              </a:spcAft>
            </a:pPr>
            <a:r>
              <a:rPr sz="1100" b="0">
                <a:solidFill>
                  <a:srgbClr val="5B6372"/>
                </a:solidFill>
                <a:latin typeface="Arial"/>
              </a:rPr>
              <a:t>Documents on a record are stored in the connected SharePoint site and surfaced in Teams.</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Embedded Teams chat</a:t>
            </a:r>
          </a:p>
          <a:p>
            <a:pPr algn="l">
              <a:spcAft>
                <a:spcPts val="300"/>
              </a:spcAft>
            </a:pPr>
            <a:r>
              <a:rPr sz="1100" b="0">
                <a:solidFill>
                  <a:srgbClr val="5B6372"/>
                </a:solidFill>
                <a:latin typeface="Arial"/>
              </a:rPr>
              <a:t>Start a chat about a record from inside Dynamics 365, with the record's context attached.</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Outlook: track email</a:t>
            </a:r>
          </a:p>
          <a:p>
            <a:pPr algn="l">
              <a:spcAft>
                <a:spcPts val="300"/>
              </a:spcAft>
            </a:pPr>
            <a:r>
              <a:rPr sz="1100" b="0">
                <a:solidFill>
                  <a:srgbClr val="5B6372"/>
                </a:solidFill>
                <a:latin typeface="Arial"/>
              </a:rPr>
              <a:t>Link an email, meeting or appointment to a Dynamics 365 record with a single click.</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Outlook: see CRM context</a:t>
            </a:r>
          </a:p>
          <a:p>
            <a:pPr algn="l">
              <a:spcAft>
                <a:spcPts val="300"/>
              </a:spcAft>
            </a:pPr>
            <a:r>
              <a:rPr sz="1100" b="0">
                <a:solidFill>
                  <a:srgbClr val="5B6372"/>
                </a:solidFill>
                <a:latin typeface="Arial"/>
              </a:rPr>
              <a:t>View contact, lead and opportunity information in the reading pane without switching apps.</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Outlook: create records</a:t>
            </a:r>
          </a:p>
          <a:p>
            <a:pPr algn="l">
              <a:spcAft>
                <a:spcPts val="300"/>
              </a:spcAft>
            </a:pPr>
            <a:r>
              <a:rPr sz="1100" b="0">
                <a:solidFill>
                  <a:srgbClr val="5B6372"/>
                </a:solidFill>
                <a:latin typeface="Arial"/>
              </a:rPr>
              <a:t>Add a phone call, task or appointment — or a whole new contact — straight from an email.</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2 — Manage Customers, Activities and Reporting Views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2  ·  60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Contoso Coffee Singapore is onboarding a new B2B customer. You create the account and its contacts, log the full set of activities on the timeline, then build the reporting layer your manager needs: a filtered personal view via Advanced Find, a chart from that view, and a dashboard combining both. Finally you export to Excel and confirm the Outlook and Teams integration points.</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the account and its related contacts</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Log phone, task, email and appointment activities</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Build a filtered personal view with Advanced Find</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a chart and a personal dashboard from that view</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Export to Excel and check Teams/Outlook integration</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An Account with 3 related Contacts, 4 completed/open activities on the timeline, a saved personal view, a chart, a personal dashboard, and a dynamic Excel export.</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Dynamics 365 Sales Hub, Dataverse, Advanced Find, Excel, Microsoft Teams, Outlook</a:t>
            </a:r>
            <a:r>
              <a:rPr sz="1150" b="0">
                <a:solidFill>
                  <a:srgbClr val="5B6372"/>
                </a:solidFill>
                <a:latin typeface="Arial"/>
              </a:rPr>
              <a:t>     ·     Full step-by-step: Learner Guide, Lab 2</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Dynamics 365 Customer Insights – Journeys</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Marketing use cases · email marketing · segments and marketing lists · customer journeys · lead generation · forms and events</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03</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MARKETING APP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Customer Insights – Journeys Does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Find the right prospects</a:t>
            </a:r>
          </a:p>
          <a:p>
            <a:pPr algn="l">
              <a:spcAft>
                <a:spcPts val="300"/>
              </a:spcAft>
            </a:pPr>
            <a:r>
              <a:rPr sz="1150" b="0">
                <a:solidFill>
                  <a:srgbClr val="5B6372"/>
                </a:solidFill>
                <a:latin typeface="Arial"/>
              </a:rPr>
              <a:t>Identify and score leads so sales spends time on the ones most likely to buy.</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Run multi-channel campaigns</a:t>
            </a:r>
          </a:p>
          <a:p>
            <a:pPr algn="l">
              <a:spcAft>
                <a:spcPts val="300"/>
              </a:spcAft>
            </a:pPr>
            <a:r>
              <a:rPr sz="1150" b="0">
                <a:solidFill>
                  <a:srgbClr val="5B6372"/>
                </a:solidFill>
                <a:latin typeface="Arial"/>
              </a:rPr>
              <a:t>Email, SMS, push notifications and custom channels from one journey.</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Nurture with personal journeys</a:t>
            </a:r>
          </a:p>
          <a:p>
            <a:pPr algn="l">
              <a:spcAft>
                <a:spcPts val="300"/>
              </a:spcAft>
            </a:pPr>
            <a:r>
              <a:rPr sz="1150" b="0">
                <a:solidFill>
                  <a:srgbClr val="5B6372"/>
                </a:solidFill>
                <a:latin typeface="Arial"/>
              </a:rPr>
              <a:t>Each contact gets content matched to what they have actually done.</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Capture leads on forms</a:t>
            </a:r>
          </a:p>
          <a:p>
            <a:pPr algn="l">
              <a:spcAft>
                <a:spcPts val="300"/>
              </a:spcAft>
            </a:pPr>
            <a:r>
              <a:rPr sz="1150" b="0">
                <a:solidFill>
                  <a:srgbClr val="5B6372"/>
                </a:solidFill>
                <a:latin typeface="Arial"/>
              </a:rPr>
              <a:t>Landing pages, subscription centres and forward-to-a-friend forms feed the funnel.</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Run events end to end</a:t>
            </a:r>
          </a:p>
          <a:p>
            <a:pPr algn="l">
              <a:spcAft>
                <a:spcPts val="300"/>
              </a:spcAft>
            </a:pPr>
            <a:r>
              <a:rPr sz="1150" b="0">
                <a:solidFill>
                  <a:srgbClr val="5B6372"/>
                </a:solidFill>
                <a:latin typeface="Arial"/>
              </a:rPr>
              <a:t>Planning, registration, sessions, speakers, venues and post-event follow-up.</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Prove the return</a:t>
            </a:r>
          </a:p>
          <a:p>
            <a:pPr algn="l">
              <a:spcAft>
                <a:spcPts val="300"/>
              </a:spcAft>
            </a:pPr>
            <a:r>
              <a:rPr sz="1150" b="0">
                <a:solidFill>
                  <a:srgbClr val="5B6372"/>
                </a:solidFill>
                <a:latin typeface="Arial"/>
              </a:rPr>
              <a:t>Marketing ROI dashboards connect spend to pipeline and revenue.</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MARKETING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Real-Time vs Outbound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Real-time — reactive</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Outbound — planned</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Real-time marketing</a:t>
            </a:r>
          </a:p>
          <a:p>
            <a:pPr>
              <a:spcAft>
                <a:spcPts val="1000"/>
              </a:spcAft>
            </a:pPr>
            <a:r>
              <a:rPr sz="1200" b="0">
                <a:solidFill>
                  <a:srgbClr val="5B6372"/>
                </a:solidFill>
                <a:latin typeface="Arial"/>
              </a:rPr>
              <a:t>–  TRIGGER-based: reacts to a signal as it happens</a:t>
            </a:r>
          </a:p>
          <a:p>
            <a:pPr>
              <a:spcAft>
                <a:spcPts val="1000"/>
              </a:spcAft>
            </a:pPr>
            <a:r>
              <a:rPr sz="1200" b="0">
                <a:solidFill>
                  <a:srgbClr val="5B6372"/>
                </a:solidFill>
                <a:latin typeface="Arial"/>
              </a:rPr>
              <a:t>–  Journeys start when a contact does something</a:t>
            </a:r>
          </a:p>
          <a:p>
            <a:pPr>
              <a:spcAft>
                <a:spcPts val="1000"/>
              </a:spcAft>
            </a:pPr>
            <a:r>
              <a:rPr sz="1200" b="0">
                <a:solidFill>
                  <a:srgbClr val="5B6372"/>
                </a:solidFill>
                <a:latin typeface="Arial"/>
              </a:rPr>
              <a:t>–  Channels: email, SMS, push, custom</a:t>
            </a:r>
          </a:p>
          <a:p>
            <a:pPr>
              <a:spcAft>
                <a:spcPts val="1000"/>
              </a:spcAft>
            </a:pPr>
            <a:r>
              <a:rPr sz="1200" b="0">
                <a:solidFill>
                  <a:srgbClr val="5B6372"/>
                </a:solidFill>
                <a:latin typeface="Arial"/>
              </a:rPr>
              <a:t>–  Best for: B2C, high volume, behavioural reaction</a:t>
            </a:r>
          </a:p>
          <a:p>
            <a:pPr>
              <a:spcAft>
                <a:spcPts val="1000"/>
              </a:spcAft>
            </a:pPr>
            <a:r>
              <a:rPr sz="1200" b="0">
                <a:solidFill>
                  <a:srgbClr val="5B6372"/>
                </a:solidFill>
                <a:latin typeface="Arial"/>
              </a:rPr>
              <a:t>–  Example: cart abandoned → recovery email in 20 minutes</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Outbound marketing</a:t>
            </a:r>
          </a:p>
          <a:p>
            <a:pPr>
              <a:spcAft>
                <a:spcPts val="1000"/>
              </a:spcAft>
            </a:pPr>
            <a:r>
              <a:rPr sz="1200" b="0">
                <a:solidFill>
                  <a:srgbClr val="5B6372"/>
                </a:solidFill>
                <a:latin typeface="Arial"/>
              </a:rPr>
              <a:t>–  SEGMENT-based: planned campaigns on a schedule</a:t>
            </a:r>
          </a:p>
          <a:p>
            <a:pPr>
              <a:spcAft>
                <a:spcPts val="1000"/>
              </a:spcAft>
            </a:pPr>
            <a:r>
              <a:rPr sz="1200" b="0">
                <a:solidFill>
                  <a:srgbClr val="5B6372"/>
                </a:solidFill>
                <a:latin typeface="Arial"/>
              </a:rPr>
              <a:t>–  Journeys start when a contact joins a segment</a:t>
            </a:r>
          </a:p>
          <a:p>
            <a:pPr>
              <a:spcAft>
                <a:spcPts val="1000"/>
              </a:spcAft>
            </a:pPr>
            <a:r>
              <a:rPr sz="1200" b="0">
                <a:solidFill>
                  <a:srgbClr val="5B6372"/>
                </a:solidFill>
                <a:latin typeface="Arial"/>
              </a:rPr>
              <a:t>–  Deep B2B features: lead scoring, sales hand-off, LinkedIn</a:t>
            </a:r>
          </a:p>
          <a:p>
            <a:pPr>
              <a:spcAft>
                <a:spcPts val="1000"/>
              </a:spcAft>
            </a:pPr>
            <a:r>
              <a:rPr sz="1200" b="0">
                <a:solidFill>
                  <a:srgbClr val="5B6372"/>
                </a:solidFill>
                <a:latin typeface="Arial"/>
              </a:rPr>
              <a:t>–  Best for: B2B nurture, events, newsletters</a:t>
            </a:r>
          </a:p>
          <a:p>
            <a:pPr>
              <a:spcAft>
                <a:spcPts val="1000"/>
              </a:spcAft>
            </a:pPr>
            <a:r>
              <a:rPr sz="1200" b="0">
                <a:solidFill>
                  <a:srgbClr val="5B6372"/>
                </a:solidFill>
                <a:latin typeface="Arial"/>
              </a:rPr>
              <a:t>–  Example: quarterly product launch to the hospitality segment</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Microsoft is consolidating on real-time marketing; know both, because most tenants still run a mix.</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TARGETING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Five Ways to Segment Your Audience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gment_types.png"/>
          <p:cNvPicPr>
            <a:picLocks noChangeAspect="1"/>
          </p:cNvPicPr>
          <p:nvPr/>
        </p:nvPicPr>
        <p:blipFill>
          <a:blip r:embed="rId2"/>
          <a:stretch>
            <a:fillRect/>
          </a:stretch>
        </p:blipFill>
        <p:spPr>
          <a:xfrm>
            <a:off x="1568293" y="1737360"/>
            <a:ext cx="9055109" cy="3931920"/>
          </a:xfrm>
          <a:prstGeom prst="rect">
            <a:avLst/>
          </a:prstGeom>
        </p:spPr>
      </p:pic>
      <p:sp>
        <p:nvSpPr>
          <p:cNvPr id="8" name="Rectangle 7"/>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42432"/>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Marketing lists are the static cousin of segments — a fixed membership you curate, carried over from the classic marketing model.</a:t>
            </a:r>
          </a:p>
        </p:txBody>
      </p:sp>
      <p:sp>
        <p:nvSpPr>
          <p:cNvPr id="10" name="TextBox 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1" name="TextBox 1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EMAIL DESIGNER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Email Marketing — What the Designer Gives You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Drag-and-drop layout</a:t>
            </a:r>
          </a:p>
          <a:p>
            <a:pPr algn="l">
              <a:spcAft>
                <a:spcPts val="300"/>
              </a:spcAft>
            </a:pPr>
            <a:r>
              <a:rPr sz="1100" b="0">
                <a:solidFill>
                  <a:srgbClr val="5B6372"/>
                </a:solidFill>
                <a:latin typeface="Arial"/>
              </a:rPr>
              <a:t>Add and arrange text, images, buttons, dividers and columns without HTML.</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Brand styling</a:t>
            </a:r>
          </a:p>
          <a:p>
            <a:pPr algn="l">
              <a:spcAft>
                <a:spcPts val="300"/>
              </a:spcAft>
            </a:pPr>
            <a:r>
              <a:rPr sz="1100" b="0">
                <a:solidFill>
                  <a:srgbClr val="5B6372"/>
                </a:solidFill>
                <a:latin typeface="Arial"/>
              </a:rPr>
              <a:t>Fonts, colours, backgrounds and reusable brand profiles keep every send on-brand.</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Dynamic personalisation</a:t>
            </a:r>
          </a:p>
          <a:p>
            <a:pPr algn="l">
              <a:spcAft>
                <a:spcPts val="300"/>
              </a:spcAft>
            </a:pPr>
            <a:r>
              <a:rPr sz="1100" b="0">
                <a:solidFill>
                  <a:srgbClr val="5B6372"/>
                </a:solidFill>
                <a:latin typeface="Arial"/>
              </a:rPr>
              <a:t>Insert contact fields with fallback values — 'Hi Priya' or 'Hi there' if the name is blank.</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Conditional content</a:t>
            </a:r>
          </a:p>
          <a:p>
            <a:pPr algn="l">
              <a:spcAft>
                <a:spcPts val="300"/>
              </a:spcAft>
            </a:pPr>
            <a:r>
              <a:rPr sz="1100" b="0">
                <a:solidFill>
                  <a:srgbClr val="5B6372"/>
                </a:solidFill>
                <a:latin typeface="Arial"/>
              </a:rPr>
              <a:t>Show different blocks to different audiences from within one email.</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Tracked links</a:t>
            </a:r>
          </a:p>
          <a:p>
            <a:pPr algn="l">
              <a:spcAft>
                <a:spcPts val="300"/>
              </a:spcAft>
            </a:pPr>
            <a:r>
              <a:rPr sz="1100" b="0">
                <a:solidFill>
                  <a:srgbClr val="5B6372"/>
                </a:solidFill>
                <a:latin typeface="Arial"/>
              </a:rPr>
              <a:t>Every link is measured — opens and clicks feed journey branches and segments.</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Compliance built in</a:t>
            </a:r>
          </a:p>
          <a:p>
            <a:pPr algn="l">
              <a:spcAft>
                <a:spcPts val="300"/>
              </a:spcAft>
            </a:pPr>
            <a:r>
              <a:rPr sz="1100" b="0">
                <a:solidFill>
                  <a:srgbClr val="5B6372"/>
                </a:solidFill>
                <a:latin typeface="Arial"/>
              </a:rPr>
              <a:t>A physical address and an unsubscribe link are REQUIRED before you can publish.</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JOURNEY CANVAS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Designing a Customer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journey_canvas.png"/>
          <p:cNvPicPr>
            <a:picLocks noChangeAspect="1"/>
          </p:cNvPicPr>
          <p:nvPr/>
        </p:nvPicPr>
        <p:blipFill>
          <a:blip r:embed="rId2"/>
          <a:stretch>
            <a:fillRect/>
          </a:stretch>
        </p:blipFill>
        <p:spPr>
          <a:xfrm>
            <a:off x="777240" y="2441456"/>
            <a:ext cx="5943600" cy="3026648"/>
          </a:xfrm>
          <a:prstGeom prst="rect">
            <a:avLst/>
          </a:prstGeom>
        </p:spPr>
      </p:pic>
      <p:sp>
        <p:nvSpPr>
          <p:cNvPr id="8" name="Rectangle 7"/>
          <p:cNvSpPr/>
          <p:nvPr/>
        </p:nvSpPr>
        <p:spPr>
          <a:xfrm>
            <a:off x="6995160" y="1783080"/>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2904" y="1783080"/>
            <a:ext cx="3995928" cy="737006"/>
          </a:xfrm>
          <a:prstGeom prst="rect">
            <a:avLst/>
          </a:prstGeom>
          <a:noFill/>
        </p:spPr>
        <p:txBody>
          <a:bodyPr wrap="square" anchor="ctr">
            <a:spAutoFit/>
          </a:bodyPr>
          <a:lstStyle/>
          <a:p>
            <a:pPr algn="l">
              <a:spcAft>
                <a:spcPts val="200"/>
              </a:spcAft>
            </a:pPr>
            <a:r>
              <a:rPr sz="1300" b="1">
                <a:solidFill>
                  <a:srgbClr val="1F6FEB"/>
                </a:solidFill>
                <a:latin typeface="Arial"/>
              </a:rPr>
              <a:t>Start with the audience</a:t>
            </a:r>
          </a:p>
          <a:p>
            <a:pPr algn="l">
              <a:spcAft>
                <a:spcPts val="200"/>
              </a:spcAft>
            </a:pPr>
            <a:r>
              <a:rPr sz="1100" b="0">
                <a:solidFill>
                  <a:srgbClr val="161B26"/>
                </a:solidFill>
                <a:latin typeface="Arial"/>
              </a:rPr>
              <a:t>A segment (planned) or a trigger (reactive) defines who enters the journey.</a:t>
            </a:r>
          </a:p>
        </p:txBody>
      </p:sp>
      <p:sp>
        <p:nvSpPr>
          <p:cNvPr id="11" name="Rectangle 10"/>
          <p:cNvSpPr/>
          <p:nvPr/>
        </p:nvSpPr>
        <p:spPr>
          <a:xfrm>
            <a:off x="6995160" y="2684678"/>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9516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2904" y="2684678"/>
            <a:ext cx="3995928" cy="737006"/>
          </a:xfrm>
          <a:prstGeom prst="rect">
            <a:avLst/>
          </a:prstGeom>
          <a:noFill/>
        </p:spPr>
        <p:txBody>
          <a:bodyPr wrap="square" anchor="ctr">
            <a:spAutoFit/>
          </a:bodyPr>
          <a:lstStyle/>
          <a:p>
            <a:pPr algn="l">
              <a:spcAft>
                <a:spcPts val="200"/>
              </a:spcAft>
            </a:pPr>
            <a:r>
              <a:rPr sz="1300" b="1">
                <a:solidFill>
                  <a:srgbClr val="10B981"/>
                </a:solidFill>
                <a:latin typeface="Arial"/>
              </a:rPr>
              <a:t>Add messages</a:t>
            </a:r>
          </a:p>
          <a:p>
            <a:pPr algn="l">
              <a:spcAft>
                <a:spcPts val="200"/>
              </a:spcAft>
            </a:pPr>
            <a:r>
              <a:rPr sz="1100" b="0">
                <a:solidFill>
                  <a:srgbClr val="161B26"/>
                </a:solidFill>
                <a:latin typeface="Arial"/>
              </a:rPr>
              <a:t>Email, SMS or push — each one a tile the contact receives at that point.</a:t>
            </a:r>
          </a:p>
        </p:txBody>
      </p:sp>
      <p:sp>
        <p:nvSpPr>
          <p:cNvPr id="14" name="Rectangle 13"/>
          <p:cNvSpPr/>
          <p:nvPr/>
        </p:nvSpPr>
        <p:spPr>
          <a:xfrm>
            <a:off x="6995160" y="3586276"/>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586276"/>
            <a:ext cx="3995928" cy="737006"/>
          </a:xfrm>
          <a:prstGeom prst="rect">
            <a:avLst/>
          </a:prstGeom>
          <a:noFill/>
        </p:spPr>
        <p:txBody>
          <a:bodyPr wrap="square" anchor="ctr">
            <a:spAutoFit/>
          </a:bodyPr>
          <a:lstStyle/>
          <a:p>
            <a:pPr algn="l">
              <a:spcAft>
                <a:spcPts val="200"/>
              </a:spcAft>
            </a:pPr>
            <a:r>
              <a:rPr sz="1300" b="1">
                <a:solidFill>
                  <a:srgbClr val="7C3AED"/>
                </a:solidFill>
                <a:latin typeface="Arial"/>
              </a:rPr>
              <a:t>Insert waits</a:t>
            </a:r>
          </a:p>
          <a:p>
            <a:pPr algn="l">
              <a:spcAft>
                <a:spcPts val="200"/>
              </a:spcAft>
            </a:pPr>
            <a:r>
              <a:rPr sz="1100" b="0">
                <a:solidFill>
                  <a:srgbClr val="161B26"/>
                </a:solidFill>
                <a:latin typeface="Arial"/>
              </a:rPr>
              <a:t>Wait a fixed period, wait until a date, or wait for a specific behaviour.</a:t>
            </a:r>
          </a:p>
        </p:txBody>
      </p:sp>
      <p:sp>
        <p:nvSpPr>
          <p:cNvPr id="17" name="Rectangle 16"/>
          <p:cNvSpPr/>
          <p:nvPr/>
        </p:nvSpPr>
        <p:spPr>
          <a:xfrm>
            <a:off x="6995160" y="4487874"/>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9516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32904" y="4487874"/>
            <a:ext cx="3995928" cy="737006"/>
          </a:xfrm>
          <a:prstGeom prst="rect">
            <a:avLst/>
          </a:prstGeom>
          <a:noFill/>
        </p:spPr>
        <p:txBody>
          <a:bodyPr wrap="square" anchor="ctr">
            <a:spAutoFit/>
          </a:bodyPr>
          <a:lstStyle/>
          <a:p>
            <a:pPr algn="l">
              <a:spcAft>
                <a:spcPts val="200"/>
              </a:spcAft>
            </a:pPr>
            <a:r>
              <a:rPr sz="1300" b="1">
                <a:solidFill>
                  <a:srgbClr val="F59E0B"/>
                </a:solidFill>
                <a:latin typeface="Arial"/>
              </a:rPr>
              <a:t>Branch on behaviour</a:t>
            </a:r>
          </a:p>
          <a:p>
            <a:pPr algn="l">
              <a:spcAft>
                <a:spcPts val="200"/>
              </a:spcAft>
            </a:pPr>
            <a:r>
              <a:rPr sz="1100" b="0">
                <a:solidFill>
                  <a:srgbClr val="161B26"/>
                </a:solidFill>
                <a:latin typeface="Arial"/>
              </a:rPr>
              <a:t>If/then and split tiles send engaged and unengaged contacts down different paths.</a:t>
            </a:r>
          </a:p>
        </p:txBody>
      </p:sp>
      <p:sp>
        <p:nvSpPr>
          <p:cNvPr id="20" name="Rectangle 19"/>
          <p:cNvSpPr/>
          <p:nvPr/>
        </p:nvSpPr>
        <p:spPr>
          <a:xfrm>
            <a:off x="6995160" y="5389472"/>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9516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2904" y="5389472"/>
            <a:ext cx="3995928" cy="737006"/>
          </a:xfrm>
          <a:prstGeom prst="rect">
            <a:avLst/>
          </a:prstGeom>
          <a:noFill/>
        </p:spPr>
        <p:txBody>
          <a:bodyPr wrap="square" anchor="ctr">
            <a:spAutoFit/>
          </a:bodyPr>
          <a:lstStyle/>
          <a:p>
            <a:pPr algn="l">
              <a:spcAft>
                <a:spcPts val="200"/>
              </a:spcAft>
            </a:pPr>
            <a:r>
              <a:rPr sz="1300" b="1">
                <a:solidFill>
                  <a:srgbClr val="1F6FEB"/>
                </a:solidFill>
                <a:latin typeface="Arial"/>
              </a:rPr>
              <a:t>End with an action</a:t>
            </a:r>
          </a:p>
          <a:p>
            <a:pPr algn="l">
              <a:spcAft>
                <a:spcPts val="200"/>
              </a:spcAft>
            </a:pPr>
            <a:r>
              <a:rPr sz="1100" b="0">
                <a:solidFill>
                  <a:srgbClr val="161B26"/>
                </a:solidFill>
                <a:latin typeface="Arial"/>
              </a:rPr>
              <a:t>Create a lead, run a workflow, launch a LinkedIn campaign or raise a sales activity.</a:t>
            </a:r>
          </a:p>
        </p:txBody>
      </p:sp>
      <p:sp>
        <p:nvSpPr>
          <p:cNvPr id="23" name="TextBox 2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4" name="TextBox 2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Journey Tiles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807860"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1606692" cy="600891"/>
          </a:xfrm>
          <a:prstGeom prst="rect">
            <a:avLst/>
          </a:prstGeom>
          <a:noFill/>
        </p:spPr>
        <p:txBody>
          <a:bodyPr wrap="square" anchor="ctr">
            <a:spAutoFit/>
          </a:bodyPr>
          <a:lstStyle/>
          <a:p>
            <a:pPr algn="l">
              <a:spcAft>
                <a:spcPts val="400"/>
              </a:spcAft>
            </a:pPr>
            <a:r>
              <a:rPr sz="1200" b="1">
                <a:solidFill>
                  <a:srgbClr val="FFFFFF"/>
                </a:solidFill>
                <a:latin typeface="Arial"/>
              </a:rPr>
              <a:t>Category</a:t>
            </a:r>
          </a:p>
        </p:txBody>
      </p:sp>
      <p:sp>
        <p:nvSpPr>
          <p:cNvPr id="9" name="Rectangle 8"/>
          <p:cNvSpPr/>
          <p:nvPr/>
        </p:nvSpPr>
        <p:spPr>
          <a:xfrm>
            <a:off x="2585100" y="1783080"/>
            <a:ext cx="4253788"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03972" y="1783080"/>
            <a:ext cx="4052620" cy="600891"/>
          </a:xfrm>
          <a:prstGeom prst="rect">
            <a:avLst/>
          </a:prstGeom>
          <a:noFill/>
        </p:spPr>
        <p:txBody>
          <a:bodyPr wrap="square" anchor="ctr">
            <a:spAutoFit/>
          </a:bodyPr>
          <a:lstStyle/>
          <a:p>
            <a:pPr algn="l">
              <a:spcAft>
                <a:spcPts val="400"/>
              </a:spcAft>
            </a:pPr>
            <a:r>
              <a:rPr sz="1200" b="1">
                <a:solidFill>
                  <a:srgbClr val="FFFFFF"/>
                </a:solidFill>
                <a:latin typeface="Arial"/>
              </a:rPr>
              <a:t>Tiles</a:t>
            </a:r>
          </a:p>
        </p:txBody>
      </p:sp>
      <p:sp>
        <p:nvSpPr>
          <p:cNvPr id="11" name="Rectangle 10"/>
          <p:cNvSpPr/>
          <p:nvPr/>
        </p:nvSpPr>
        <p:spPr>
          <a:xfrm>
            <a:off x="6838888" y="1783080"/>
            <a:ext cx="4572822" cy="60089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57760" y="1783080"/>
            <a:ext cx="4371654" cy="600891"/>
          </a:xfrm>
          <a:prstGeom prst="rect">
            <a:avLst/>
          </a:prstGeom>
          <a:noFill/>
        </p:spPr>
        <p:txBody>
          <a:bodyPr wrap="square" anchor="ctr">
            <a:spAutoFit/>
          </a:bodyPr>
          <a:lstStyle/>
          <a:p>
            <a:pPr algn="l">
              <a:spcAft>
                <a:spcPts val="400"/>
              </a:spcAft>
            </a:pPr>
            <a:r>
              <a:rPr sz="1200" b="1">
                <a:solidFill>
                  <a:srgbClr val="FFFFFF"/>
                </a:solidFill>
                <a:latin typeface="Arial"/>
              </a:rPr>
              <a:t>What it does</a:t>
            </a:r>
          </a:p>
        </p:txBody>
      </p:sp>
      <p:sp>
        <p:nvSpPr>
          <p:cNvPr id="13" name="Rectangle 12"/>
          <p:cNvSpPr/>
          <p:nvPr/>
        </p:nvSpPr>
        <p:spPr>
          <a:xfrm>
            <a:off x="777240" y="2383971"/>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383971"/>
            <a:ext cx="1606692" cy="600891"/>
          </a:xfrm>
          <a:prstGeom prst="rect">
            <a:avLst/>
          </a:prstGeom>
          <a:noFill/>
        </p:spPr>
        <p:txBody>
          <a:bodyPr wrap="square" anchor="ctr">
            <a:spAutoFit/>
          </a:bodyPr>
          <a:lstStyle/>
          <a:p>
            <a:pPr algn="l">
              <a:spcAft>
                <a:spcPts val="400"/>
              </a:spcAft>
            </a:pPr>
            <a:r>
              <a:rPr sz="1100" b="1">
                <a:solidFill>
                  <a:srgbClr val="161B26"/>
                </a:solidFill>
                <a:latin typeface="Arial"/>
              </a:rPr>
              <a:t>Audience</a:t>
            </a:r>
          </a:p>
        </p:txBody>
      </p:sp>
      <p:sp>
        <p:nvSpPr>
          <p:cNvPr id="15" name="Rectangle 14"/>
          <p:cNvSpPr/>
          <p:nvPr/>
        </p:nvSpPr>
        <p:spPr>
          <a:xfrm>
            <a:off x="2585100" y="2383971"/>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03972" y="2383971"/>
            <a:ext cx="4052620" cy="600891"/>
          </a:xfrm>
          <a:prstGeom prst="rect">
            <a:avLst/>
          </a:prstGeom>
          <a:noFill/>
        </p:spPr>
        <p:txBody>
          <a:bodyPr wrap="square" anchor="ctr">
            <a:spAutoFit/>
          </a:bodyPr>
          <a:lstStyle/>
          <a:p>
            <a:pPr algn="l">
              <a:spcAft>
                <a:spcPts val="400"/>
              </a:spcAft>
            </a:pPr>
            <a:r>
              <a:rPr sz="1100" b="0">
                <a:solidFill>
                  <a:srgbClr val="161B26"/>
                </a:solidFill>
                <a:latin typeface="Arial"/>
              </a:rPr>
              <a:t>Segment · Form submitted · Record updated</a:t>
            </a:r>
          </a:p>
        </p:txBody>
      </p:sp>
      <p:sp>
        <p:nvSpPr>
          <p:cNvPr id="17" name="Rectangle 16"/>
          <p:cNvSpPr/>
          <p:nvPr/>
        </p:nvSpPr>
        <p:spPr>
          <a:xfrm>
            <a:off x="6838888" y="2383971"/>
            <a:ext cx="457282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57760" y="2383971"/>
            <a:ext cx="4371654" cy="600891"/>
          </a:xfrm>
          <a:prstGeom prst="rect">
            <a:avLst/>
          </a:prstGeom>
          <a:noFill/>
        </p:spPr>
        <p:txBody>
          <a:bodyPr wrap="square" anchor="ctr">
            <a:spAutoFit/>
          </a:bodyPr>
          <a:lstStyle/>
          <a:p>
            <a:pPr algn="l">
              <a:spcAft>
                <a:spcPts val="400"/>
              </a:spcAft>
            </a:pPr>
            <a:r>
              <a:rPr sz="1100" b="0">
                <a:solidFill>
                  <a:srgbClr val="161B26"/>
                </a:solidFill>
                <a:latin typeface="Arial"/>
              </a:rPr>
              <a:t>Defines who enters the journey and when</a:t>
            </a:r>
          </a:p>
        </p:txBody>
      </p:sp>
      <p:sp>
        <p:nvSpPr>
          <p:cNvPr id="19" name="Rectangle 18"/>
          <p:cNvSpPr/>
          <p:nvPr/>
        </p:nvSpPr>
        <p:spPr>
          <a:xfrm>
            <a:off x="777240" y="2984862"/>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984862"/>
            <a:ext cx="1606692" cy="600891"/>
          </a:xfrm>
          <a:prstGeom prst="rect">
            <a:avLst/>
          </a:prstGeom>
          <a:noFill/>
        </p:spPr>
        <p:txBody>
          <a:bodyPr wrap="square" anchor="ctr">
            <a:spAutoFit/>
          </a:bodyPr>
          <a:lstStyle/>
          <a:p>
            <a:pPr algn="l">
              <a:spcAft>
                <a:spcPts val="400"/>
              </a:spcAft>
            </a:pPr>
            <a:r>
              <a:rPr sz="1100" b="1">
                <a:solidFill>
                  <a:srgbClr val="161B26"/>
                </a:solidFill>
                <a:latin typeface="Arial"/>
              </a:rPr>
              <a:t>Messages</a:t>
            </a:r>
          </a:p>
        </p:txBody>
      </p:sp>
      <p:sp>
        <p:nvSpPr>
          <p:cNvPr id="21" name="Rectangle 20"/>
          <p:cNvSpPr/>
          <p:nvPr/>
        </p:nvSpPr>
        <p:spPr>
          <a:xfrm>
            <a:off x="2585100" y="2984862"/>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03972" y="2984862"/>
            <a:ext cx="4052620" cy="600891"/>
          </a:xfrm>
          <a:prstGeom prst="rect">
            <a:avLst/>
          </a:prstGeom>
          <a:noFill/>
        </p:spPr>
        <p:txBody>
          <a:bodyPr wrap="square" anchor="ctr">
            <a:spAutoFit/>
          </a:bodyPr>
          <a:lstStyle/>
          <a:p>
            <a:pPr algn="l">
              <a:spcAft>
                <a:spcPts val="400"/>
              </a:spcAft>
            </a:pPr>
            <a:r>
              <a:rPr sz="1100" b="0">
                <a:solidFill>
                  <a:srgbClr val="161B26"/>
                </a:solidFill>
                <a:latin typeface="Arial"/>
              </a:rPr>
              <a:t>Email · SMS · Push notification · Custom channel</a:t>
            </a:r>
          </a:p>
        </p:txBody>
      </p:sp>
      <p:sp>
        <p:nvSpPr>
          <p:cNvPr id="23" name="Rectangle 22"/>
          <p:cNvSpPr/>
          <p:nvPr/>
        </p:nvSpPr>
        <p:spPr>
          <a:xfrm>
            <a:off x="6838888" y="2984862"/>
            <a:ext cx="457282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57760" y="2984862"/>
            <a:ext cx="4371654" cy="600891"/>
          </a:xfrm>
          <a:prstGeom prst="rect">
            <a:avLst/>
          </a:prstGeom>
          <a:noFill/>
        </p:spPr>
        <p:txBody>
          <a:bodyPr wrap="square" anchor="ctr">
            <a:spAutoFit/>
          </a:bodyPr>
          <a:lstStyle/>
          <a:p>
            <a:pPr algn="l">
              <a:spcAft>
                <a:spcPts val="400"/>
              </a:spcAft>
            </a:pPr>
            <a:r>
              <a:rPr sz="1100" b="0">
                <a:solidFill>
                  <a:srgbClr val="161B26"/>
                </a:solidFill>
                <a:latin typeface="Arial"/>
              </a:rPr>
              <a:t>Sends content on the channel you choose</a:t>
            </a:r>
          </a:p>
        </p:txBody>
      </p:sp>
      <p:sp>
        <p:nvSpPr>
          <p:cNvPr id="25" name="Rectangle 24"/>
          <p:cNvSpPr/>
          <p:nvPr/>
        </p:nvSpPr>
        <p:spPr>
          <a:xfrm>
            <a:off x="777240" y="3585753"/>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585753"/>
            <a:ext cx="1606692" cy="600891"/>
          </a:xfrm>
          <a:prstGeom prst="rect">
            <a:avLst/>
          </a:prstGeom>
          <a:noFill/>
        </p:spPr>
        <p:txBody>
          <a:bodyPr wrap="square" anchor="ctr">
            <a:spAutoFit/>
          </a:bodyPr>
          <a:lstStyle/>
          <a:p>
            <a:pPr algn="l">
              <a:spcAft>
                <a:spcPts val="400"/>
              </a:spcAft>
            </a:pPr>
            <a:r>
              <a:rPr sz="1100" b="1">
                <a:solidFill>
                  <a:srgbClr val="161B26"/>
                </a:solidFill>
                <a:latin typeface="Arial"/>
              </a:rPr>
              <a:t>Branches</a:t>
            </a:r>
          </a:p>
        </p:txBody>
      </p:sp>
      <p:sp>
        <p:nvSpPr>
          <p:cNvPr id="27" name="Rectangle 26"/>
          <p:cNvSpPr/>
          <p:nvPr/>
        </p:nvSpPr>
        <p:spPr>
          <a:xfrm>
            <a:off x="2585100" y="3585753"/>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03972" y="3585753"/>
            <a:ext cx="4052620" cy="600891"/>
          </a:xfrm>
          <a:prstGeom prst="rect">
            <a:avLst/>
          </a:prstGeom>
          <a:noFill/>
        </p:spPr>
        <p:txBody>
          <a:bodyPr wrap="square" anchor="ctr">
            <a:spAutoFit/>
          </a:bodyPr>
          <a:lstStyle/>
          <a:p>
            <a:pPr algn="l">
              <a:spcAft>
                <a:spcPts val="400"/>
              </a:spcAft>
            </a:pPr>
            <a:r>
              <a:rPr sz="1100" b="0">
                <a:solidFill>
                  <a:srgbClr val="161B26"/>
                </a:solidFill>
                <a:latin typeface="Arial"/>
              </a:rPr>
              <a:t>If/then · Split</a:t>
            </a:r>
          </a:p>
        </p:txBody>
      </p:sp>
      <p:sp>
        <p:nvSpPr>
          <p:cNvPr id="29" name="Rectangle 28"/>
          <p:cNvSpPr/>
          <p:nvPr/>
        </p:nvSpPr>
        <p:spPr>
          <a:xfrm>
            <a:off x="6838888" y="3585753"/>
            <a:ext cx="457282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57760" y="3585753"/>
            <a:ext cx="4371654" cy="600891"/>
          </a:xfrm>
          <a:prstGeom prst="rect">
            <a:avLst/>
          </a:prstGeom>
          <a:noFill/>
        </p:spPr>
        <p:txBody>
          <a:bodyPr wrap="square" anchor="ctr">
            <a:spAutoFit/>
          </a:bodyPr>
          <a:lstStyle/>
          <a:p>
            <a:pPr algn="l">
              <a:spcAft>
                <a:spcPts val="400"/>
              </a:spcAft>
            </a:pPr>
            <a:r>
              <a:rPr sz="1100" b="0">
                <a:solidFill>
                  <a:srgbClr val="161B26"/>
                </a:solidFill>
                <a:latin typeface="Arial"/>
              </a:rPr>
              <a:t>Sends contacts down different paths by condition or percentage</a:t>
            </a:r>
          </a:p>
        </p:txBody>
      </p:sp>
      <p:sp>
        <p:nvSpPr>
          <p:cNvPr id="31" name="Rectangle 30"/>
          <p:cNvSpPr/>
          <p:nvPr/>
        </p:nvSpPr>
        <p:spPr>
          <a:xfrm>
            <a:off x="777240" y="4186644"/>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186644"/>
            <a:ext cx="1606692" cy="600891"/>
          </a:xfrm>
          <a:prstGeom prst="rect">
            <a:avLst/>
          </a:prstGeom>
          <a:noFill/>
        </p:spPr>
        <p:txBody>
          <a:bodyPr wrap="square" anchor="ctr">
            <a:spAutoFit/>
          </a:bodyPr>
          <a:lstStyle/>
          <a:p>
            <a:pPr algn="l">
              <a:spcAft>
                <a:spcPts val="400"/>
              </a:spcAft>
            </a:pPr>
            <a:r>
              <a:rPr sz="1100" b="1">
                <a:solidFill>
                  <a:srgbClr val="161B26"/>
                </a:solidFill>
                <a:latin typeface="Arial"/>
              </a:rPr>
              <a:t>Waits</a:t>
            </a:r>
          </a:p>
        </p:txBody>
      </p:sp>
      <p:sp>
        <p:nvSpPr>
          <p:cNvPr id="33" name="Rectangle 32"/>
          <p:cNvSpPr/>
          <p:nvPr/>
        </p:nvSpPr>
        <p:spPr>
          <a:xfrm>
            <a:off x="2585100" y="4186644"/>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03972" y="4186644"/>
            <a:ext cx="4052620" cy="600891"/>
          </a:xfrm>
          <a:prstGeom prst="rect">
            <a:avLst/>
          </a:prstGeom>
          <a:noFill/>
        </p:spPr>
        <p:txBody>
          <a:bodyPr wrap="square" anchor="ctr">
            <a:spAutoFit/>
          </a:bodyPr>
          <a:lstStyle/>
          <a:p>
            <a:pPr algn="l">
              <a:spcAft>
                <a:spcPts val="400"/>
              </a:spcAft>
            </a:pPr>
            <a:r>
              <a:rPr sz="1100" b="0">
                <a:solidFill>
                  <a:srgbClr val="161B26"/>
                </a:solidFill>
                <a:latin typeface="Arial"/>
              </a:rPr>
              <a:t>Wait / delay · Wait for · Wait until</a:t>
            </a:r>
          </a:p>
        </p:txBody>
      </p:sp>
      <p:sp>
        <p:nvSpPr>
          <p:cNvPr id="35" name="Rectangle 34"/>
          <p:cNvSpPr/>
          <p:nvPr/>
        </p:nvSpPr>
        <p:spPr>
          <a:xfrm>
            <a:off x="6838888" y="4186644"/>
            <a:ext cx="457282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57760" y="4186644"/>
            <a:ext cx="4371654" cy="600891"/>
          </a:xfrm>
          <a:prstGeom prst="rect">
            <a:avLst/>
          </a:prstGeom>
          <a:noFill/>
        </p:spPr>
        <p:txBody>
          <a:bodyPr wrap="square" anchor="ctr">
            <a:spAutoFit/>
          </a:bodyPr>
          <a:lstStyle/>
          <a:p>
            <a:pPr algn="l">
              <a:spcAft>
                <a:spcPts val="400"/>
              </a:spcAft>
            </a:pPr>
            <a:r>
              <a:rPr sz="1100" b="0">
                <a:solidFill>
                  <a:srgbClr val="161B26"/>
                </a:solidFill>
                <a:latin typeface="Arial"/>
              </a:rPr>
              <a:t>Controls the pacing between steps</a:t>
            </a:r>
          </a:p>
        </p:txBody>
      </p:sp>
      <p:sp>
        <p:nvSpPr>
          <p:cNvPr id="37" name="Rectangle 36"/>
          <p:cNvSpPr/>
          <p:nvPr/>
        </p:nvSpPr>
        <p:spPr>
          <a:xfrm>
            <a:off x="777240" y="4787535"/>
            <a:ext cx="1807860"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4787535"/>
            <a:ext cx="1606692" cy="600891"/>
          </a:xfrm>
          <a:prstGeom prst="rect">
            <a:avLst/>
          </a:prstGeom>
          <a:noFill/>
        </p:spPr>
        <p:txBody>
          <a:bodyPr wrap="square" anchor="ctr">
            <a:spAutoFit/>
          </a:bodyPr>
          <a:lstStyle/>
          <a:p>
            <a:pPr algn="l">
              <a:spcAft>
                <a:spcPts val="400"/>
              </a:spcAft>
            </a:pPr>
            <a:r>
              <a:rPr sz="1100" b="1">
                <a:solidFill>
                  <a:srgbClr val="161B26"/>
                </a:solidFill>
                <a:latin typeface="Arial"/>
              </a:rPr>
              <a:t>Actions</a:t>
            </a:r>
          </a:p>
        </p:txBody>
      </p:sp>
      <p:sp>
        <p:nvSpPr>
          <p:cNvPr id="39" name="Rectangle 38"/>
          <p:cNvSpPr/>
          <p:nvPr/>
        </p:nvSpPr>
        <p:spPr>
          <a:xfrm>
            <a:off x="2585100" y="4787535"/>
            <a:ext cx="4253788"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03972" y="4787535"/>
            <a:ext cx="4052620" cy="600891"/>
          </a:xfrm>
          <a:prstGeom prst="rect">
            <a:avLst/>
          </a:prstGeom>
          <a:noFill/>
        </p:spPr>
        <p:txBody>
          <a:bodyPr wrap="square" anchor="ctr">
            <a:spAutoFit/>
          </a:bodyPr>
          <a:lstStyle/>
          <a:p>
            <a:pPr algn="l">
              <a:spcAft>
                <a:spcPts val="400"/>
              </a:spcAft>
            </a:pPr>
            <a:r>
              <a:rPr sz="1100" b="0">
                <a:solidFill>
                  <a:srgbClr val="161B26"/>
                </a:solidFill>
                <a:latin typeface="Arial"/>
              </a:rPr>
              <a:t>Create lead · Run workflow · LinkedIn campaign · Sales activity</a:t>
            </a:r>
          </a:p>
        </p:txBody>
      </p:sp>
      <p:sp>
        <p:nvSpPr>
          <p:cNvPr id="41" name="Rectangle 40"/>
          <p:cNvSpPr/>
          <p:nvPr/>
        </p:nvSpPr>
        <p:spPr>
          <a:xfrm>
            <a:off x="6838888" y="4787535"/>
            <a:ext cx="4572822" cy="60089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57760" y="4787535"/>
            <a:ext cx="4371654" cy="600891"/>
          </a:xfrm>
          <a:prstGeom prst="rect">
            <a:avLst/>
          </a:prstGeom>
          <a:noFill/>
        </p:spPr>
        <p:txBody>
          <a:bodyPr wrap="square" anchor="ctr">
            <a:spAutoFit/>
          </a:bodyPr>
          <a:lstStyle/>
          <a:p>
            <a:pPr algn="l">
              <a:spcAft>
                <a:spcPts val="400"/>
              </a:spcAft>
            </a:pPr>
            <a:r>
              <a:rPr sz="1100" b="0">
                <a:solidFill>
                  <a:srgbClr val="161B26"/>
                </a:solidFill>
                <a:latin typeface="Arial"/>
              </a:rPr>
              <a:t>Does something in Dataverse or another system</a:t>
            </a:r>
          </a:p>
        </p:txBody>
      </p:sp>
      <p:sp>
        <p:nvSpPr>
          <p:cNvPr id="43" name="Rectangle 42"/>
          <p:cNvSpPr/>
          <p:nvPr/>
        </p:nvSpPr>
        <p:spPr>
          <a:xfrm>
            <a:off x="777240" y="5388426"/>
            <a:ext cx="1807860"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5388426"/>
            <a:ext cx="1606692" cy="600891"/>
          </a:xfrm>
          <a:prstGeom prst="rect">
            <a:avLst/>
          </a:prstGeom>
          <a:noFill/>
        </p:spPr>
        <p:txBody>
          <a:bodyPr wrap="square" anchor="ctr">
            <a:spAutoFit/>
          </a:bodyPr>
          <a:lstStyle/>
          <a:p>
            <a:pPr algn="l">
              <a:spcAft>
                <a:spcPts val="400"/>
              </a:spcAft>
            </a:pPr>
            <a:r>
              <a:rPr sz="1100" b="1">
                <a:solidFill>
                  <a:srgbClr val="161B26"/>
                </a:solidFill>
                <a:latin typeface="Arial"/>
              </a:rPr>
              <a:t>Triggers</a:t>
            </a:r>
          </a:p>
        </p:txBody>
      </p:sp>
      <p:sp>
        <p:nvSpPr>
          <p:cNvPr id="45" name="Rectangle 44"/>
          <p:cNvSpPr/>
          <p:nvPr/>
        </p:nvSpPr>
        <p:spPr>
          <a:xfrm>
            <a:off x="2585100" y="5388426"/>
            <a:ext cx="4253788"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03972" y="5388426"/>
            <a:ext cx="4052620" cy="600891"/>
          </a:xfrm>
          <a:prstGeom prst="rect">
            <a:avLst/>
          </a:prstGeom>
          <a:noFill/>
        </p:spPr>
        <p:txBody>
          <a:bodyPr wrap="square" anchor="ctr">
            <a:spAutoFit/>
          </a:bodyPr>
          <a:lstStyle/>
          <a:p>
            <a:pPr algn="l">
              <a:spcAft>
                <a:spcPts val="400"/>
              </a:spcAft>
            </a:pPr>
            <a:r>
              <a:rPr sz="1100" b="0">
                <a:solidFill>
                  <a:srgbClr val="161B26"/>
                </a:solidFill>
                <a:latin typeface="Arial"/>
              </a:rPr>
              <a:t>Custom · Interaction · Business</a:t>
            </a:r>
          </a:p>
        </p:txBody>
      </p:sp>
      <p:sp>
        <p:nvSpPr>
          <p:cNvPr id="47" name="Rectangle 46"/>
          <p:cNvSpPr/>
          <p:nvPr/>
        </p:nvSpPr>
        <p:spPr>
          <a:xfrm>
            <a:off x="6838888" y="5388426"/>
            <a:ext cx="4572822" cy="60089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57760" y="5388426"/>
            <a:ext cx="4371654" cy="600891"/>
          </a:xfrm>
          <a:prstGeom prst="rect">
            <a:avLst/>
          </a:prstGeom>
          <a:noFill/>
        </p:spPr>
        <p:txBody>
          <a:bodyPr wrap="square" anchor="ctr">
            <a:spAutoFit/>
          </a:bodyPr>
          <a:lstStyle/>
          <a:p>
            <a:pPr algn="l">
              <a:spcAft>
                <a:spcPts val="400"/>
              </a:spcAft>
            </a:pPr>
            <a:r>
              <a:rPr sz="1100" b="0">
                <a:solidFill>
                  <a:srgbClr val="161B26"/>
                </a:solidFill>
                <a:latin typeface="Arial"/>
              </a:rPr>
              <a:t>Starts, continues or stops a journey in real time</a:t>
            </a:r>
          </a:p>
        </p:txBody>
      </p:sp>
      <p:sp>
        <p:nvSpPr>
          <p:cNvPr id="49" name="TextBox 48"/>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Triggers are the real-time engine: Contact created welcomes a new user; Email opened drives a follow-up; Order placed starts fulfilment communications.</a:t>
            </a:r>
          </a:p>
        </p:txBody>
      </p:sp>
      <p:sp>
        <p:nvSpPr>
          <p:cNvPr id="50" name="TextBox 4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51" name="TextBox 5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FILLING AND PRIORITISING THE FUNNEL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Lead Generation and Qualification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Create leads manually</a:t>
            </a:r>
          </a:p>
          <a:p>
            <a:pPr algn="l">
              <a:spcAft>
                <a:spcPts val="300"/>
              </a:spcAft>
            </a:pPr>
            <a:r>
              <a:rPr sz="1100" b="0">
                <a:solidFill>
                  <a:srgbClr val="5B6372"/>
                </a:solidFill>
                <a:latin typeface="Arial"/>
              </a:rPr>
              <a:t>A seller or marketer enters the lead and links it to a new or existing contact.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Import from a file</a:t>
            </a:r>
          </a:p>
          <a:p>
            <a:pPr algn="l">
              <a:spcAft>
                <a:spcPts val="300"/>
              </a:spcAft>
            </a:pPr>
            <a:r>
              <a:rPr sz="1100" b="0">
                <a:solidFill>
                  <a:srgbClr val="5B6372"/>
                </a:solidFill>
                <a:latin typeface="Arial"/>
              </a:rPr>
              <a:t>Map a spreadsheet of prospects to leads, contacts or accounts in bulk.</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Sync from LinkedIn</a:t>
            </a:r>
          </a:p>
          <a:p>
            <a:pPr algn="l">
              <a:spcAft>
                <a:spcPts val="300"/>
              </a:spcAft>
            </a:pPr>
            <a:r>
              <a:rPr sz="1100" b="0">
                <a:solidFill>
                  <a:srgbClr val="5B6372"/>
                </a:solidFill>
                <a:latin typeface="Arial"/>
              </a:rPr>
              <a:t>LinkedIn Lead Gen Forms flow straight into Dynamics 365 as leads.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Capture on a marketing form</a:t>
            </a:r>
          </a:p>
          <a:p>
            <a:pPr algn="l">
              <a:spcAft>
                <a:spcPts val="300"/>
              </a:spcAft>
            </a:pPr>
            <a:r>
              <a:rPr sz="1100" b="0">
                <a:solidFill>
                  <a:srgbClr val="5B6372"/>
                </a:solidFill>
                <a:latin typeface="Arial"/>
              </a:rPr>
              <a:t>A landing page form creates the lead the moment it is submitted.</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Score the lead</a:t>
            </a:r>
          </a:p>
          <a:p>
            <a:pPr algn="l">
              <a:spcAft>
                <a:spcPts val="300"/>
              </a:spcAft>
            </a:pPr>
            <a:r>
              <a:rPr sz="1100" b="0">
                <a:solidFill>
                  <a:srgbClr val="5B6372"/>
                </a:solidFill>
                <a:latin typeface="Arial"/>
              </a:rPr>
              <a:t>Scoring models rank leads by demographic fit and behaviour — sales-ready at a threshold.</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Hand off to sales</a:t>
            </a:r>
          </a:p>
          <a:p>
            <a:pPr algn="l">
              <a:spcAft>
                <a:spcPts val="300"/>
              </a:spcAft>
            </a:pPr>
            <a:r>
              <a:rPr sz="1100" b="0">
                <a:solidFill>
                  <a:srgbClr val="5B6372"/>
                </a:solidFill>
                <a:latin typeface="Arial"/>
              </a:rPr>
              <a:t>A sales-ready lead is passed to a seller, who qualifies or disqualifies it.</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CAPTURE AND CONVENE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Marketing Forms and Event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F6FEB"/>
                </a:solidFill>
                <a:latin typeface="Arial"/>
              </a:rPr>
              <a:t>Forms — capture the lead</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Events — convene the audience</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Three marketing form types</a:t>
            </a:r>
          </a:p>
          <a:p>
            <a:pPr>
              <a:spcAft>
                <a:spcPts val="1000"/>
              </a:spcAft>
            </a:pPr>
            <a:r>
              <a:rPr sz="1200" b="0">
                <a:solidFill>
                  <a:srgbClr val="5B6372"/>
                </a:solidFill>
                <a:latin typeface="Arial"/>
              </a:rPr>
              <a:t>–  Landing page form — captures new leads and contacts</a:t>
            </a:r>
          </a:p>
          <a:p>
            <a:pPr>
              <a:spcAft>
                <a:spcPts val="1000"/>
              </a:spcAft>
            </a:pPr>
            <a:r>
              <a:rPr sz="1200" b="0">
                <a:solidFill>
                  <a:srgbClr val="5B6372"/>
                </a:solidFill>
                <a:latin typeface="Arial"/>
              </a:rPr>
              <a:t>–  Subscription form — lets people manage their own preferences</a:t>
            </a:r>
          </a:p>
          <a:p>
            <a:pPr>
              <a:spcAft>
                <a:spcPts val="1000"/>
              </a:spcAft>
            </a:pPr>
            <a:r>
              <a:rPr sz="1200" b="0">
                <a:solidFill>
                  <a:srgbClr val="5B6372"/>
                </a:solidFill>
                <a:latin typeface="Arial"/>
              </a:rPr>
              <a:t>–  Forward to a friend — turns a recipient into a referrer</a:t>
            </a:r>
          </a:p>
          <a:p>
            <a:pPr>
              <a:spcAft>
                <a:spcPts val="1000"/>
              </a:spcAft>
            </a:pPr>
            <a:r>
              <a:rPr sz="1200" b="0">
                <a:solidFill>
                  <a:srgbClr val="5B6372"/>
                </a:solidFill>
                <a:latin typeface="Arial"/>
              </a:rPr>
              <a:t>–  Forms can prefill known values and match to existing records</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Event management covers the whole event</a:t>
            </a:r>
          </a:p>
          <a:p>
            <a:pPr>
              <a:spcAft>
                <a:spcPts val="1000"/>
              </a:spcAft>
            </a:pPr>
            <a:r>
              <a:rPr sz="1200" b="0">
                <a:solidFill>
                  <a:srgbClr val="5B6372"/>
                </a:solidFill>
                <a:latin typeface="Arial"/>
              </a:rPr>
              <a:t>–  Design the event: venue, capacity, budget, dates</a:t>
            </a:r>
          </a:p>
          <a:p>
            <a:pPr>
              <a:spcAft>
                <a:spcPts val="1000"/>
              </a:spcAft>
            </a:pPr>
            <a:r>
              <a:rPr sz="1200" b="0">
                <a:solidFill>
                  <a:srgbClr val="5B6372"/>
                </a:solidFill>
                <a:latin typeface="Arial"/>
              </a:rPr>
              <a:t>–  Build the agenda: sessions, tracks and a schedule</a:t>
            </a:r>
          </a:p>
          <a:p>
            <a:pPr>
              <a:spcAft>
                <a:spcPts val="1000"/>
              </a:spcAft>
            </a:pPr>
            <a:r>
              <a:rPr sz="1200" b="0">
                <a:solidFill>
                  <a:srgbClr val="5B6372"/>
                </a:solidFill>
                <a:latin typeface="Arial"/>
              </a:rPr>
              <a:t>–  Manage speakers, sponsors and registrations</a:t>
            </a:r>
          </a:p>
          <a:p>
            <a:pPr>
              <a:spcAft>
                <a:spcPts val="1000"/>
              </a:spcAft>
            </a:pPr>
            <a:r>
              <a:rPr sz="1200" b="0">
                <a:solidFill>
                  <a:srgbClr val="5B6372"/>
                </a:solidFill>
                <a:latin typeface="Arial"/>
              </a:rPr>
              <a:t>–  Publish an event website and check attendees in</a:t>
            </a:r>
          </a:p>
          <a:p>
            <a:pPr>
              <a:spcAft>
                <a:spcPts val="1000"/>
              </a:spcAft>
            </a:pPr>
            <a:r>
              <a:rPr sz="1200" b="0">
                <a:solidFill>
                  <a:srgbClr val="5B6372"/>
                </a:solidFill>
                <a:latin typeface="Arial"/>
              </a:rPr>
              <a:t>–  Follow up: attendance data drives post-event journeys</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Both feed the same funnel: a form submission or an event registration can trigger a journey and create a lead.</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3 — Build a Segment, an Email and a Customer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3  ·  60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Contoso Coffee Singapore is launching a cold-brew range to its Singapore hospitality contacts. You build the targeting segment, design a marketing email with dynamic personalisation, wire both into a customer journey with a trigger and a conditional branch, then create the marketing form and event that capture the resulting leads. This is the full marketing framework the course's LO2 requires.</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the audience segment and check its membership</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Design and personalise the marketing email</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Build the journey with a trigger and a branch</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Publish the journey and verify it goes live</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the marketing form and the event registration</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 live segment of Singapore hospitality contacts, a published marketing email, a running customer journey with a branch, a marketing form on a landing page, and an event with a registration record.</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Dynamics 365 Customer Insights – Journeys, Dataverse, email designer, segment builder, event management</a:t>
            </a:r>
            <a:r>
              <a:rPr sz="1150" b="0">
                <a:solidFill>
                  <a:srgbClr val="5B6372"/>
                </a:solidFill>
                <a:latin typeface="Arial"/>
              </a:rPr>
              <a:t>     ·     Full step-by-step: Learner Guide, Lab 3</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Customer Insights – Data and Customer Voice</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Unified customer profiles · data ingestion, unification, enrichment · measures and segments · survey feedback management</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04</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PROBLEM IT SOLVES</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The same person, five different systems.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Customer Insights – Data is the customer data platform that resolves them into one profile you can act on.</a:t>
            </a:r>
          </a:p>
        </p:txBody>
      </p:sp>
      <p:sp>
        <p:nvSpPr>
          <p:cNvPr id="7" name="TextBox 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 name="TextBox 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MANY SOURCES TO ONE PROFILE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Unification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nification_pipeline.png"/>
          <p:cNvPicPr>
            <a:picLocks noChangeAspect="1"/>
          </p:cNvPicPr>
          <p:nvPr/>
        </p:nvPicPr>
        <p:blipFill>
          <a:blip r:embed="rId2"/>
          <a:stretch>
            <a:fillRect/>
          </a:stretch>
        </p:blipFill>
        <p:spPr>
          <a:xfrm>
            <a:off x="777240" y="2613481"/>
            <a:ext cx="5943600" cy="2682597"/>
          </a:xfrm>
          <a:prstGeom prst="rect">
            <a:avLst/>
          </a:prstGeom>
        </p:spPr>
      </p:pic>
      <p:sp>
        <p:nvSpPr>
          <p:cNvPr id="8" name="Rectangle 7"/>
          <p:cNvSpPr/>
          <p:nvPr/>
        </p:nvSpPr>
        <p:spPr>
          <a:xfrm>
            <a:off x="6995160" y="1783080"/>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9516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32904" y="1783080"/>
            <a:ext cx="3995928" cy="737006"/>
          </a:xfrm>
          <a:prstGeom prst="rect">
            <a:avLst/>
          </a:prstGeom>
          <a:noFill/>
        </p:spPr>
        <p:txBody>
          <a:bodyPr wrap="square" anchor="ctr">
            <a:spAutoFit/>
          </a:bodyPr>
          <a:lstStyle/>
          <a:p>
            <a:pPr algn="l">
              <a:spcAft>
                <a:spcPts val="200"/>
              </a:spcAft>
            </a:pPr>
            <a:r>
              <a:rPr sz="1300" b="1">
                <a:solidFill>
                  <a:srgbClr val="1F6FEB"/>
                </a:solidFill>
                <a:latin typeface="Arial"/>
              </a:rPr>
              <a:t>Ingest</a:t>
            </a:r>
          </a:p>
          <a:p>
            <a:pPr algn="l">
              <a:spcAft>
                <a:spcPts val="200"/>
              </a:spcAft>
            </a:pPr>
            <a:r>
              <a:rPr sz="1100" b="0">
                <a:solidFill>
                  <a:srgbClr val="161B26"/>
                </a:solidFill>
                <a:latin typeface="Arial"/>
              </a:rPr>
              <a:t>Connect CRM, ERP, e-commerce, loyalty, web and point-of-sale sources.</a:t>
            </a:r>
          </a:p>
        </p:txBody>
      </p:sp>
      <p:sp>
        <p:nvSpPr>
          <p:cNvPr id="11" name="Rectangle 10"/>
          <p:cNvSpPr/>
          <p:nvPr/>
        </p:nvSpPr>
        <p:spPr>
          <a:xfrm>
            <a:off x="6995160" y="2684678"/>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9516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2904" y="2684678"/>
            <a:ext cx="3995928" cy="737006"/>
          </a:xfrm>
          <a:prstGeom prst="rect">
            <a:avLst/>
          </a:prstGeom>
          <a:noFill/>
        </p:spPr>
        <p:txBody>
          <a:bodyPr wrap="square" anchor="ctr">
            <a:spAutoFit/>
          </a:bodyPr>
          <a:lstStyle/>
          <a:p>
            <a:pPr algn="l">
              <a:spcAft>
                <a:spcPts val="200"/>
              </a:spcAft>
            </a:pPr>
            <a:r>
              <a:rPr sz="1300" b="1">
                <a:solidFill>
                  <a:srgbClr val="10B981"/>
                </a:solidFill>
                <a:latin typeface="Arial"/>
              </a:rPr>
              <a:t>Map</a:t>
            </a:r>
          </a:p>
          <a:p>
            <a:pPr algn="l">
              <a:spcAft>
                <a:spcPts val="200"/>
              </a:spcAft>
            </a:pPr>
            <a:r>
              <a:rPr sz="1100" b="0">
                <a:solidFill>
                  <a:srgbClr val="161B26"/>
                </a:solidFill>
                <a:latin typeface="Arial"/>
              </a:rPr>
              <a:t>Align each source's fields to common semantic types — name, email, phone, address.</a:t>
            </a:r>
          </a:p>
        </p:txBody>
      </p:sp>
      <p:sp>
        <p:nvSpPr>
          <p:cNvPr id="14" name="Rectangle 13"/>
          <p:cNvSpPr/>
          <p:nvPr/>
        </p:nvSpPr>
        <p:spPr>
          <a:xfrm>
            <a:off x="6995160" y="3586276"/>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586276"/>
            <a:ext cx="3995928" cy="737006"/>
          </a:xfrm>
          <a:prstGeom prst="rect">
            <a:avLst/>
          </a:prstGeom>
          <a:noFill/>
        </p:spPr>
        <p:txBody>
          <a:bodyPr wrap="square" anchor="ctr">
            <a:spAutoFit/>
          </a:bodyPr>
          <a:lstStyle/>
          <a:p>
            <a:pPr algn="l">
              <a:spcAft>
                <a:spcPts val="200"/>
              </a:spcAft>
            </a:pPr>
            <a:r>
              <a:rPr sz="1300" b="1">
                <a:solidFill>
                  <a:srgbClr val="7C3AED"/>
                </a:solidFill>
                <a:latin typeface="Arial"/>
              </a:rPr>
              <a:t>Match</a:t>
            </a:r>
          </a:p>
          <a:p>
            <a:pPr algn="l">
              <a:spcAft>
                <a:spcPts val="200"/>
              </a:spcAft>
            </a:pPr>
            <a:r>
              <a:rPr sz="1100" b="0">
                <a:solidFill>
                  <a:srgbClr val="161B26"/>
                </a:solidFill>
                <a:latin typeface="Arial"/>
              </a:rPr>
              <a:t>Rules decide when two rows are the same person: exact email, then fuzzier fallbacks.</a:t>
            </a:r>
          </a:p>
        </p:txBody>
      </p:sp>
      <p:sp>
        <p:nvSpPr>
          <p:cNvPr id="17" name="Rectangle 16"/>
          <p:cNvSpPr/>
          <p:nvPr/>
        </p:nvSpPr>
        <p:spPr>
          <a:xfrm>
            <a:off x="6995160" y="4487874"/>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9516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32904" y="4487874"/>
            <a:ext cx="3995928" cy="737006"/>
          </a:xfrm>
          <a:prstGeom prst="rect">
            <a:avLst/>
          </a:prstGeom>
          <a:noFill/>
        </p:spPr>
        <p:txBody>
          <a:bodyPr wrap="square" anchor="ctr">
            <a:spAutoFit/>
          </a:bodyPr>
          <a:lstStyle/>
          <a:p>
            <a:pPr algn="l">
              <a:spcAft>
                <a:spcPts val="200"/>
              </a:spcAft>
            </a:pPr>
            <a:r>
              <a:rPr sz="1300" b="1">
                <a:solidFill>
                  <a:srgbClr val="F59E0B"/>
                </a:solidFill>
                <a:latin typeface="Arial"/>
              </a:rPr>
              <a:t>Merge</a:t>
            </a:r>
          </a:p>
          <a:p>
            <a:pPr algn="l">
              <a:spcAft>
                <a:spcPts val="200"/>
              </a:spcAft>
            </a:pPr>
            <a:r>
              <a:rPr sz="1100" b="0">
                <a:solidFill>
                  <a:srgbClr val="161B26"/>
                </a:solidFill>
                <a:latin typeface="Arial"/>
              </a:rPr>
              <a:t>One value wins per field, using a precedence order you control.</a:t>
            </a:r>
          </a:p>
        </p:txBody>
      </p:sp>
      <p:sp>
        <p:nvSpPr>
          <p:cNvPr id="20" name="Rectangle 19"/>
          <p:cNvSpPr/>
          <p:nvPr/>
        </p:nvSpPr>
        <p:spPr>
          <a:xfrm>
            <a:off x="6995160" y="5389472"/>
            <a:ext cx="441655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9516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2904" y="5389472"/>
            <a:ext cx="3995928" cy="737006"/>
          </a:xfrm>
          <a:prstGeom prst="rect">
            <a:avLst/>
          </a:prstGeom>
          <a:noFill/>
        </p:spPr>
        <p:txBody>
          <a:bodyPr wrap="square" anchor="ctr">
            <a:spAutoFit/>
          </a:bodyPr>
          <a:lstStyle/>
          <a:p>
            <a:pPr algn="l">
              <a:spcAft>
                <a:spcPts val="200"/>
              </a:spcAft>
            </a:pPr>
            <a:r>
              <a:rPr sz="1300" b="1">
                <a:solidFill>
                  <a:srgbClr val="1F6FEB"/>
                </a:solidFill>
                <a:latin typeface="Arial"/>
              </a:rPr>
              <a:t>Then activate</a:t>
            </a:r>
          </a:p>
          <a:p>
            <a:pPr algn="l">
              <a:spcAft>
                <a:spcPts val="200"/>
              </a:spcAft>
            </a:pPr>
            <a:r>
              <a:rPr sz="1100" b="0">
                <a:solidFill>
                  <a:srgbClr val="161B26"/>
                </a:solidFill>
                <a:latin typeface="Arial"/>
              </a:rPr>
              <a:t>Enrich, measure, segment — and push the result into Journeys, Sales and Power BI.</a:t>
            </a:r>
          </a:p>
        </p:txBody>
      </p:sp>
      <p:sp>
        <p:nvSpPr>
          <p:cNvPr id="23" name="TextBox 2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4" name="TextBox 2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TURNING A PROFILE INTO INSIGHT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Build on the Unified Profile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Activities</a:t>
            </a:r>
          </a:p>
          <a:p>
            <a:pPr algn="l">
              <a:spcAft>
                <a:spcPts val="300"/>
              </a:spcAft>
            </a:pPr>
            <a:r>
              <a:rPr sz="1100" b="0">
                <a:solidFill>
                  <a:srgbClr val="5B6372"/>
                </a:solidFill>
                <a:latin typeface="Arial"/>
              </a:rPr>
              <a:t>Mark ingested tables as activities — purchases, tickets, web visits — with a timestamp.</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Relationships</a:t>
            </a:r>
          </a:p>
          <a:p>
            <a:pPr algn="l">
              <a:spcAft>
                <a:spcPts val="300"/>
              </a:spcAft>
            </a:pPr>
            <a:r>
              <a:rPr sz="1100" b="0">
                <a:solidFill>
                  <a:srgbClr val="5B6372"/>
                </a:solidFill>
                <a:latin typeface="Arial"/>
              </a:rPr>
              <a:t>Define how tables relate to the profile so you can traverse the data.</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Enrichment</a:t>
            </a:r>
          </a:p>
          <a:p>
            <a:pPr algn="l">
              <a:spcAft>
                <a:spcPts val="300"/>
              </a:spcAft>
            </a:pPr>
            <a:r>
              <a:rPr sz="1100" b="0">
                <a:solidFill>
                  <a:srgbClr val="5B6372"/>
                </a:solidFill>
                <a:latin typeface="Arial"/>
              </a:rPr>
              <a:t>Add brand affinity, interests, demographics and verified addresses from outside sources.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Measures</a:t>
            </a:r>
          </a:p>
          <a:p>
            <a:pPr algn="l">
              <a:spcAft>
                <a:spcPts val="300"/>
              </a:spcAft>
            </a:pPr>
            <a:r>
              <a:rPr sz="1100" b="0">
                <a:solidFill>
                  <a:srgbClr val="5B6372"/>
                </a:solidFill>
                <a:latin typeface="Arial"/>
              </a:rPr>
              <a:t>KPIs: customer lifetime value per person, or total revenue across the business.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Predictions</a:t>
            </a:r>
          </a:p>
          <a:p>
            <a:pPr algn="l">
              <a:spcAft>
                <a:spcPts val="300"/>
              </a:spcAft>
            </a:pPr>
            <a:r>
              <a:rPr sz="1100" b="0">
                <a:solidFill>
                  <a:srgbClr val="5B6372"/>
                </a:solidFill>
                <a:latin typeface="Arial"/>
              </a:rPr>
              <a:t>Out-of-the-box models for churn risk, product recommendation and subscription churn.</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Segments</a:t>
            </a:r>
          </a:p>
          <a:p>
            <a:pPr algn="l">
              <a:spcAft>
                <a:spcPts val="300"/>
              </a:spcAft>
            </a:pPr>
            <a:r>
              <a:rPr sz="1100" b="0">
                <a:solidFill>
                  <a:srgbClr val="5B6372"/>
                </a:solidFill>
                <a:latin typeface="Arial"/>
              </a:rPr>
              <a:t>Audiences built from any profile attribute, measure or activity — ready to activate.</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 MEASURE MADE ACTIONABLE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Lifetime Value by Segment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6949440" cy="4114800"/>
        </p:xfrm>
        <a:graphic>
          <a:graphicData uri="http://schemas.openxmlformats.org/drawingml/2006/chart">
            <c:chart xmlns:c="http://schemas.openxmlformats.org/drawingml/2006/chart" r:id="rId2"/>
          </a:graphicData>
        </a:graphic>
      </p:graphicFrame>
      <p:sp>
        <p:nvSpPr>
          <p:cNvPr id="8" name="Rectangle 7"/>
          <p:cNvSpPr/>
          <p:nvPr/>
        </p:nvSpPr>
        <p:spPr>
          <a:xfrm>
            <a:off x="7955279" y="1783080"/>
            <a:ext cx="34564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83080"/>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5" y="1783080"/>
            <a:ext cx="3072384" cy="905256"/>
          </a:xfrm>
          <a:prstGeom prst="rect">
            <a:avLst/>
          </a:prstGeom>
          <a:noFill/>
        </p:spPr>
        <p:txBody>
          <a:bodyPr wrap="square" anchor="ctr">
            <a:spAutoFit/>
          </a:bodyPr>
          <a:lstStyle/>
          <a:p>
            <a:pPr algn="l">
              <a:spcAft>
                <a:spcPts val="200"/>
              </a:spcAft>
            </a:pPr>
            <a:r>
              <a:rPr sz="1250" b="1">
                <a:solidFill>
                  <a:srgbClr val="1F6FEB"/>
                </a:solidFill>
                <a:latin typeface="Arial"/>
              </a:rPr>
              <a:t>Measures create segments</a:t>
            </a:r>
          </a:p>
          <a:p>
            <a:pPr algn="l">
              <a:spcAft>
                <a:spcPts val="200"/>
              </a:spcAft>
            </a:pPr>
            <a:r>
              <a:rPr sz="1050" b="0">
                <a:solidFill>
                  <a:srgbClr val="161B26"/>
                </a:solidFill>
                <a:latin typeface="Arial"/>
              </a:rPr>
              <a:t>'CLV &gt; 500' becomes the High value segment you can market to.</a:t>
            </a:r>
          </a:p>
        </p:txBody>
      </p:sp>
      <p:sp>
        <p:nvSpPr>
          <p:cNvPr id="11" name="Rectangle 10"/>
          <p:cNvSpPr/>
          <p:nvPr/>
        </p:nvSpPr>
        <p:spPr>
          <a:xfrm>
            <a:off x="7955279" y="2852928"/>
            <a:ext cx="34564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55279" y="2852928"/>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5" y="2852928"/>
            <a:ext cx="3072384" cy="905256"/>
          </a:xfrm>
          <a:prstGeom prst="rect">
            <a:avLst/>
          </a:prstGeom>
          <a:noFill/>
        </p:spPr>
        <p:txBody>
          <a:bodyPr wrap="square" anchor="ctr">
            <a:spAutoFit/>
          </a:bodyPr>
          <a:lstStyle/>
          <a:p>
            <a:pPr algn="l">
              <a:spcAft>
                <a:spcPts val="200"/>
              </a:spcAft>
            </a:pPr>
            <a:r>
              <a:rPr sz="1250" b="1">
                <a:solidFill>
                  <a:srgbClr val="10B981"/>
                </a:solidFill>
                <a:latin typeface="Arial"/>
              </a:rPr>
              <a:t>The tail is long</a:t>
            </a:r>
          </a:p>
          <a:p>
            <a:pPr algn="l">
              <a:spcAft>
                <a:spcPts val="200"/>
              </a:spcAft>
            </a:pPr>
            <a:r>
              <a:rPr sz="1050" b="0">
                <a:solidFill>
                  <a:srgbClr val="161B26"/>
                </a:solidFill>
                <a:latin typeface="Arial"/>
              </a:rPr>
              <a:t>Occasional and dormant customers are the majority by count.</a:t>
            </a:r>
          </a:p>
        </p:txBody>
      </p:sp>
      <p:sp>
        <p:nvSpPr>
          <p:cNvPr id="14" name="Rectangle 13"/>
          <p:cNvSpPr/>
          <p:nvPr/>
        </p:nvSpPr>
        <p:spPr>
          <a:xfrm>
            <a:off x="7955279" y="3922776"/>
            <a:ext cx="34564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3922776"/>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4735" y="3922776"/>
            <a:ext cx="3072384" cy="905256"/>
          </a:xfrm>
          <a:prstGeom prst="rect">
            <a:avLst/>
          </a:prstGeom>
          <a:noFill/>
        </p:spPr>
        <p:txBody>
          <a:bodyPr wrap="square" anchor="ctr">
            <a:spAutoFit/>
          </a:bodyPr>
          <a:lstStyle/>
          <a:p>
            <a:pPr algn="l">
              <a:spcAft>
                <a:spcPts val="200"/>
              </a:spcAft>
            </a:pPr>
            <a:r>
              <a:rPr sz="1250" b="1">
                <a:solidFill>
                  <a:srgbClr val="7C3AED"/>
                </a:solidFill>
                <a:latin typeface="Arial"/>
              </a:rPr>
              <a:t>Target the middle</a:t>
            </a:r>
          </a:p>
          <a:p>
            <a:pPr algn="l">
              <a:spcAft>
                <a:spcPts val="200"/>
              </a:spcAft>
            </a:pPr>
            <a:r>
              <a:rPr sz="1050" b="0">
                <a:solidFill>
                  <a:srgbClr val="161B26"/>
                </a:solidFill>
                <a:latin typeface="Arial"/>
              </a:rPr>
              <a:t>Growing customers respond best to upsell — they already buy.</a:t>
            </a:r>
          </a:p>
        </p:txBody>
      </p:sp>
      <p:sp>
        <p:nvSpPr>
          <p:cNvPr id="17" name="Rectangle 16"/>
          <p:cNvSpPr/>
          <p:nvPr/>
        </p:nvSpPr>
        <p:spPr>
          <a:xfrm>
            <a:off x="7955279" y="4992624"/>
            <a:ext cx="34564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4992624"/>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5" y="4992624"/>
            <a:ext cx="3072384" cy="905256"/>
          </a:xfrm>
          <a:prstGeom prst="rect">
            <a:avLst/>
          </a:prstGeom>
          <a:noFill/>
        </p:spPr>
        <p:txBody>
          <a:bodyPr wrap="square" anchor="ctr">
            <a:spAutoFit/>
          </a:bodyPr>
          <a:lstStyle/>
          <a:p>
            <a:pPr algn="l">
              <a:spcAft>
                <a:spcPts val="200"/>
              </a:spcAft>
            </a:pPr>
            <a:r>
              <a:rPr sz="1250" b="1">
                <a:solidFill>
                  <a:srgbClr val="F59E0B"/>
                </a:solidFill>
                <a:latin typeface="Arial"/>
              </a:rPr>
              <a:t>Act on at-risk</a:t>
            </a:r>
          </a:p>
          <a:p>
            <a:pPr algn="l">
              <a:spcAft>
                <a:spcPts val="200"/>
              </a:spcAft>
            </a:pPr>
            <a:r>
              <a:rPr sz="1050" b="0">
                <a:solidFill>
                  <a:srgbClr val="161B26"/>
                </a:solidFill>
                <a:latin typeface="Arial"/>
              </a:rPr>
              <a:t>Feed that segment into a win-back journey before they go dormant.</a:t>
            </a:r>
          </a:p>
        </p:txBody>
      </p:sp>
      <p:sp>
        <p:nvSpPr>
          <p:cNvPr id="20" name="Rectangle 19"/>
          <p:cNvSpPr/>
          <p:nvPr/>
        </p:nvSpPr>
        <p:spPr>
          <a:xfrm>
            <a:off x="777240" y="6035040"/>
            <a:ext cx="10634472" cy="384048"/>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6035040"/>
            <a:ext cx="10241280" cy="384048"/>
          </a:xfrm>
          <a:prstGeom prst="rect">
            <a:avLst/>
          </a:prstGeom>
          <a:noFill/>
        </p:spPr>
        <p:txBody>
          <a:bodyPr wrap="square" anchor="ctr">
            <a:spAutoFit/>
          </a:bodyPr>
          <a:lstStyle/>
          <a:p>
            <a:pPr algn="l">
              <a:spcAft>
                <a:spcPts val="400"/>
              </a:spcAft>
            </a:pPr>
            <a:r>
              <a:rPr sz="1050" b="1">
                <a:solidFill>
                  <a:srgbClr val="1F6FEB"/>
                </a:solidFill>
                <a:latin typeface="Arial"/>
              </a:rPr>
              <a:t>WHAT THE DATA SHOWS   </a:t>
            </a:r>
            <a:r>
              <a:rPr sz="1200" b="0">
                <a:solidFill>
                  <a:srgbClr val="161B26"/>
                </a:solidFill>
                <a:latin typeface="Arial"/>
              </a:rPr>
              <a:t>The measure defines the segment; the segment drives the journey — this is how data becomes marketing action.</a:t>
            </a:r>
          </a:p>
        </p:txBody>
      </p:sp>
      <p:sp>
        <p:nvSpPr>
          <p:cNvPr id="22" name="TextBox 2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3" name="TextBox 2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CAPTURING THE CUSTOMER'S VOICE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Dynamics 365 Customer Voice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Enterprise feedback management</a:t>
            </a:r>
          </a:p>
          <a:p>
            <a:pPr algn="l">
              <a:spcAft>
                <a:spcPts val="300"/>
              </a:spcAft>
            </a:pPr>
            <a:r>
              <a:rPr sz="1100" b="0">
                <a:solidFill>
                  <a:srgbClr val="5B6372"/>
                </a:solidFill>
                <a:latin typeface="Arial"/>
              </a:rPr>
              <a:t>Design, distribute and analyse surveys at scale, integrated with Dataverse.</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Four ways to distribute</a:t>
            </a:r>
          </a:p>
          <a:p>
            <a:pPr algn="l">
              <a:spcAft>
                <a:spcPts val="300"/>
              </a:spcAft>
            </a:pPr>
            <a:r>
              <a:rPr sz="1100" b="0">
                <a:solidFill>
                  <a:srgbClr val="5B6372"/>
                </a:solidFill>
                <a:latin typeface="Arial"/>
              </a:rPr>
              <a:t>Email, a shareable link, a QR code, or embedded in a web page or app.</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The metrics that matter</a:t>
            </a:r>
          </a:p>
          <a:p>
            <a:pPr algn="l">
              <a:spcAft>
                <a:spcPts val="300"/>
              </a:spcAft>
            </a:pPr>
            <a:r>
              <a:rPr sz="1100" b="0">
                <a:solidFill>
                  <a:srgbClr val="5B6372"/>
                </a:solidFill>
                <a:latin typeface="Arial"/>
              </a:rPr>
              <a:t>Customer satisfaction (CSAT), Net Promoter Score (NPS) and custom sentiment measures.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Responses are Dataverse rows</a:t>
            </a:r>
          </a:p>
          <a:p>
            <a:pPr algn="l">
              <a:spcAft>
                <a:spcPts val="300"/>
              </a:spcAft>
            </a:pPr>
            <a:r>
              <a:rPr sz="1100" b="0">
                <a:solidFill>
                  <a:srgbClr val="5B6372"/>
                </a:solidFill>
                <a:latin typeface="Arial"/>
              </a:rPr>
              <a:t>So they appear on the customer record and on service dashboards.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Automate the follow-up</a:t>
            </a:r>
          </a:p>
          <a:p>
            <a:pPr algn="l">
              <a:spcAft>
                <a:spcPts val="300"/>
              </a:spcAft>
            </a:pPr>
            <a:r>
              <a:rPr sz="1100" b="0">
                <a:solidFill>
                  <a:srgbClr val="5B6372"/>
                </a:solidFill>
                <a:latin typeface="Arial"/>
              </a:rPr>
              <a:t>A low score can trigger a journey, raise a case or alert an account manager.</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Close the loop</a:t>
            </a:r>
          </a:p>
          <a:p>
            <a:pPr algn="l">
              <a:spcAft>
                <a:spcPts val="300"/>
              </a:spcAft>
            </a:pPr>
            <a:r>
              <a:rPr sz="1100" b="0">
                <a:solidFill>
                  <a:srgbClr val="5B6372"/>
                </a:solidFill>
                <a:latin typeface="Arial"/>
              </a:rPr>
              <a:t>Feedback drives the decisions — what to fix, what to build, how to serve.</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GETTING RESPONSES YOU CAN TRUST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Survey Design — Six Best Practices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Define one objective</a:t>
            </a:r>
          </a:p>
          <a:p>
            <a:pPr algn="l">
              <a:spcAft>
                <a:spcPts val="300"/>
              </a:spcAft>
            </a:pPr>
            <a:r>
              <a:rPr sz="1100" b="0">
                <a:solidFill>
                  <a:srgbClr val="5B6372"/>
                </a:solidFill>
                <a:latin typeface="Arial"/>
              </a:rPr>
              <a:t>Know what decision the results will inform before you write a question.</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Keep it short</a:t>
            </a:r>
          </a:p>
          <a:p>
            <a:pPr algn="l">
              <a:spcAft>
                <a:spcPts val="300"/>
              </a:spcAft>
            </a:pPr>
            <a:r>
              <a:rPr sz="1100" b="0">
                <a:solidFill>
                  <a:srgbClr val="5B6372"/>
                </a:solidFill>
                <a:latin typeface="Arial"/>
              </a:rPr>
              <a:t>Completion rates fall sharply after about five questions.</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Create a logical flow</a:t>
            </a:r>
          </a:p>
          <a:p>
            <a:pPr algn="l">
              <a:spcAft>
                <a:spcPts val="300"/>
              </a:spcAft>
            </a:pPr>
            <a:r>
              <a:rPr sz="1100" b="0">
                <a:solidFill>
                  <a:srgbClr val="5B6372"/>
                </a:solidFill>
                <a:latin typeface="Arial"/>
              </a:rPr>
              <a:t>Group related questions; move from general to specific.</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Organise into pages</a:t>
            </a:r>
          </a:p>
          <a:p>
            <a:pPr algn="l">
              <a:spcAft>
                <a:spcPts val="300"/>
              </a:spcAft>
            </a:pPr>
            <a:r>
              <a:rPr sz="1100" b="0">
                <a:solidFill>
                  <a:srgbClr val="5B6372"/>
                </a:solidFill>
                <a:latin typeface="Arial"/>
              </a:rPr>
              <a:t>Use sections and branching so people only see relevant questions.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Preview before you send</a:t>
            </a:r>
          </a:p>
          <a:p>
            <a:pPr algn="l">
              <a:spcAft>
                <a:spcPts val="300"/>
              </a:spcAft>
            </a:pPr>
            <a:r>
              <a:rPr sz="1100" b="0">
                <a:solidFill>
                  <a:srgbClr val="5B6372"/>
                </a:solidFill>
                <a:latin typeface="Arial"/>
              </a:rPr>
              <a:t>Test on desktop AND mobile — most responses arrive on a phone.</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Set expectations</a:t>
            </a:r>
          </a:p>
          <a:p>
            <a:pPr algn="l">
              <a:spcAft>
                <a:spcPts val="300"/>
              </a:spcAft>
            </a:pPr>
            <a:r>
              <a:rPr sz="1100" b="0">
                <a:solidFill>
                  <a:srgbClr val="5B6372"/>
                </a:solidFill>
                <a:latin typeface="Arial"/>
              </a:rPr>
              <a:t>Say how long it takes and what you will do with the answers.</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4 — Unify Customer Data and Capture Feedback with Customer Voice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4  ·  45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Contoso's loyalty data, e-commerce orders and CRM contacts describe the same people under different keys. You walk the Customer Insights – Data unification pipeline to produce one profile per customer, define a lifetime-value measure and a high-value segment, then build and distribute a Customer Voice satisfaction survey and read the results. This gives you the customer insight LO4 asks you to draw.</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Ingest the three source data sets</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Map, match and merge to unified profiles</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Define activities and a lifetime-value measure</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Build a high-value segment from the measure</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send and analyse a Customer Voice survey</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 unified customer profile set from three sources, a customer lifetime-value measure, a high-value segment, and a published Customer Voice survey with a satisfaction metric.</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Dynamics 365 Customer Insights – Data, Dataverse, Dynamics 365 Customer Voice, Power BI</a:t>
            </a:r>
            <a:r>
              <a:rPr sz="1150" b="0">
                <a:solidFill>
                  <a:srgbClr val="5B6372"/>
                </a:solidFill>
                <a:latin typeface="Arial"/>
              </a:rPr>
              <a:t>     ·     Full step-by-step: Learner Guide, Lab 4</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RECAP &amp; Q&amp;A</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End of Day 1</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Tomorrow: Sales, Customer Service and Field Service — then the assessment.</a:t>
            </a:r>
          </a:p>
        </p:txBody>
      </p:sp>
      <p:sp>
        <p:nvSpPr>
          <p:cNvPr id="7" name="TextBox 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 name="TextBox 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WELCOME BACK</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Day 2</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Sales, Customer Service, Field Service — and the final assessment.</a:t>
            </a:r>
          </a:p>
        </p:txBody>
      </p:sp>
      <p:sp>
        <p:nvSpPr>
          <p:cNvPr id="7" name="TextBox 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 name="TextBox 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Explore Dynamics 365 Sales</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Sales use cases · the sales lifecycle · leads and qualification · opportunity management · quotes, orders, invoices · business process flows · sales accelerator</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05</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STAGES, FIVE RECORDS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Sales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ales_lifecycle.png"/>
          <p:cNvPicPr>
            <a:picLocks noChangeAspect="1"/>
          </p:cNvPicPr>
          <p:nvPr/>
        </p:nvPicPr>
        <p:blipFill>
          <a:blip r:embed="rId2"/>
          <a:stretch>
            <a:fillRect/>
          </a:stretch>
        </p:blipFill>
        <p:spPr>
          <a:xfrm>
            <a:off x="777240" y="2663574"/>
            <a:ext cx="5852160" cy="2582412"/>
          </a:xfrm>
          <a:prstGeom prst="rect">
            <a:avLst/>
          </a:prstGeom>
        </p:spPr>
      </p:pic>
      <p:sp>
        <p:nvSpPr>
          <p:cNvPr id="8" name="Rectangle 7"/>
          <p:cNvSpPr/>
          <p:nvPr/>
        </p:nvSpPr>
        <p:spPr>
          <a:xfrm>
            <a:off x="6903720" y="1783080"/>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0372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41464" y="1783080"/>
            <a:ext cx="4087368" cy="737006"/>
          </a:xfrm>
          <a:prstGeom prst="rect">
            <a:avLst/>
          </a:prstGeom>
          <a:noFill/>
        </p:spPr>
        <p:txBody>
          <a:bodyPr wrap="square" anchor="ctr">
            <a:spAutoFit/>
          </a:bodyPr>
          <a:lstStyle/>
          <a:p>
            <a:pPr algn="l">
              <a:spcAft>
                <a:spcPts val="200"/>
              </a:spcAft>
            </a:pPr>
            <a:r>
              <a:rPr sz="1300" b="1">
                <a:solidFill>
                  <a:srgbClr val="1F6FEB"/>
                </a:solidFill>
                <a:latin typeface="Arial"/>
              </a:rPr>
              <a:t>Qualify</a:t>
            </a:r>
          </a:p>
          <a:p>
            <a:pPr algn="l">
              <a:spcAft>
                <a:spcPts val="200"/>
              </a:spcAft>
            </a:pPr>
            <a:r>
              <a:rPr sz="1100" b="0">
                <a:solidFill>
                  <a:srgbClr val="161B26"/>
                </a:solidFill>
                <a:latin typeface="Arial"/>
              </a:rPr>
              <a:t>A lead is assessed: is there a real need, budget, authority and timeline?</a:t>
            </a:r>
          </a:p>
        </p:txBody>
      </p:sp>
      <p:sp>
        <p:nvSpPr>
          <p:cNvPr id="11" name="Rectangle 10"/>
          <p:cNvSpPr/>
          <p:nvPr/>
        </p:nvSpPr>
        <p:spPr>
          <a:xfrm>
            <a:off x="6903720" y="2684678"/>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0372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1464" y="2684678"/>
            <a:ext cx="4087368" cy="737006"/>
          </a:xfrm>
          <a:prstGeom prst="rect">
            <a:avLst/>
          </a:prstGeom>
          <a:noFill/>
        </p:spPr>
        <p:txBody>
          <a:bodyPr wrap="square" anchor="ctr">
            <a:spAutoFit/>
          </a:bodyPr>
          <a:lstStyle/>
          <a:p>
            <a:pPr algn="l">
              <a:spcAft>
                <a:spcPts val="200"/>
              </a:spcAft>
            </a:pPr>
            <a:r>
              <a:rPr sz="1300" b="1">
                <a:solidFill>
                  <a:srgbClr val="10B981"/>
                </a:solidFill>
                <a:latin typeface="Arial"/>
              </a:rPr>
              <a:t>Develop</a:t>
            </a:r>
          </a:p>
          <a:p>
            <a:pPr algn="l">
              <a:spcAft>
                <a:spcPts val="200"/>
              </a:spcAft>
            </a:pPr>
            <a:r>
              <a:rPr sz="1100" b="0">
                <a:solidFill>
                  <a:srgbClr val="161B26"/>
                </a:solidFill>
                <a:latin typeface="Arial"/>
              </a:rPr>
              <a:t>An opportunity is created with products, estimated revenue, stakeholders and competitors.</a:t>
            </a:r>
          </a:p>
        </p:txBody>
      </p:sp>
      <p:sp>
        <p:nvSpPr>
          <p:cNvPr id="14" name="Rectangle 13"/>
          <p:cNvSpPr/>
          <p:nvPr/>
        </p:nvSpPr>
        <p:spPr>
          <a:xfrm>
            <a:off x="6903720" y="3586276"/>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0372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41464" y="3586276"/>
            <a:ext cx="4087368" cy="737006"/>
          </a:xfrm>
          <a:prstGeom prst="rect">
            <a:avLst/>
          </a:prstGeom>
          <a:noFill/>
        </p:spPr>
        <p:txBody>
          <a:bodyPr wrap="square" anchor="ctr">
            <a:spAutoFit/>
          </a:bodyPr>
          <a:lstStyle/>
          <a:p>
            <a:pPr algn="l">
              <a:spcAft>
                <a:spcPts val="200"/>
              </a:spcAft>
            </a:pPr>
            <a:r>
              <a:rPr sz="1300" b="1">
                <a:solidFill>
                  <a:srgbClr val="7C3AED"/>
                </a:solidFill>
                <a:latin typeface="Arial"/>
              </a:rPr>
              <a:t>Propose</a:t>
            </a:r>
          </a:p>
          <a:p>
            <a:pPr algn="l">
              <a:spcAft>
                <a:spcPts val="200"/>
              </a:spcAft>
            </a:pPr>
            <a:r>
              <a:rPr sz="1100" b="0">
                <a:solidFill>
                  <a:srgbClr val="161B26"/>
                </a:solidFill>
                <a:latin typeface="Arial"/>
              </a:rPr>
              <a:t>A quote prices the products and is formally presented to the customer.</a:t>
            </a:r>
          </a:p>
        </p:txBody>
      </p:sp>
      <p:sp>
        <p:nvSpPr>
          <p:cNvPr id="17" name="Rectangle 16"/>
          <p:cNvSpPr/>
          <p:nvPr/>
        </p:nvSpPr>
        <p:spPr>
          <a:xfrm>
            <a:off x="6903720" y="4487874"/>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0372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1464" y="4487874"/>
            <a:ext cx="4087368" cy="737006"/>
          </a:xfrm>
          <a:prstGeom prst="rect">
            <a:avLst/>
          </a:prstGeom>
          <a:noFill/>
        </p:spPr>
        <p:txBody>
          <a:bodyPr wrap="square" anchor="ctr">
            <a:spAutoFit/>
          </a:bodyPr>
          <a:lstStyle/>
          <a:p>
            <a:pPr algn="l">
              <a:spcAft>
                <a:spcPts val="200"/>
              </a:spcAft>
            </a:pPr>
            <a:r>
              <a:rPr sz="1300" b="1">
                <a:solidFill>
                  <a:srgbClr val="F59E0B"/>
                </a:solidFill>
                <a:latin typeface="Arial"/>
              </a:rPr>
              <a:t>Close</a:t>
            </a:r>
          </a:p>
          <a:p>
            <a:pPr algn="l">
              <a:spcAft>
                <a:spcPts val="200"/>
              </a:spcAft>
            </a:pPr>
            <a:r>
              <a:rPr sz="1100" b="0">
                <a:solidFill>
                  <a:srgbClr val="161B26"/>
                </a:solidFill>
                <a:latin typeface="Arial"/>
              </a:rPr>
              <a:t>The customer commits: the quote is won, an order is raised and an invoice issued.</a:t>
            </a:r>
          </a:p>
        </p:txBody>
      </p:sp>
      <p:sp>
        <p:nvSpPr>
          <p:cNvPr id="20" name="Rectangle 19"/>
          <p:cNvSpPr/>
          <p:nvPr/>
        </p:nvSpPr>
        <p:spPr>
          <a:xfrm>
            <a:off x="6903720" y="5389472"/>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0372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41464" y="5389472"/>
            <a:ext cx="4087368" cy="737006"/>
          </a:xfrm>
          <a:prstGeom prst="rect">
            <a:avLst/>
          </a:prstGeom>
          <a:noFill/>
        </p:spPr>
        <p:txBody>
          <a:bodyPr wrap="square" anchor="ctr">
            <a:spAutoFit/>
          </a:bodyPr>
          <a:lstStyle/>
          <a:p>
            <a:pPr algn="l">
              <a:spcAft>
                <a:spcPts val="200"/>
              </a:spcAft>
            </a:pPr>
            <a:r>
              <a:rPr sz="1300" b="1">
                <a:solidFill>
                  <a:srgbClr val="1F6FEB"/>
                </a:solidFill>
                <a:latin typeface="Arial"/>
              </a:rPr>
              <a:t>A record at each stage</a:t>
            </a:r>
          </a:p>
          <a:p>
            <a:pPr algn="l">
              <a:spcAft>
                <a:spcPts val="200"/>
              </a:spcAft>
            </a:pPr>
            <a:r>
              <a:rPr sz="1100" b="0">
                <a:solidFill>
                  <a:srgbClr val="161B26"/>
                </a:solidFill>
                <a:latin typeface="Arial"/>
              </a:rPr>
              <a:t>Lead → Opportunity → Quote → Order → Invoice, each linked to the last.</a:t>
            </a:r>
          </a:p>
        </p:txBody>
      </p:sp>
      <p:sp>
        <p:nvSpPr>
          <p:cNvPr id="23" name="TextBox 2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4" name="TextBox 2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TOOLS THAT MOVE DEALS FORWARD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Dynamics 365 Sales Gives the Seller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AI-assisted qualification</a:t>
            </a:r>
          </a:p>
          <a:p>
            <a:pPr algn="l">
              <a:spcAft>
                <a:spcPts val="300"/>
              </a:spcAft>
            </a:pPr>
            <a:r>
              <a:rPr sz="1100" b="0">
                <a:solidFill>
                  <a:srgbClr val="5B6372"/>
                </a:solidFill>
                <a:latin typeface="Arial"/>
              </a:rPr>
              <a:t>Predictive scoring ranks leads and opportunities by likelihood to convert.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Tailorable process flows</a:t>
            </a:r>
          </a:p>
          <a:p>
            <a:pPr algn="l">
              <a:spcAft>
                <a:spcPts val="300"/>
              </a:spcAft>
            </a:pPr>
            <a:r>
              <a:rPr sz="1100" b="0">
                <a:solidFill>
                  <a:srgbClr val="5B6372"/>
                </a:solidFill>
                <a:latin typeface="Arial"/>
              </a:rPr>
              <a:t>The organisation's own sales process, enforced at the top of every form.</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The Assistant</a:t>
            </a:r>
          </a:p>
          <a:p>
            <a:pPr algn="l">
              <a:spcAft>
                <a:spcPts val="300"/>
              </a:spcAft>
            </a:pPr>
            <a:r>
              <a:rPr sz="1100" b="0">
                <a:solidFill>
                  <a:srgbClr val="5B6372"/>
                </a:solidFill>
                <a:latin typeface="Arial"/>
              </a:rPr>
              <a:t>Action cards surface what needs attention today — no deal goes quiet unnoticed.</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The Timeline</a:t>
            </a:r>
          </a:p>
          <a:p>
            <a:pPr algn="l">
              <a:spcAft>
                <a:spcPts val="300"/>
              </a:spcAft>
            </a:pPr>
            <a:r>
              <a:rPr sz="1100" b="0">
                <a:solidFill>
                  <a:srgbClr val="5B6372"/>
                </a:solidFill>
                <a:latin typeface="Arial"/>
              </a:rPr>
              <a:t>Every call, email, meeting and note against the customer, newest first.</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Product catalog</a:t>
            </a:r>
          </a:p>
          <a:p>
            <a:pPr algn="l">
              <a:spcAft>
                <a:spcPts val="300"/>
              </a:spcAft>
            </a:pPr>
            <a:r>
              <a:rPr sz="1100" b="0">
                <a:solidFill>
                  <a:srgbClr val="5B6372"/>
                </a:solidFill>
                <a:latin typeface="Arial"/>
              </a:rPr>
              <a:t>Unit groups, price lists and discount lists produce consistent, controlled pricing.</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Embedded collaboration</a:t>
            </a:r>
          </a:p>
          <a:p>
            <a:pPr algn="l">
              <a:spcAft>
                <a:spcPts val="300"/>
              </a:spcAft>
            </a:pPr>
            <a:r>
              <a:rPr sz="1100" b="0">
                <a:solidFill>
                  <a:srgbClr val="5B6372"/>
                </a:solidFill>
                <a:latin typeface="Arial"/>
              </a:rPr>
              <a:t>Teams, Outlook, SharePoint, OneDrive and Office documents in the flow of work.</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CRITICAL DISTINCTION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Leads vs Opportunities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7C3AED"/>
                </a:solidFill>
                <a:latin typeface="Arial"/>
              </a:rPr>
              <a:t>Lead — viability</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Opportunity — revenue</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Lead — is this worth pursuing?</a:t>
            </a:r>
          </a:p>
          <a:p>
            <a:pPr>
              <a:spcAft>
                <a:spcPts val="1000"/>
              </a:spcAft>
            </a:pPr>
            <a:r>
              <a:rPr sz="1200" b="0">
                <a:solidFill>
                  <a:srgbClr val="5B6372"/>
                </a:solidFill>
                <a:latin typeface="Arial"/>
              </a:rPr>
              <a:t>–  An unqualified prospect: a name, a company, an interest</a:t>
            </a:r>
          </a:p>
          <a:p>
            <a:pPr>
              <a:spcAft>
                <a:spcPts val="1000"/>
              </a:spcAft>
            </a:pPr>
            <a:r>
              <a:rPr sz="1200" b="0">
                <a:solidFill>
                  <a:srgbClr val="5B6372"/>
                </a:solidFill>
                <a:latin typeface="Arial"/>
              </a:rPr>
              <a:t>–  Goal: determine VIABILITY</a:t>
            </a:r>
          </a:p>
          <a:p>
            <a:pPr>
              <a:spcAft>
                <a:spcPts val="1000"/>
              </a:spcAft>
            </a:pPr>
            <a:r>
              <a:rPr sz="1200" b="0">
                <a:solidFill>
                  <a:srgbClr val="5B6372"/>
                </a:solidFill>
                <a:latin typeface="Arial"/>
              </a:rPr>
              <a:t>–  Gather information, make contact, decide</a:t>
            </a:r>
          </a:p>
          <a:p>
            <a:pPr>
              <a:spcAft>
                <a:spcPts val="1000"/>
              </a:spcAft>
            </a:pPr>
            <a:r>
              <a:rPr sz="1200" b="0">
                <a:solidFill>
                  <a:srgbClr val="5B6372"/>
                </a:solidFill>
                <a:latin typeface="Arial"/>
              </a:rPr>
              <a:t>–  Outcome: Qualified (creates account, contact, opportunity) or Disqualified</a:t>
            </a:r>
          </a:p>
          <a:p>
            <a:pPr>
              <a:spcAft>
                <a:spcPts val="1000"/>
              </a:spcAft>
            </a:pPr>
            <a:r>
              <a:rPr sz="1200" b="0">
                <a:solidFill>
                  <a:srgbClr val="5B6372"/>
                </a:solidFill>
                <a:latin typeface="Arial"/>
              </a:rPr>
              <a:t>–  Disqualify reasons: lost, cannot contact, no longer interested, cancelled</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Opportunity — how much and when?</a:t>
            </a:r>
          </a:p>
          <a:p>
            <a:pPr>
              <a:spcAft>
                <a:spcPts val="1000"/>
              </a:spcAft>
            </a:pPr>
            <a:r>
              <a:rPr sz="1200" b="0">
                <a:solidFill>
                  <a:srgbClr val="5B6372"/>
                </a:solidFill>
                <a:latin typeface="Arial"/>
              </a:rPr>
              <a:t>–  A qualified deal you are actively working</a:t>
            </a:r>
          </a:p>
          <a:p>
            <a:pPr>
              <a:spcAft>
                <a:spcPts val="1000"/>
              </a:spcAft>
            </a:pPr>
            <a:r>
              <a:rPr sz="1200" b="0">
                <a:solidFill>
                  <a:srgbClr val="5B6372"/>
                </a:solidFill>
                <a:latin typeface="Arial"/>
              </a:rPr>
              <a:t>–  Goal: WIN the revenue</a:t>
            </a:r>
          </a:p>
          <a:p>
            <a:pPr>
              <a:spcAft>
                <a:spcPts val="1000"/>
              </a:spcAft>
            </a:pPr>
            <a:r>
              <a:rPr sz="1200" b="0">
                <a:solidFill>
                  <a:srgbClr val="5B6372"/>
                </a:solidFill>
                <a:latin typeface="Arial"/>
              </a:rPr>
              <a:t>–  Estimated revenue, close date, products, probability</a:t>
            </a:r>
          </a:p>
          <a:p>
            <a:pPr>
              <a:spcAft>
                <a:spcPts val="1000"/>
              </a:spcAft>
            </a:pPr>
            <a:r>
              <a:rPr sz="1200" b="0">
                <a:solidFill>
                  <a:srgbClr val="5B6372"/>
                </a:solidFill>
                <a:latin typeface="Arial"/>
              </a:rPr>
              <a:t>–  Stakeholders, competitors, sales team, quotes</a:t>
            </a:r>
          </a:p>
          <a:p>
            <a:pPr>
              <a:spcAft>
                <a:spcPts val="1000"/>
              </a:spcAft>
            </a:pPr>
            <a:r>
              <a:rPr sz="1200" b="0">
                <a:solidFill>
                  <a:srgbClr val="5B6372"/>
                </a:solidFill>
                <a:latin typeface="Arial"/>
              </a:rPr>
              <a:t>–  Outcome: Won (actual revenue recorded) or Lost (with a reason)</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Qualifying a lead is a one-way door: Dynamics 365 creates the downstream records and closes the lead as Qualified.</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DISCIPLINE THAT WINS DEALS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Managing an Opportunity Well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Assign and share</a:t>
            </a:r>
          </a:p>
          <a:p>
            <a:pPr algn="l">
              <a:spcAft>
                <a:spcPts val="300"/>
              </a:spcAft>
            </a:pPr>
            <a:r>
              <a:rPr sz="1100" b="0">
                <a:solidFill>
                  <a:srgbClr val="5B6372"/>
                </a:solidFill>
                <a:latin typeface="Arial"/>
              </a:rPr>
              <a:t>Give it to the right seller or team; add a sales team for collaborative deals.</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Track products</a:t>
            </a:r>
          </a:p>
          <a:p>
            <a:pPr algn="l">
              <a:spcAft>
                <a:spcPts val="300"/>
              </a:spcAft>
            </a:pPr>
            <a:r>
              <a:rPr sz="1100" b="0">
                <a:solidFill>
                  <a:srgbClr val="5B6372"/>
                </a:solidFill>
                <a:latin typeface="Arial"/>
              </a:rPr>
              <a:t>Line items from the catalog, or write-in products for one-off requirements.</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Attach literature</a:t>
            </a:r>
          </a:p>
          <a:p>
            <a:pPr algn="l">
              <a:spcAft>
                <a:spcPts val="300"/>
              </a:spcAft>
            </a:pPr>
            <a:r>
              <a:rPr sz="1100" b="0">
                <a:solidFill>
                  <a:srgbClr val="5B6372"/>
                </a:solidFill>
                <a:latin typeface="Arial"/>
              </a:rPr>
              <a:t>Send the customer the right brochures, specs and case studies.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Record stakeholders</a:t>
            </a:r>
          </a:p>
          <a:p>
            <a:pPr algn="l">
              <a:spcAft>
                <a:spcPts val="300"/>
              </a:spcAft>
            </a:pPr>
            <a:r>
              <a:rPr sz="1100" b="0">
                <a:solidFill>
                  <a:srgbClr val="5B6372"/>
                </a:solidFill>
                <a:latin typeface="Arial"/>
              </a:rPr>
              <a:t>Who decides, who influences, who blocks — and their role on the deal.</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Log competitors</a:t>
            </a:r>
          </a:p>
          <a:p>
            <a:pPr algn="l">
              <a:spcAft>
                <a:spcPts val="300"/>
              </a:spcAft>
            </a:pPr>
            <a:r>
              <a:rPr sz="1100" b="0">
                <a:solidFill>
                  <a:srgbClr val="5B6372"/>
                </a:solidFill>
                <a:latin typeface="Arial"/>
              </a:rPr>
              <a:t>Who else is bidding, and the strengths and weaknesses you must answer.</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Keep the close date honest</a:t>
            </a:r>
          </a:p>
          <a:p>
            <a:pPr algn="l">
              <a:spcAft>
                <a:spcPts val="300"/>
              </a:spcAft>
            </a:pPr>
            <a:r>
              <a:rPr sz="1100" b="0">
                <a:solidFill>
                  <a:srgbClr val="5B6372"/>
                </a:solidFill>
                <a:latin typeface="Arial"/>
              </a:rPr>
              <a:t>The forecast is only as good as the dates sellers maintain.</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SALES ORDER PROCESSING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Quote → Order → Invoice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92808"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9280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67028" y="2606040"/>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67028" y="2606040"/>
            <a:ext cx="713232" cy="713232"/>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1" name="TextBox 10"/>
          <p:cNvSpPr txBox="1"/>
          <p:nvPr/>
        </p:nvSpPr>
        <p:spPr>
          <a:xfrm>
            <a:off x="905256" y="3566160"/>
            <a:ext cx="1636776" cy="1325880"/>
          </a:xfrm>
          <a:prstGeom prst="rect">
            <a:avLst/>
          </a:prstGeom>
          <a:noFill/>
        </p:spPr>
        <p:txBody>
          <a:bodyPr wrap="square" anchor="t">
            <a:spAutoFit/>
          </a:bodyPr>
          <a:lstStyle/>
          <a:p>
            <a:pPr algn="ctr">
              <a:spcAft>
                <a:spcPts val="400"/>
              </a:spcAft>
            </a:pPr>
            <a:r>
              <a:rPr sz="1250" b="0">
                <a:solidFill>
                  <a:srgbClr val="161B26"/>
                </a:solidFill>
                <a:latin typeface="Arial"/>
              </a:rPr>
              <a:t>DRAFT quote: build the line items, pricing and discounts</a:t>
            </a:r>
          </a:p>
        </p:txBody>
      </p:sp>
      <p:sp>
        <p:nvSpPr>
          <p:cNvPr id="12" name="TextBox 11"/>
          <p:cNvSpPr txBox="1"/>
          <p:nvPr/>
        </p:nvSpPr>
        <p:spPr>
          <a:xfrm>
            <a:off x="2633472" y="3360420"/>
            <a:ext cx="365760"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3" name="Rectangle 12"/>
          <p:cNvSpPr/>
          <p:nvPr/>
        </p:nvSpPr>
        <p:spPr>
          <a:xfrm>
            <a:off x="2962656" y="2240280"/>
            <a:ext cx="1892808"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2240280"/>
            <a:ext cx="189280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606040"/>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606040"/>
            <a:ext cx="713232" cy="713232"/>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7" name="TextBox 16"/>
          <p:cNvSpPr txBox="1"/>
          <p:nvPr/>
        </p:nvSpPr>
        <p:spPr>
          <a:xfrm>
            <a:off x="3090672" y="3566160"/>
            <a:ext cx="1636776" cy="1325880"/>
          </a:xfrm>
          <a:prstGeom prst="rect">
            <a:avLst/>
          </a:prstGeom>
          <a:noFill/>
        </p:spPr>
        <p:txBody>
          <a:bodyPr wrap="square" anchor="t">
            <a:spAutoFit/>
          </a:bodyPr>
          <a:lstStyle/>
          <a:p>
            <a:pPr algn="ctr">
              <a:spcAft>
                <a:spcPts val="400"/>
              </a:spcAft>
            </a:pPr>
            <a:r>
              <a:rPr sz="1250" b="0">
                <a:solidFill>
                  <a:srgbClr val="161B26"/>
                </a:solidFill>
                <a:latin typeface="Arial"/>
              </a:rPr>
              <a:t>ACTIVATE the quote: it becomes read-only and is sent to the customer</a:t>
            </a:r>
          </a:p>
        </p:txBody>
      </p:sp>
      <p:sp>
        <p:nvSpPr>
          <p:cNvPr id="18" name="TextBox 17"/>
          <p:cNvSpPr txBox="1"/>
          <p:nvPr/>
        </p:nvSpPr>
        <p:spPr>
          <a:xfrm>
            <a:off x="4818888" y="3360420"/>
            <a:ext cx="365760"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9" name="Rectangle 18"/>
          <p:cNvSpPr/>
          <p:nvPr/>
        </p:nvSpPr>
        <p:spPr>
          <a:xfrm>
            <a:off x="5148072" y="2240280"/>
            <a:ext cx="1892808"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8072" y="2240280"/>
            <a:ext cx="189280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60" y="2606040"/>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60" y="2606040"/>
            <a:ext cx="713232" cy="713232"/>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3" name="TextBox 22"/>
          <p:cNvSpPr txBox="1"/>
          <p:nvPr/>
        </p:nvSpPr>
        <p:spPr>
          <a:xfrm>
            <a:off x="5276088" y="3566160"/>
            <a:ext cx="1636776" cy="1325880"/>
          </a:xfrm>
          <a:prstGeom prst="rect">
            <a:avLst/>
          </a:prstGeom>
          <a:noFill/>
        </p:spPr>
        <p:txBody>
          <a:bodyPr wrap="square" anchor="t">
            <a:spAutoFit/>
          </a:bodyPr>
          <a:lstStyle/>
          <a:p>
            <a:pPr algn="ctr">
              <a:spcAft>
                <a:spcPts val="400"/>
              </a:spcAft>
            </a:pPr>
            <a:r>
              <a:rPr sz="1250" b="0">
                <a:solidFill>
                  <a:srgbClr val="161B26"/>
                </a:solidFill>
                <a:latin typeface="Arial"/>
              </a:rPr>
              <a:t>REVISE if the customer negotiates — this creates a new revision</a:t>
            </a:r>
          </a:p>
        </p:txBody>
      </p:sp>
      <p:sp>
        <p:nvSpPr>
          <p:cNvPr id="24" name="TextBox 23"/>
          <p:cNvSpPr txBox="1"/>
          <p:nvPr/>
        </p:nvSpPr>
        <p:spPr>
          <a:xfrm>
            <a:off x="7004304" y="3360420"/>
            <a:ext cx="365760"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5" name="Rectangle 24"/>
          <p:cNvSpPr/>
          <p:nvPr/>
        </p:nvSpPr>
        <p:spPr>
          <a:xfrm>
            <a:off x="7333488" y="2240280"/>
            <a:ext cx="1892808"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33488" y="2240280"/>
            <a:ext cx="189280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23276" y="2606040"/>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23276" y="2606040"/>
            <a:ext cx="713232" cy="713232"/>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9" name="TextBox 28"/>
          <p:cNvSpPr txBox="1"/>
          <p:nvPr/>
        </p:nvSpPr>
        <p:spPr>
          <a:xfrm>
            <a:off x="7461504" y="3566160"/>
            <a:ext cx="1636776" cy="1325880"/>
          </a:xfrm>
          <a:prstGeom prst="rect">
            <a:avLst/>
          </a:prstGeom>
          <a:noFill/>
        </p:spPr>
        <p:txBody>
          <a:bodyPr wrap="square" anchor="t">
            <a:spAutoFit/>
          </a:bodyPr>
          <a:lstStyle/>
          <a:p>
            <a:pPr algn="ctr">
              <a:spcAft>
                <a:spcPts val="400"/>
              </a:spcAft>
            </a:pPr>
            <a:r>
              <a:rPr sz="1250" b="0">
                <a:solidFill>
                  <a:srgbClr val="161B26"/>
                </a:solidFill>
                <a:latin typeface="Arial"/>
              </a:rPr>
              <a:t>WIN the quote: the customer accepts and an ORDER is created</a:t>
            </a:r>
          </a:p>
        </p:txBody>
      </p:sp>
      <p:sp>
        <p:nvSpPr>
          <p:cNvPr id="30" name="TextBox 29"/>
          <p:cNvSpPr txBox="1"/>
          <p:nvPr/>
        </p:nvSpPr>
        <p:spPr>
          <a:xfrm>
            <a:off x="9189720" y="3360420"/>
            <a:ext cx="365760"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1" name="Rectangle 30"/>
          <p:cNvSpPr/>
          <p:nvPr/>
        </p:nvSpPr>
        <p:spPr>
          <a:xfrm>
            <a:off x="9518904" y="2240280"/>
            <a:ext cx="1892808" cy="2788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18904" y="2240280"/>
            <a:ext cx="189280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8692" y="2606040"/>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8692" y="2606040"/>
            <a:ext cx="713232" cy="713232"/>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5" name="TextBox 34"/>
          <p:cNvSpPr txBox="1"/>
          <p:nvPr/>
        </p:nvSpPr>
        <p:spPr>
          <a:xfrm>
            <a:off x="9646920" y="3566160"/>
            <a:ext cx="1636776" cy="1325880"/>
          </a:xfrm>
          <a:prstGeom prst="rect">
            <a:avLst/>
          </a:prstGeom>
          <a:noFill/>
        </p:spPr>
        <p:txBody>
          <a:bodyPr wrap="square" anchor="t">
            <a:spAutoFit/>
          </a:bodyPr>
          <a:lstStyle/>
          <a:p>
            <a:pPr algn="ctr">
              <a:spcAft>
                <a:spcPts val="400"/>
              </a:spcAft>
            </a:pPr>
            <a:r>
              <a:rPr sz="1250" b="0">
                <a:solidFill>
                  <a:srgbClr val="161B26"/>
                </a:solidFill>
                <a:latin typeface="Arial"/>
              </a:rPr>
              <a:t>INVOICE the order, then mark it paid — Complete (in full) or Partial</a:t>
            </a:r>
          </a:p>
        </p:txBody>
      </p:sp>
      <p:sp>
        <p:nvSpPr>
          <p:cNvPr id="36" name="TextBox 35"/>
          <p:cNvSpPr txBox="1"/>
          <p:nvPr/>
        </p:nvSpPr>
        <p:spPr>
          <a:xfrm>
            <a:off x="777240" y="5349240"/>
            <a:ext cx="10698480" cy="731520"/>
          </a:xfrm>
          <a:prstGeom prst="rect">
            <a:avLst/>
          </a:prstGeom>
          <a:noFill/>
        </p:spPr>
        <p:txBody>
          <a:bodyPr wrap="square" anchor="t">
            <a:spAutoFit/>
          </a:bodyPr>
          <a:lstStyle/>
          <a:p>
            <a:pPr algn="ctr">
              <a:spcAft>
                <a:spcPts val="400"/>
              </a:spcAft>
            </a:pPr>
            <a:r>
              <a:rPr sz="1300" b="0">
                <a:solidFill>
                  <a:srgbClr val="5B6372"/>
                </a:solidFill>
                <a:latin typeface="Arial"/>
              </a:rPr>
              <a:t>A quote defines pricing and quantities. An order is the customer's commitment to buy. An invoice is the request for payment.</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GUIDING PEOPLE THROUGH THE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Business Process Flows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Stages and steps</a:t>
            </a:r>
          </a:p>
          <a:p>
            <a:pPr algn="l">
              <a:spcAft>
                <a:spcPts val="300"/>
              </a:spcAft>
            </a:pPr>
            <a:r>
              <a:rPr sz="1100" b="0">
                <a:solidFill>
                  <a:srgbClr val="5B6372"/>
                </a:solidFill>
                <a:latin typeface="Arial"/>
              </a:rPr>
              <a:t>A stage is a phase of work; steps are the fields that must be completed within it.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Always visible</a:t>
            </a:r>
          </a:p>
          <a:p>
            <a:pPr algn="l">
              <a:spcAft>
                <a:spcPts val="300"/>
              </a:spcAft>
            </a:pPr>
            <a:r>
              <a:rPr sz="1100" b="0">
                <a:solidFill>
                  <a:srgbClr val="5B6372"/>
                </a:solidFill>
                <a:latin typeface="Arial"/>
              </a:rPr>
              <a:t>The flow sits at the top of the form, so the next action is never in doubt.</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Consistent execution</a:t>
            </a:r>
          </a:p>
          <a:p>
            <a:pPr algn="l">
              <a:spcAft>
                <a:spcPts val="300"/>
              </a:spcAft>
            </a:pPr>
            <a:r>
              <a:rPr sz="1100" b="0">
                <a:solidFill>
                  <a:srgbClr val="5B6372"/>
                </a:solidFill>
                <a:latin typeface="Arial"/>
              </a:rPr>
              <a:t>New sellers follow the same proven process as the experienced ones.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Cross-table</a:t>
            </a:r>
          </a:p>
          <a:p>
            <a:pPr algn="l">
              <a:spcAft>
                <a:spcPts val="300"/>
              </a:spcAft>
            </a:pPr>
            <a:r>
              <a:rPr sz="1100" b="0">
                <a:solidFill>
                  <a:srgbClr val="5B6372"/>
                </a:solidFill>
                <a:latin typeface="Arial"/>
              </a:rPr>
              <a:t>One flow can span lead → opportunity → quote, carrying context across records.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Configurable, not code</a:t>
            </a:r>
          </a:p>
          <a:p>
            <a:pPr algn="l">
              <a:spcAft>
                <a:spcPts val="300"/>
              </a:spcAft>
            </a:pPr>
            <a:r>
              <a:rPr sz="1100" b="0">
                <a:solidFill>
                  <a:srgbClr val="5B6372"/>
                </a:solidFill>
                <a:latin typeface="Arial"/>
              </a:rPr>
              <a:t>Business analysts change the process without a developer.</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The default flow</a:t>
            </a:r>
          </a:p>
          <a:p>
            <a:pPr algn="l">
              <a:spcAft>
                <a:spcPts val="300"/>
              </a:spcAft>
            </a:pPr>
            <a:r>
              <a:rPr sz="1100" b="0">
                <a:solidFill>
                  <a:srgbClr val="5B6372"/>
                </a:solidFill>
                <a:latin typeface="Arial"/>
              </a:rPr>
              <a:t>'Lead to Opportunity Sales Process' — Qualify, Develop, Propose, Close.</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MINIMISING THE TIME BETWEEN SALES ACTIONS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Sales Accelerator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One prioritised work list</a:t>
            </a:r>
          </a:p>
          <a:p>
            <a:pPr algn="l">
              <a:spcAft>
                <a:spcPts val="300"/>
              </a:spcAft>
            </a:pPr>
            <a:r>
              <a:rPr sz="1100" b="0">
                <a:solidFill>
                  <a:srgbClr val="5B6372"/>
                </a:solidFill>
                <a:latin typeface="Arial"/>
              </a:rPr>
              <a:t>The seller opens one screen and knows exactly who to contact next.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Sequences</a:t>
            </a:r>
          </a:p>
          <a:p>
            <a:pPr algn="l">
              <a:spcAft>
                <a:spcPts val="300"/>
              </a:spcAft>
            </a:pPr>
            <a:r>
              <a:rPr sz="1100" b="0">
                <a:solidFill>
                  <a:srgbClr val="5B6372"/>
                </a:solidFill>
                <a:latin typeface="Arial"/>
              </a:rPr>
              <a:t>A defined set of consecutive activities — call, wait, email, wait, LinkedIn — applied to records.</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Multi-channel from one place</a:t>
            </a:r>
          </a:p>
          <a:p>
            <a:pPr algn="l">
              <a:spcAft>
                <a:spcPts val="300"/>
              </a:spcAft>
            </a:pPr>
            <a:r>
              <a:rPr sz="1100" b="0">
                <a:solidFill>
                  <a:srgbClr val="5B6372"/>
                </a:solidFill>
                <a:latin typeface="Arial"/>
              </a:rPr>
              <a:t>Phone, email, SMS and LinkedIn actions without leaving the workspace.</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Context travels with you</a:t>
            </a:r>
          </a:p>
          <a:p>
            <a:pPr algn="l">
              <a:spcAft>
                <a:spcPts val="300"/>
              </a:spcAft>
            </a:pPr>
            <a:r>
              <a:rPr sz="1100" b="0">
                <a:solidFill>
                  <a:srgbClr val="5B6372"/>
                </a:solidFill>
                <a:latin typeface="Arial"/>
              </a:rPr>
              <a:t>The record, its timeline and the customer's history sit beside the action.</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Sequence analytics</a:t>
            </a:r>
          </a:p>
          <a:p>
            <a:pPr algn="l">
              <a:spcAft>
                <a:spcPts val="300"/>
              </a:spcAft>
            </a:pPr>
            <a:r>
              <a:rPr sz="1100" b="0">
                <a:solidFill>
                  <a:srgbClr val="5B6372"/>
                </a:solidFill>
                <a:latin typeface="Arial"/>
              </a:rPr>
              <a:t>Monitor which steps convert and which are ignored, then improve the sequence.</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Less searching, more selling</a:t>
            </a:r>
          </a:p>
          <a:p>
            <a:pPr algn="l">
              <a:spcAft>
                <a:spcPts val="300"/>
              </a:spcAft>
            </a:pPr>
            <a:r>
              <a:rPr sz="1100" b="0">
                <a:solidFill>
                  <a:srgbClr val="5B6372"/>
                </a:solidFill>
                <a:latin typeface="Arial"/>
              </a:rPr>
              <a:t>The measurable win: time spent deciding who to call drops to near zero.</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5 — Run the Lead-to-Cash Cycle: Lead, Opportunity, Quote,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5  ·  60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Suzanne Burke of Contoso - Washington has enquired about new espresso equipment. You take that enquiry through the entire sales lifecycle: capture the lead, work the Lead to Opportunity business process flow, qualify it into an opportunity, add products from the catalog, generate a quote, activate and win it, convert to an order and raise the invoice. This is the LO1/LO3 backbone of the course.</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the lead and complete the Qualify stage</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Log activities and qualify into an opportunity</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Add catalog products and estimated revenue</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activate and win the quote</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Convert to an order and generate the invoice</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 qualified lead, an opportunity with product line items and estimated revenue, an activated and won quote, a sales order and an invoice — with the business process flow advanced to Close.</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Dynamics 365 Sales Hub, Dataverse, business process flows, product catalog, quotes, orders, invoices</a:t>
            </a:r>
            <a:r>
              <a:rPr sz="1150" b="0">
                <a:solidFill>
                  <a:srgbClr val="5B6372"/>
                </a:solidFill>
                <a:latin typeface="Arial"/>
              </a:rPr>
              <a:t>     ·     Full step-by-step: Learner Guide, Lab 5</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06</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Dynamics 365 Sales Capabilities and Related Apps</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Sales pipeline and forecasting · Sales Insights (standard vs premium) · LinkedIn Sales Navigator · the Sales mobile app · Microsoft 365 Copilot for Sales</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06</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LEADING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Reading the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ipeline_chart.png"/>
          <p:cNvPicPr>
            <a:picLocks noChangeAspect="1"/>
          </p:cNvPicPr>
          <p:nvPr/>
        </p:nvPicPr>
        <p:blipFill>
          <a:blip r:embed="rId2"/>
          <a:stretch>
            <a:fillRect/>
          </a:stretch>
        </p:blipFill>
        <p:spPr>
          <a:xfrm>
            <a:off x="777240" y="2186740"/>
            <a:ext cx="6035040" cy="3536079"/>
          </a:xfrm>
          <a:prstGeom prst="rect">
            <a:avLst/>
          </a:prstGeom>
        </p:spPr>
      </p:pic>
      <p:sp>
        <p:nvSpPr>
          <p:cNvPr id="8" name="Rectangle 7"/>
          <p:cNvSpPr/>
          <p:nvPr/>
        </p:nvSpPr>
        <p:spPr>
          <a:xfrm>
            <a:off x="7086600" y="1783080"/>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8660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24344" y="1783080"/>
            <a:ext cx="3904488" cy="962406"/>
          </a:xfrm>
          <a:prstGeom prst="rect">
            <a:avLst/>
          </a:prstGeom>
          <a:noFill/>
        </p:spPr>
        <p:txBody>
          <a:bodyPr wrap="square" anchor="ctr">
            <a:spAutoFit/>
          </a:bodyPr>
          <a:lstStyle/>
          <a:p>
            <a:pPr algn="l">
              <a:spcAft>
                <a:spcPts val="200"/>
              </a:spcAft>
            </a:pPr>
            <a:r>
              <a:rPr sz="1300" b="1">
                <a:solidFill>
                  <a:srgbClr val="1F6FEB"/>
                </a:solidFill>
                <a:latin typeface="Arial"/>
              </a:rPr>
              <a:t>Position = time</a:t>
            </a:r>
          </a:p>
          <a:p>
            <a:pPr algn="l">
              <a:spcAft>
                <a:spcPts val="200"/>
              </a:spcAft>
            </a:pPr>
            <a:r>
              <a:rPr sz="1100" b="0">
                <a:solidFill>
                  <a:srgbClr val="161B26"/>
                </a:solidFill>
                <a:latin typeface="Arial"/>
              </a:rPr>
              <a:t>Deals are plotted by estimated close date — the near-term crunch is visible instantly.</a:t>
            </a:r>
          </a:p>
        </p:txBody>
      </p:sp>
      <p:sp>
        <p:nvSpPr>
          <p:cNvPr id="11" name="Rectangle 10"/>
          <p:cNvSpPr/>
          <p:nvPr/>
        </p:nvSpPr>
        <p:spPr>
          <a:xfrm>
            <a:off x="7086600" y="2910078"/>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86600" y="2910078"/>
            <a:ext cx="82296" cy="9624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24344" y="2910078"/>
            <a:ext cx="3904488" cy="962406"/>
          </a:xfrm>
          <a:prstGeom prst="rect">
            <a:avLst/>
          </a:prstGeom>
          <a:noFill/>
        </p:spPr>
        <p:txBody>
          <a:bodyPr wrap="square" anchor="ctr">
            <a:spAutoFit/>
          </a:bodyPr>
          <a:lstStyle/>
          <a:p>
            <a:pPr algn="l">
              <a:spcAft>
                <a:spcPts val="200"/>
              </a:spcAft>
            </a:pPr>
            <a:r>
              <a:rPr sz="1300" b="1">
                <a:solidFill>
                  <a:srgbClr val="10B981"/>
                </a:solidFill>
                <a:latin typeface="Arial"/>
              </a:rPr>
              <a:t>Size = value</a:t>
            </a:r>
          </a:p>
          <a:p>
            <a:pPr algn="l">
              <a:spcAft>
                <a:spcPts val="200"/>
              </a:spcAft>
            </a:pPr>
            <a:r>
              <a:rPr sz="1100" b="0">
                <a:solidFill>
                  <a:srgbClr val="161B26"/>
                </a:solidFill>
                <a:latin typeface="Arial"/>
              </a:rPr>
              <a:t>The bigger the circle, the bigger the deal. Two big circles can outweigh twenty small ones.</a:t>
            </a:r>
          </a:p>
        </p:txBody>
      </p:sp>
      <p:sp>
        <p:nvSpPr>
          <p:cNvPr id="14" name="Rectangle 13"/>
          <p:cNvSpPr/>
          <p:nvPr/>
        </p:nvSpPr>
        <p:spPr>
          <a:xfrm>
            <a:off x="7086600" y="4037076"/>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8660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4344" y="4037076"/>
            <a:ext cx="3904488" cy="962406"/>
          </a:xfrm>
          <a:prstGeom prst="rect">
            <a:avLst/>
          </a:prstGeom>
          <a:noFill/>
        </p:spPr>
        <p:txBody>
          <a:bodyPr wrap="square" anchor="ctr">
            <a:spAutoFit/>
          </a:bodyPr>
          <a:lstStyle/>
          <a:p>
            <a:pPr algn="l">
              <a:spcAft>
                <a:spcPts val="200"/>
              </a:spcAft>
            </a:pPr>
            <a:r>
              <a:rPr sz="1300" b="1">
                <a:solidFill>
                  <a:srgbClr val="7C3AED"/>
                </a:solidFill>
                <a:latin typeface="Arial"/>
              </a:rPr>
              <a:t>Colour = confidence</a:t>
            </a:r>
          </a:p>
          <a:p>
            <a:pPr algn="l">
              <a:spcAft>
                <a:spcPts val="200"/>
              </a:spcAft>
            </a:pPr>
            <a:r>
              <a:rPr sz="1100" b="0">
                <a:solidFill>
                  <a:srgbClr val="161B26"/>
                </a:solidFill>
                <a:latin typeface="Arial"/>
              </a:rPr>
              <a:t>Rating or predictive score — hot deals in one colour, cold in another.</a:t>
            </a:r>
          </a:p>
        </p:txBody>
      </p:sp>
      <p:sp>
        <p:nvSpPr>
          <p:cNvPr id="17" name="Rectangle 16"/>
          <p:cNvSpPr/>
          <p:nvPr/>
        </p:nvSpPr>
        <p:spPr>
          <a:xfrm>
            <a:off x="7086600" y="5164074"/>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86600" y="5164074"/>
            <a:ext cx="82296" cy="9624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24344" y="5164074"/>
            <a:ext cx="3904488" cy="962406"/>
          </a:xfrm>
          <a:prstGeom prst="rect">
            <a:avLst/>
          </a:prstGeom>
          <a:noFill/>
        </p:spPr>
        <p:txBody>
          <a:bodyPr wrap="square" anchor="ctr">
            <a:spAutoFit/>
          </a:bodyPr>
          <a:lstStyle/>
          <a:p>
            <a:pPr algn="l">
              <a:spcAft>
                <a:spcPts val="200"/>
              </a:spcAft>
            </a:pPr>
            <a:r>
              <a:rPr sz="1300" b="1">
                <a:solidFill>
                  <a:srgbClr val="F59E0B"/>
                </a:solidFill>
                <a:latin typeface="Arial"/>
              </a:rPr>
              <a:t>What to look for</a:t>
            </a:r>
          </a:p>
          <a:p>
            <a:pPr algn="l">
              <a:spcAft>
                <a:spcPts val="200"/>
              </a:spcAft>
            </a:pPr>
            <a:r>
              <a:rPr sz="1100" b="0">
                <a:solidFill>
                  <a:srgbClr val="161B26"/>
                </a:solidFill>
                <a:latin typeface="Arial"/>
              </a:rPr>
              <a:t>A quarter with no large deals closing is a forecast problem you can still fix.</a:t>
            </a:r>
          </a:p>
        </p:txBody>
      </p:sp>
      <p:sp>
        <p:nvSpPr>
          <p:cNvPr id="20" name="TextBox 1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1" name="TextBox 2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PREDICTING THE PERIOD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Forecasting the Quarter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orecast_chart.png"/>
          <p:cNvPicPr>
            <a:picLocks noChangeAspect="1"/>
          </p:cNvPicPr>
          <p:nvPr/>
        </p:nvPicPr>
        <p:blipFill>
          <a:blip r:embed="rId2"/>
          <a:stretch>
            <a:fillRect/>
          </a:stretch>
        </p:blipFill>
        <p:spPr>
          <a:xfrm>
            <a:off x="777240" y="2116580"/>
            <a:ext cx="6035040" cy="3676400"/>
          </a:xfrm>
          <a:prstGeom prst="rect">
            <a:avLst/>
          </a:prstGeom>
        </p:spPr>
      </p:pic>
      <p:sp>
        <p:nvSpPr>
          <p:cNvPr id="8" name="Rectangle 7"/>
          <p:cNvSpPr/>
          <p:nvPr/>
        </p:nvSpPr>
        <p:spPr>
          <a:xfrm>
            <a:off x="7086600" y="1783080"/>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8660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24344" y="1783080"/>
            <a:ext cx="3904488" cy="962406"/>
          </a:xfrm>
          <a:prstGeom prst="rect">
            <a:avLst/>
          </a:prstGeom>
          <a:noFill/>
        </p:spPr>
        <p:txBody>
          <a:bodyPr wrap="square" anchor="ctr">
            <a:spAutoFit/>
          </a:bodyPr>
          <a:lstStyle/>
          <a:p>
            <a:pPr algn="l">
              <a:spcAft>
                <a:spcPts val="200"/>
              </a:spcAft>
            </a:pPr>
            <a:r>
              <a:rPr sz="1300" b="1">
                <a:solidFill>
                  <a:srgbClr val="1F6FEB"/>
                </a:solidFill>
                <a:latin typeface="Arial"/>
              </a:rPr>
              <a:t>Forecast categories</a:t>
            </a:r>
          </a:p>
          <a:p>
            <a:pPr algn="l">
              <a:spcAft>
                <a:spcPts val="200"/>
              </a:spcAft>
            </a:pPr>
            <a:r>
              <a:rPr sz="1100" b="0">
                <a:solidFill>
                  <a:srgbClr val="161B26"/>
                </a:solidFill>
                <a:latin typeface="Arial"/>
              </a:rPr>
              <a:t>Pipeline, Best Case, Committed, Won and Omitted — each opportunity sits in one.</a:t>
            </a:r>
          </a:p>
        </p:txBody>
      </p:sp>
      <p:sp>
        <p:nvSpPr>
          <p:cNvPr id="11" name="Rectangle 10"/>
          <p:cNvSpPr/>
          <p:nvPr/>
        </p:nvSpPr>
        <p:spPr>
          <a:xfrm>
            <a:off x="7086600" y="2910078"/>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86600" y="2910078"/>
            <a:ext cx="82296" cy="9624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24344" y="2910078"/>
            <a:ext cx="3904488" cy="962406"/>
          </a:xfrm>
          <a:prstGeom prst="rect">
            <a:avLst/>
          </a:prstGeom>
          <a:noFill/>
        </p:spPr>
        <p:txBody>
          <a:bodyPr wrap="square" anchor="ctr">
            <a:spAutoFit/>
          </a:bodyPr>
          <a:lstStyle/>
          <a:p>
            <a:pPr algn="l">
              <a:spcAft>
                <a:spcPts val="200"/>
              </a:spcAft>
            </a:pPr>
            <a:r>
              <a:rPr sz="1300" b="1">
                <a:solidFill>
                  <a:srgbClr val="10B981"/>
                </a:solidFill>
                <a:latin typeface="Arial"/>
              </a:rPr>
              <a:t>Roll-up by hierarchy</a:t>
            </a:r>
          </a:p>
          <a:p>
            <a:pPr algn="l">
              <a:spcAft>
                <a:spcPts val="200"/>
              </a:spcAft>
            </a:pPr>
            <a:r>
              <a:rPr sz="1100" b="0">
                <a:solidFill>
                  <a:srgbClr val="161B26"/>
                </a:solidFill>
                <a:latin typeface="Arial"/>
              </a:rPr>
              <a:t>Seller → manager → director, so every level sees its own number.</a:t>
            </a:r>
          </a:p>
        </p:txBody>
      </p:sp>
      <p:sp>
        <p:nvSpPr>
          <p:cNvPr id="14" name="Rectangle 13"/>
          <p:cNvSpPr/>
          <p:nvPr/>
        </p:nvSpPr>
        <p:spPr>
          <a:xfrm>
            <a:off x="7086600" y="4037076"/>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8660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4344" y="4037076"/>
            <a:ext cx="3904488" cy="962406"/>
          </a:xfrm>
          <a:prstGeom prst="rect">
            <a:avLst/>
          </a:prstGeom>
          <a:noFill/>
        </p:spPr>
        <p:txBody>
          <a:bodyPr wrap="square" anchor="ctr">
            <a:spAutoFit/>
          </a:bodyPr>
          <a:lstStyle/>
          <a:p>
            <a:pPr algn="l">
              <a:spcAft>
                <a:spcPts val="200"/>
              </a:spcAft>
            </a:pPr>
            <a:r>
              <a:rPr sz="1300" b="1">
                <a:solidFill>
                  <a:srgbClr val="7C3AED"/>
                </a:solidFill>
                <a:latin typeface="Arial"/>
              </a:rPr>
              <a:t>Adjustments are tracked</a:t>
            </a:r>
          </a:p>
          <a:p>
            <a:pPr algn="l">
              <a:spcAft>
                <a:spcPts val="200"/>
              </a:spcAft>
            </a:pPr>
            <a:r>
              <a:rPr sz="1100" b="0">
                <a:solidFill>
                  <a:srgbClr val="161B26"/>
                </a:solidFill>
                <a:latin typeface="Arial"/>
              </a:rPr>
              <a:t>A manager's override is recorded separately from the system roll-up.</a:t>
            </a:r>
          </a:p>
        </p:txBody>
      </p:sp>
      <p:sp>
        <p:nvSpPr>
          <p:cNvPr id="17" name="Rectangle 16"/>
          <p:cNvSpPr/>
          <p:nvPr/>
        </p:nvSpPr>
        <p:spPr>
          <a:xfrm>
            <a:off x="7086600" y="5164074"/>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86600" y="5164074"/>
            <a:ext cx="82296" cy="9624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24344" y="5164074"/>
            <a:ext cx="3904488" cy="962406"/>
          </a:xfrm>
          <a:prstGeom prst="rect">
            <a:avLst/>
          </a:prstGeom>
          <a:noFill/>
        </p:spPr>
        <p:txBody>
          <a:bodyPr wrap="square" anchor="ctr">
            <a:spAutoFit/>
          </a:bodyPr>
          <a:lstStyle/>
          <a:p>
            <a:pPr algn="l">
              <a:spcAft>
                <a:spcPts val="200"/>
              </a:spcAft>
            </a:pPr>
            <a:r>
              <a:rPr sz="1300" b="1">
                <a:solidFill>
                  <a:srgbClr val="F59E0B"/>
                </a:solidFill>
                <a:latin typeface="Arial"/>
              </a:rPr>
              <a:t>The gap is the message</a:t>
            </a:r>
          </a:p>
          <a:p>
            <a:pPr algn="l">
              <a:spcAft>
                <a:spcPts val="200"/>
              </a:spcAft>
            </a:pPr>
            <a:r>
              <a:rPr sz="1100" b="0">
                <a:solidFill>
                  <a:srgbClr val="161B26"/>
                </a:solidFill>
                <a:latin typeface="Arial"/>
              </a:rPr>
              <a:t>Won + Committed against quota tells you how hard the rest of the quarter is.</a:t>
            </a:r>
          </a:p>
        </p:txBody>
      </p:sp>
      <p:sp>
        <p:nvSpPr>
          <p:cNvPr id="20" name="TextBox 1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1" name="TextBox 2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WHO DEPENDS ON THE NUMBER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Why Accurate Forecasting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Sellers</a:t>
            </a:r>
          </a:p>
          <a:p>
            <a:pPr algn="l">
              <a:spcAft>
                <a:spcPts val="300"/>
              </a:spcAft>
            </a:pPr>
            <a:r>
              <a:rPr sz="1100" b="0">
                <a:solidFill>
                  <a:srgbClr val="5B6372"/>
                </a:solidFill>
                <a:latin typeface="Arial"/>
              </a:rPr>
              <a:t>Know whether they will hit quota with time left to do something about it.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Sales managers</a:t>
            </a:r>
          </a:p>
          <a:p>
            <a:pPr algn="l">
              <a:spcAft>
                <a:spcPts val="300"/>
              </a:spcAft>
            </a:pPr>
            <a:r>
              <a:rPr sz="1100" b="0">
                <a:solidFill>
                  <a:srgbClr val="5B6372"/>
                </a:solidFill>
                <a:latin typeface="Arial"/>
              </a:rPr>
              <a:t>Spot the gap early, reallocate effort, and coach the deals that matter.</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Sales leaders</a:t>
            </a:r>
          </a:p>
          <a:p>
            <a:pPr algn="l">
              <a:spcAft>
                <a:spcPts val="300"/>
              </a:spcAft>
            </a:pPr>
            <a:r>
              <a:rPr sz="1100" b="0">
                <a:solidFill>
                  <a:srgbClr val="5B6372"/>
                </a:solidFill>
                <a:latin typeface="Arial"/>
              </a:rPr>
              <a:t>Commit a number to the business that operations and finance can plan against.</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Enablement managers</a:t>
            </a:r>
          </a:p>
          <a:p>
            <a:pPr algn="l">
              <a:spcAft>
                <a:spcPts val="300"/>
              </a:spcAft>
            </a:pPr>
            <a:r>
              <a:rPr sz="1100" b="0">
                <a:solidFill>
                  <a:srgbClr val="5B6372"/>
                </a:solidFill>
                <a:latin typeface="Arial"/>
              </a:rPr>
              <a:t>See which behaviours and sequences actually correlate with won deals.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The business</a:t>
            </a:r>
          </a:p>
          <a:p>
            <a:pPr algn="l">
              <a:spcAft>
                <a:spcPts val="300"/>
              </a:spcAft>
            </a:pPr>
            <a:r>
              <a:rPr sz="1100" b="0">
                <a:solidFill>
                  <a:srgbClr val="5B6372"/>
                </a:solidFill>
                <a:latin typeface="Arial"/>
              </a:rPr>
              <a:t>Inventory, hiring and cash flow all depend on the forecast being believable.</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The test</a:t>
            </a:r>
          </a:p>
          <a:p>
            <a:pPr algn="l">
              <a:spcAft>
                <a:spcPts val="300"/>
              </a:spcAft>
            </a:pPr>
            <a:r>
              <a:rPr sz="1100" b="0">
                <a:solidFill>
                  <a:srgbClr val="5B6372"/>
                </a:solidFill>
                <a:latin typeface="Arial"/>
              </a:rPr>
              <a:t>Compare committed forecast to actual won, period after period — that is forecast accuracy.</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INVESTMENT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Sales Insights — Standard vs Premium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2563794" cy="467360"/>
          </a:xfrm>
          <a:prstGeom prst="rect">
            <a:avLst/>
          </a:prstGeom>
          <a:noFill/>
        </p:spPr>
        <p:txBody>
          <a:bodyPr wrap="square" anchor="ctr">
            <a:spAutoFit/>
          </a:bodyPr>
          <a:lstStyle/>
          <a:p>
            <a:pPr algn="l">
              <a:spcAft>
                <a:spcPts val="400"/>
              </a:spcAft>
            </a:pPr>
            <a:r>
              <a:rPr sz="1150" b="1">
                <a:solidFill>
                  <a:srgbClr val="FFFFFF"/>
                </a:solidFill>
                <a:latin typeface="Arial"/>
              </a:rPr>
              <a:t>Feature</a:t>
            </a:r>
          </a:p>
        </p:txBody>
      </p:sp>
      <p:sp>
        <p:nvSpPr>
          <p:cNvPr id="9" name="Rectangle 8"/>
          <p:cNvSpPr/>
          <p:nvPr/>
        </p:nvSpPr>
        <p:spPr>
          <a:xfrm>
            <a:off x="3542202" y="1783080"/>
            <a:ext cx="1701515"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1074" y="1783080"/>
            <a:ext cx="1500347" cy="467360"/>
          </a:xfrm>
          <a:prstGeom prst="rect">
            <a:avLst/>
          </a:prstGeom>
          <a:noFill/>
        </p:spPr>
        <p:txBody>
          <a:bodyPr wrap="square" anchor="ctr">
            <a:spAutoFit/>
          </a:bodyPr>
          <a:lstStyle/>
          <a:p>
            <a:pPr algn="l">
              <a:spcAft>
                <a:spcPts val="400"/>
              </a:spcAft>
            </a:pPr>
            <a:r>
              <a:rPr sz="1150" b="1">
                <a:solidFill>
                  <a:srgbClr val="FFFFFF"/>
                </a:solidFill>
                <a:latin typeface="Arial"/>
              </a:rPr>
              <a:t>Standard (included)</a:t>
            </a:r>
          </a:p>
        </p:txBody>
      </p:sp>
      <p:sp>
        <p:nvSpPr>
          <p:cNvPr id="11" name="Rectangle 10"/>
          <p:cNvSpPr/>
          <p:nvPr/>
        </p:nvSpPr>
        <p:spPr>
          <a:xfrm>
            <a:off x="5243717" y="1783080"/>
            <a:ext cx="1595170"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62589" y="1783080"/>
            <a:ext cx="1394002" cy="467360"/>
          </a:xfrm>
          <a:prstGeom prst="rect">
            <a:avLst/>
          </a:prstGeom>
          <a:noFill/>
        </p:spPr>
        <p:txBody>
          <a:bodyPr wrap="square" anchor="ctr">
            <a:spAutoFit/>
          </a:bodyPr>
          <a:lstStyle/>
          <a:p>
            <a:pPr algn="l">
              <a:spcAft>
                <a:spcPts val="400"/>
              </a:spcAft>
            </a:pPr>
            <a:r>
              <a:rPr sz="1150" b="1">
                <a:solidFill>
                  <a:srgbClr val="FFFFFF"/>
                </a:solidFill>
                <a:latin typeface="Arial"/>
              </a:rPr>
              <a:t>Premium (licensed)</a:t>
            </a:r>
          </a:p>
        </p:txBody>
      </p:sp>
      <p:sp>
        <p:nvSpPr>
          <p:cNvPr id="13" name="Rectangle 12"/>
          <p:cNvSpPr/>
          <p:nvPr/>
        </p:nvSpPr>
        <p:spPr>
          <a:xfrm>
            <a:off x="6838887" y="1783080"/>
            <a:ext cx="4572822" cy="4673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57759" y="1783080"/>
            <a:ext cx="4371654" cy="467360"/>
          </a:xfrm>
          <a:prstGeom prst="rect">
            <a:avLst/>
          </a:prstGeom>
          <a:noFill/>
        </p:spPr>
        <p:txBody>
          <a:bodyPr wrap="square" anchor="ctr">
            <a:spAutoFit/>
          </a:bodyPr>
          <a:lstStyle/>
          <a:p>
            <a:pPr algn="l">
              <a:spcAft>
                <a:spcPts val="400"/>
              </a:spcAft>
            </a:pPr>
            <a:r>
              <a:rPr sz="1150" b="1">
                <a:solidFill>
                  <a:srgbClr val="FFFFFF"/>
                </a:solidFill>
                <a:latin typeface="Arial"/>
              </a:rPr>
              <a:t>What it gives you</a:t>
            </a:r>
          </a:p>
        </p:txBody>
      </p:sp>
      <p:sp>
        <p:nvSpPr>
          <p:cNvPr id="15" name="Rectangle 14"/>
          <p:cNvSpPr/>
          <p:nvPr/>
        </p:nvSpPr>
        <p:spPr>
          <a:xfrm>
            <a:off x="777240" y="2250440"/>
            <a:ext cx="276496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250440"/>
            <a:ext cx="2563794" cy="467360"/>
          </a:xfrm>
          <a:prstGeom prst="rect">
            <a:avLst/>
          </a:prstGeom>
          <a:noFill/>
        </p:spPr>
        <p:txBody>
          <a:bodyPr wrap="square" anchor="ctr">
            <a:spAutoFit/>
          </a:bodyPr>
          <a:lstStyle/>
          <a:p>
            <a:pPr algn="l">
              <a:spcAft>
                <a:spcPts val="400"/>
              </a:spcAft>
            </a:pPr>
            <a:r>
              <a:rPr sz="1050" b="1">
                <a:solidFill>
                  <a:srgbClr val="161B26"/>
                </a:solidFill>
                <a:latin typeface="Arial"/>
              </a:rPr>
              <a:t>Assistant</a:t>
            </a:r>
          </a:p>
        </p:txBody>
      </p:sp>
      <p:sp>
        <p:nvSpPr>
          <p:cNvPr id="17" name="Rectangle 16"/>
          <p:cNvSpPr/>
          <p:nvPr/>
        </p:nvSpPr>
        <p:spPr>
          <a:xfrm>
            <a:off x="3542202" y="2250440"/>
            <a:ext cx="1701515"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61074" y="2250440"/>
            <a:ext cx="1500347"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19" name="Rectangle 18"/>
          <p:cNvSpPr/>
          <p:nvPr/>
        </p:nvSpPr>
        <p:spPr>
          <a:xfrm>
            <a:off x="5243717" y="2250440"/>
            <a:ext cx="159517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62589" y="2250440"/>
            <a:ext cx="1394002" cy="467360"/>
          </a:xfrm>
          <a:prstGeom prst="rect">
            <a:avLst/>
          </a:prstGeom>
          <a:noFill/>
        </p:spPr>
        <p:txBody>
          <a:bodyPr wrap="square" anchor="ctr">
            <a:spAutoFit/>
          </a:bodyPr>
          <a:lstStyle/>
          <a:p>
            <a:pPr algn="l">
              <a:spcAft>
                <a:spcPts val="400"/>
              </a:spcAft>
            </a:pPr>
            <a:r>
              <a:rPr sz="1050" b="0">
                <a:solidFill>
                  <a:srgbClr val="161B26"/>
                </a:solidFill>
                <a:latin typeface="Arial"/>
              </a:rPr>
              <a:t>With Studio</a:t>
            </a:r>
          </a:p>
        </p:txBody>
      </p:sp>
      <p:sp>
        <p:nvSpPr>
          <p:cNvPr id="21" name="Rectangle 20"/>
          <p:cNvSpPr/>
          <p:nvPr/>
        </p:nvSpPr>
        <p:spPr>
          <a:xfrm>
            <a:off x="6838887" y="2250440"/>
            <a:ext cx="457282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57759" y="2250440"/>
            <a:ext cx="4371654" cy="467360"/>
          </a:xfrm>
          <a:prstGeom prst="rect">
            <a:avLst/>
          </a:prstGeom>
          <a:noFill/>
        </p:spPr>
        <p:txBody>
          <a:bodyPr wrap="square" anchor="ctr">
            <a:spAutoFit/>
          </a:bodyPr>
          <a:lstStyle/>
          <a:p>
            <a:pPr algn="l">
              <a:spcAft>
                <a:spcPts val="400"/>
              </a:spcAft>
            </a:pPr>
            <a:r>
              <a:rPr sz="1050" b="0">
                <a:solidFill>
                  <a:srgbClr val="161B26"/>
                </a:solidFill>
                <a:latin typeface="Arial"/>
              </a:rPr>
              <a:t>Action cards telling the seller what needs attention</a:t>
            </a:r>
          </a:p>
        </p:txBody>
      </p:sp>
      <p:sp>
        <p:nvSpPr>
          <p:cNvPr id="23" name="Rectangle 22"/>
          <p:cNvSpPr/>
          <p:nvPr/>
        </p:nvSpPr>
        <p:spPr>
          <a:xfrm>
            <a:off x="777240" y="2717800"/>
            <a:ext cx="276496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2717800"/>
            <a:ext cx="2563794" cy="467360"/>
          </a:xfrm>
          <a:prstGeom prst="rect">
            <a:avLst/>
          </a:prstGeom>
          <a:noFill/>
        </p:spPr>
        <p:txBody>
          <a:bodyPr wrap="square" anchor="ctr">
            <a:spAutoFit/>
          </a:bodyPr>
          <a:lstStyle/>
          <a:p>
            <a:pPr algn="l">
              <a:spcAft>
                <a:spcPts val="400"/>
              </a:spcAft>
            </a:pPr>
            <a:r>
              <a:rPr sz="1050" b="1">
                <a:solidFill>
                  <a:srgbClr val="161B26"/>
                </a:solidFill>
                <a:latin typeface="Arial"/>
              </a:rPr>
              <a:t>Auto capture</a:t>
            </a:r>
          </a:p>
        </p:txBody>
      </p:sp>
      <p:sp>
        <p:nvSpPr>
          <p:cNvPr id="25" name="Rectangle 24"/>
          <p:cNvSpPr/>
          <p:nvPr/>
        </p:nvSpPr>
        <p:spPr>
          <a:xfrm>
            <a:off x="3542202" y="2717800"/>
            <a:ext cx="1701515"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61074" y="2717800"/>
            <a:ext cx="1500347" cy="467360"/>
          </a:xfrm>
          <a:prstGeom prst="rect">
            <a:avLst/>
          </a:prstGeom>
          <a:noFill/>
        </p:spPr>
        <p:txBody>
          <a:bodyPr wrap="square" anchor="ctr">
            <a:spAutoFit/>
          </a:bodyPr>
          <a:lstStyle/>
          <a:p>
            <a:pPr algn="l">
              <a:spcAft>
                <a:spcPts val="400"/>
              </a:spcAft>
            </a:pPr>
            <a:r>
              <a:rPr sz="1050" b="0">
                <a:solidFill>
                  <a:srgbClr val="161B26"/>
                </a:solidFill>
                <a:latin typeface="Arial"/>
              </a:rPr>
              <a:t>Basic</a:t>
            </a:r>
          </a:p>
        </p:txBody>
      </p:sp>
      <p:sp>
        <p:nvSpPr>
          <p:cNvPr id="27" name="Rectangle 26"/>
          <p:cNvSpPr/>
          <p:nvPr/>
        </p:nvSpPr>
        <p:spPr>
          <a:xfrm>
            <a:off x="5243717" y="2717800"/>
            <a:ext cx="159517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62589" y="2717800"/>
            <a:ext cx="1394002" cy="467360"/>
          </a:xfrm>
          <a:prstGeom prst="rect">
            <a:avLst/>
          </a:prstGeom>
          <a:noFill/>
        </p:spPr>
        <p:txBody>
          <a:bodyPr wrap="square" anchor="ctr">
            <a:spAutoFit/>
          </a:bodyPr>
          <a:lstStyle/>
          <a:p>
            <a:pPr algn="l">
              <a:spcAft>
                <a:spcPts val="400"/>
              </a:spcAft>
            </a:pPr>
            <a:r>
              <a:rPr sz="1050" b="0">
                <a:solidFill>
                  <a:srgbClr val="161B26"/>
                </a:solidFill>
                <a:latin typeface="Arial"/>
              </a:rPr>
              <a:t>Premium</a:t>
            </a:r>
          </a:p>
        </p:txBody>
      </p:sp>
      <p:sp>
        <p:nvSpPr>
          <p:cNvPr id="29" name="Rectangle 28"/>
          <p:cNvSpPr/>
          <p:nvPr/>
        </p:nvSpPr>
        <p:spPr>
          <a:xfrm>
            <a:off x="6838887" y="2717800"/>
            <a:ext cx="457282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57759" y="2717800"/>
            <a:ext cx="4371654" cy="467360"/>
          </a:xfrm>
          <a:prstGeom prst="rect">
            <a:avLst/>
          </a:prstGeom>
          <a:noFill/>
        </p:spPr>
        <p:txBody>
          <a:bodyPr wrap="square" anchor="ctr">
            <a:spAutoFit/>
          </a:bodyPr>
          <a:lstStyle/>
          <a:p>
            <a:pPr algn="l">
              <a:spcAft>
                <a:spcPts val="400"/>
              </a:spcAft>
            </a:pPr>
            <a:r>
              <a:rPr sz="1050" b="0">
                <a:solidFill>
                  <a:srgbClr val="161B26"/>
                </a:solidFill>
                <a:latin typeface="Arial"/>
              </a:rPr>
              <a:t>Suggests untracked emails and meetings for the timeline</a:t>
            </a:r>
          </a:p>
        </p:txBody>
      </p:sp>
      <p:sp>
        <p:nvSpPr>
          <p:cNvPr id="31" name="Rectangle 30"/>
          <p:cNvSpPr/>
          <p:nvPr/>
        </p:nvSpPr>
        <p:spPr>
          <a:xfrm>
            <a:off x="777240" y="3185160"/>
            <a:ext cx="276496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3185160"/>
            <a:ext cx="2563794" cy="467360"/>
          </a:xfrm>
          <a:prstGeom prst="rect">
            <a:avLst/>
          </a:prstGeom>
          <a:noFill/>
        </p:spPr>
        <p:txBody>
          <a:bodyPr wrap="square" anchor="ctr">
            <a:spAutoFit/>
          </a:bodyPr>
          <a:lstStyle/>
          <a:p>
            <a:pPr algn="l">
              <a:spcAft>
                <a:spcPts val="400"/>
              </a:spcAft>
            </a:pPr>
            <a:r>
              <a:rPr sz="1050" b="1">
                <a:solidFill>
                  <a:srgbClr val="161B26"/>
                </a:solidFill>
                <a:latin typeface="Arial"/>
              </a:rPr>
              <a:t>Email engagement</a:t>
            </a:r>
          </a:p>
        </p:txBody>
      </p:sp>
      <p:sp>
        <p:nvSpPr>
          <p:cNvPr id="33" name="Rectangle 32"/>
          <p:cNvSpPr/>
          <p:nvPr/>
        </p:nvSpPr>
        <p:spPr>
          <a:xfrm>
            <a:off x="3542202" y="3185160"/>
            <a:ext cx="1701515"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61074" y="3185160"/>
            <a:ext cx="1500347"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35" name="Rectangle 34"/>
          <p:cNvSpPr/>
          <p:nvPr/>
        </p:nvSpPr>
        <p:spPr>
          <a:xfrm>
            <a:off x="5243717" y="3185160"/>
            <a:ext cx="159517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62589" y="3185160"/>
            <a:ext cx="1394002"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37" name="Rectangle 36"/>
          <p:cNvSpPr/>
          <p:nvPr/>
        </p:nvSpPr>
        <p:spPr>
          <a:xfrm>
            <a:off x="6838887" y="3185160"/>
            <a:ext cx="457282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57759" y="3185160"/>
            <a:ext cx="4371654" cy="467360"/>
          </a:xfrm>
          <a:prstGeom prst="rect">
            <a:avLst/>
          </a:prstGeom>
          <a:noFill/>
        </p:spPr>
        <p:txBody>
          <a:bodyPr wrap="square" anchor="ctr">
            <a:spAutoFit/>
          </a:bodyPr>
          <a:lstStyle/>
          <a:p>
            <a:pPr algn="l">
              <a:spcAft>
                <a:spcPts val="400"/>
              </a:spcAft>
            </a:pPr>
            <a:r>
              <a:rPr sz="1050" b="0">
                <a:solidFill>
                  <a:srgbClr val="161B26"/>
                </a:solidFill>
                <a:latin typeface="Arial"/>
              </a:rPr>
              <a:t>Open, click and reply tracking on sent emails</a:t>
            </a:r>
          </a:p>
        </p:txBody>
      </p:sp>
      <p:sp>
        <p:nvSpPr>
          <p:cNvPr id="39" name="Rectangle 38"/>
          <p:cNvSpPr/>
          <p:nvPr/>
        </p:nvSpPr>
        <p:spPr>
          <a:xfrm>
            <a:off x="777240" y="3652520"/>
            <a:ext cx="276496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3652520"/>
            <a:ext cx="2563794" cy="467360"/>
          </a:xfrm>
          <a:prstGeom prst="rect">
            <a:avLst/>
          </a:prstGeom>
          <a:noFill/>
        </p:spPr>
        <p:txBody>
          <a:bodyPr wrap="square" anchor="ctr">
            <a:spAutoFit/>
          </a:bodyPr>
          <a:lstStyle/>
          <a:p>
            <a:pPr algn="l">
              <a:spcAft>
                <a:spcPts val="400"/>
              </a:spcAft>
            </a:pPr>
            <a:r>
              <a:rPr sz="1050" b="1">
                <a:solidFill>
                  <a:srgbClr val="161B26"/>
                </a:solidFill>
                <a:latin typeface="Arial"/>
              </a:rPr>
              <a:t>Sequences</a:t>
            </a:r>
          </a:p>
        </p:txBody>
      </p:sp>
      <p:sp>
        <p:nvSpPr>
          <p:cNvPr id="41" name="Rectangle 40"/>
          <p:cNvSpPr/>
          <p:nvPr/>
        </p:nvSpPr>
        <p:spPr>
          <a:xfrm>
            <a:off x="3542202" y="3652520"/>
            <a:ext cx="1701515"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61074" y="3652520"/>
            <a:ext cx="1500347"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43" name="Rectangle 42"/>
          <p:cNvSpPr/>
          <p:nvPr/>
        </p:nvSpPr>
        <p:spPr>
          <a:xfrm>
            <a:off x="5243717" y="3652520"/>
            <a:ext cx="159517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62589" y="3652520"/>
            <a:ext cx="1394002"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45" name="Rectangle 44"/>
          <p:cNvSpPr/>
          <p:nvPr/>
        </p:nvSpPr>
        <p:spPr>
          <a:xfrm>
            <a:off x="6838887" y="3652520"/>
            <a:ext cx="457282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57759" y="3652520"/>
            <a:ext cx="4371654" cy="467360"/>
          </a:xfrm>
          <a:prstGeom prst="rect">
            <a:avLst/>
          </a:prstGeom>
          <a:noFill/>
        </p:spPr>
        <p:txBody>
          <a:bodyPr wrap="square" anchor="ctr">
            <a:spAutoFit/>
          </a:bodyPr>
          <a:lstStyle/>
          <a:p>
            <a:pPr algn="l">
              <a:spcAft>
                <a:spcPts val="400"/>
              </a:spcAft>
            </a:pPr>
            <a:r>
              <a:rPr sz="1050" b="0">
                <a:solidFill>
                  <a:srgbClr val="161B26"/>
                </a:solidFill>
                <a:latin typeface="Arial"/>
              </a:rPr>
              <a:t>Consecutive activity sets applied to leads and opportunities</a:t>
            </a:r>
          </a:p>
        </p:txBody>
      </p:sp>
      <p:sp>
        <p:nvSpPr>
          <p:cNvPr id="47" name="Rectangle 46"/>
          <p:cNvSpPr/>
          <p:nvPr/>
        </p:nvSpPr>
        <p:spPr>
          <a:xfrm>
            <a:off x="777240" y="4119880"/>
            <a:ext cx="276496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 y="4119880"/>
            <a:ext cx="2563794" cy="467360"/>
          </a:xfrm>
          <a:prstGeom prst="rect">
            <a:avLst/>
          </a:prstGeom>
          <a:noFill/>
        </p:spPr>
        <p:txBody>
          <a:bodyPr wrap="square" anchor="ctr">
            <a:spAutoFit/>
          </a:bodyPr>
          <a:lstStyle/>
          <a:p>
            <a:pPr algn="l">
              <a:spcAft>
                <a:spcPts val="400"/>
              </a:spcAft>
            </a:pPr>
            <a:r>
              <a:rPr sz="1050" b="1">
                <a:solidFill>
                  <a:srgbClr val="161B26"/>
                </a:solidFill>
                <a:latin typeface="Arial"/>
              </a:rPr>
              <a:t>Relationship analytics</a:t>
            </a:r>
          </a:p>
        </p:txBody>
      </p:sp>
      <p:sp>
        <p:nvSpPr>
          <p:cNvPr id="49" name="Rectangle 48"/>
          <p:cNvSpPr/>
          <p:nvPr/>
        </p:nvSpPr>
        <p:spPr>
          <a:xfrm>
            <a:off x="3542202" y="4119880"/>
            <a:ext cx="1701515"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61074" y="4119880"/>
            <a:ext cx="1500347" cy="467360"/>
          </a:xfrm>
          <a:prstGeom prst="rect">
            <a:avLst/>
          </a:prstGeom>
          <a:noFill/>
        </p:spPr>
        <p:txBody>
          <a:bodyPr wrap="square" anchor="ctr">
            <a:spAutoFit/>
          </a:bodyPr>
          <a:lstStyle/>
          <a:p>
            <a:pPr algn="l">
              <a:spcAft>
                <a:spcPts val="400"/>
              </a:spcAft>
            </a:pPr>
            <a:r>
              <a:rPr sz="1050" b="0">
                <a:solidFill>
                  <a:srgbClr val="161B26"/>
                </a:solidFill>
                <a:latin typeface="Arial"/>
              </a:rPr>
              <a:t>—</a:t>
            </a:r>
          </a:p>
        </p:txBody>
      </p:sp>
      <p:sp>
        <p:nvSpPr>
          <p:cNvPr id="51" name="Rectangle 50"/>
          <p:cNvSpPr/>
          <p:nvPr/>
        </p:nvSpPr>
        <p:spPr>
          <a:xfrm>
            <a:off x="5243717" y="4119880"/>
            <a:ext cx="159517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62589" y="4119880"/>
            <a:ext cx="1394002"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53" name="Rectangle 52"/>
          <p:cNvSpPr/>
          <p:nvPr/>
        </p:nvSpPr>
        <p:spPr>
          <a:xfrm>
            <a:off x="6838887" y="4119880"/>
            <a:ext cx="457282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57759" y="4119880"/>
            <a:ext cx="4371654" cy="467360"/>
          </a:xfrm>
          <a:prstGeom prst="rect">
            <a:avLst/>
          </a:prstGeom>
          <a:noFill/>
        </p:spPr>
        <p:txBody>
          <a:bodyPr wrap="square" anchor="ctr">
            <a:spAutoFit/>
          </a:bodyPr>
          <a:lstStyle/>
          <a:p>
            <a:pPr algn="l">
              <a:spcAft>
                <a:spcPts val="400"/>
              </a:spcAft>
            </a:pPr>
            <a:r>
              <a:rPr sz="1050" b="0">
                <a:solidFill>
                  <a:srgbClr val="161B26"/>
                </a:solidFill>
                <a:latin typeface="Arial"/>
              </a:rPr>
              <a:t>Health scores and KPIs on every customer relationship</a:t>
            </a:r>
          </a:p>
        </p:txBody>
      </p:sp>
      <p:sp>
        <p:nvSpPr>
          <p:cNvPr id="55" name="Rectangle 54"/>
          <p:cNvSpPr/>
          <p:nvPr/>
        </p:nvSpPr>
        <p:spPr>
          <a:xfrm>
            <a:off x="777240" y="4587240"/>
            <a:ext cx="276496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96112" y="4587240"/>
            <a:ext cx="2563794" cy="467360"/>
          </a:xfrm>
          <a:prstGeom prst="rect">
            <a:avLst/>
          </a:prstGeom>
          <a:noFill/>
        </p:spPr>
        <p:txBody>
          <a:bodyPr wrap="square" anchor="ctr">
            <a:spAutoFit/>
          </a:bodyPr>
          <a:lstStyle/>
          <a:p>
            <a:pPr algn="l">
              <a:spcAft>
                <a:spcPts val="400"/>
              </a:spcAft>
            </a:pPr>
            <a:r>
              <a:rPr sz="1050" b="1">
                <a:solidFill>
                  <a:srgbClr val="161B26"/>
                </a:solidFill>
                <a:latin typeface="Arial"/>
              </a:rPr>
              <a:t>Predictive lead scoring</a:t>
            </a:r>
          </a:p>
        </p:txBody>
      </p:sp>
      <p:sp>
        <p:nvSpPr>
          <p:cNvPr id="57" name="Rectangle 56"/>
          <p:cNvSpPr/>
          <p:nvPr/>
        </p:nvSpPr>
        <p:spPr>
          <a:xfrm>
            <a:off x="3542202" y="4587240"/>
            <a:ext cx="1701515"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61074" y="4587240"/>
            <a:ext cx="1500347" cy="467360"/>
          </a:xfrm>
          <a:prstGeom prst="rect">
            <a:avLst/>
          </a:prstGeom>
          <a:noFill/>
        </p:spPr>
        <p:txBody>
          <a:bodyPr wrap="square" anchor="ctr">
            <a:spAutoFit/>
          </a:bodyPr>
          <a:lstStyle/>
          <a:p>
            <a:pPr algn="l">
              <a:spcAft>
                <a:spcPts val="400"/>
              </a:spcAft>
            </a:pPr>
            <a:r>
              <a:rPr sz="1050" b="0">
                <a:solidFill>
                  <a:srgbClr val="161B26"/>
                </a:solidFill>
                <a:latin typeface="Arial"/>
              </a:rPr>
              <a:t>—</a:t>
            </a:r>
          </a:p>
        </p:txBody>
      </p:sp>
      <p:sp>
        <p:nvSpPr>
          <p:cNvPr id="59" name="Rectangle 58"/>
          <p:cNvSpPr/>
          <p:nvPr/>
        </p:nvSpPr>
        <p:spPr>
          <a:xfrm>
            <a:off x="5243717" y="4587240"/>
            <a:ext cx="159517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62589" y="4587240"/>
            <a:ext cx="1394002"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61" name="Rectangle 60"/>
          <p:cNvSpPr/>
          <p:nvPr/>
        </p:nvSpPr>
        <p:spPr>
          <a:xfrm>
            <a:off x="6838887" y="4587240"/>
            <a:ext cx="457282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957759" y="4587240"/>
            <a:ext cx="4371654" cy="467360"/>
          </a:xfrm>
          <a:prstGeom prst="rect">
            <a:avLst/>
          </a:prstGeom>
          <a:noFill/>
        </p:spPr>
        <p:txBody>
          <a:bodyPr wrap="square" anchor="ctr">
            <a:spAutoFit/>
          </a:bodyPr>
          <a:lstStyle/>
          <a:p>
            <a:pPr algn="l">
              <a:spcAft>
                <a:spcPts val="400"/>
              </a:spcAft>
            </a:pPr>
            <a:r>
              <a:rPr sz="1050" b="0">
                <a:solidFill>
                  <a:srgbClr val="161B26"/>
                </a:solidFill>
                <a:latin typeface="Arial"/>
              </a:rPr>
              <a:t>AI ranks leads by likelihood to convert</a:t>
            </a:r>
          </a:p>
        </p:txBody>
      </p:sp>
      <p:sp>
        <p:nvSpPr>
          <p:cNvPr id="63" name="Rectangle 62"/>
          <p:cNvSpPr/>
          <p:nvPr/>
        </p:nvSpPr>
        <p:spPr>
          <a:xfrm>
            <a:off x="777240" y="5054600"/>
            <a:ext cx="276496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96112" y="5054600"/>
            <a:ext cx="2563794" cy="467360"/>
          </a:xfrm>
          <a:prstGeom prst="rect">
            <a:avLst/>
          </a:prstGeom>
          <a:noFill/>
        </p:spPr>
        <p:txBody>
          <a:bodyPr wrap="square" anchor="ctr">
            <a:spAutoFit/>
          </a:bodyPr>
          <a:lstStyle/>
          <a:p>
            <a:pPr algn="l">
              <a:spcAft>
                <a:spcPts val="400"/>
              </a:spcAft>
            </a:pPr>
            <a:r>
              <a:rPr sz="1050" b="1">
                <a:solidFill>
                  <a:srgbClr val="161B26"/>
                </a:solidFill>
                <a:latin typeface="Arial"/>
              </a:rPr>
              <a:t>Predictive opportunity scoring</a:t>
            </a:r>
          </a:p>
        </p:txBody>
      </p:sp>
      <p:sp>
        <p:nvSpPr>
          <p:cNvPr id="65" name="Rectangle 64"/>
          <p:cNvSpPr/>
          <p:nvPr/>
        </p:nvSpPr>
        <p:spPr>
          <a:xfrm>
            <a:off x="3542202" y="5054600"/>
            <a:ext cx="1701515"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61074" y="5054600"/>
            <a:ext cx="1500347" cy="467360"/>
          </a:xfrm>
          <a:prstGeom prst="rect">
            <a:avLst/>
          </a:prstGeom>
          <a:noFill/>
        </p:spPr>
        <p:txBody>
          <a:bodyPr wrap="square" anchor="ctr">
            <a:spAutoFit/>
          </a:bodyPr>
          <a:lstStyle/>
          <a:p>
            <a:pPr algn="l">
              <a:spcAft>
                <a:spcPts val="400"/>
              </a:spcAft>
            </a:pPr>
            <a:r>
              <a:rPr sz="1050" b="0">
                <a:solidFill>
                  <a:srgbClr val="161B26"/>
                </a:solidFill>
                <a:latin typeface="Arial"/>
              </a:rPr>
              <a:t>—</a:t>
            </a:r>
          </a:p>
        </p:txBody>
      </p:sp>
      <p:sp>
        <p:nvSpPr>
          <p:cNvPr id="67" name="Rectangle 66"/>
          <p:cNvSpPr/>
          <p:nvPr/>
        </p:nvSpPr>
        <p:spPr>
          <a:xfrm>
            <a:off x="5243717" y="5054600"/>
            <a:ext cx="1595170"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362589" y="5054600"/>
            <a:ext cx="1394002"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69" name="Rectangle 68"/>
          <p:cNvSpPr/>
          <p:nvPr/>
        </p:nvSpPr>
        <p:spPr>
          <a:xfrm>
            <a:off x="6838887" y="5054600"/>
            <a:ext cx="4572822" cy="4673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957759" y="5054600"/>
            <a:ext cx="4371654" cy="467360"/>
          </a:xfrm>
          <a:prstGeom prst="rect">
            <a:avLst/>
          </a:prstGeom>
          <a:noFill/>
        </p:spPr>
        <p:txBody>
          <a:bodyPr wrap="square" anchor="ctr">
            <a:spAutoFit/>
          </a:bodyPr>
          <a:lstStyle/>
          <a:p>
            <a:pPr algn="l">
              <a:spcAft>
                <a:spcPts val="400"/>
              </a:spcAft>
            </a:pPr>
            <a:r>
              <a:rPr sz="1050" b="0">
                <a:solidFill>
                  <a:srgbClr val="161B26"/>
                </a:solidFill>
                <a:latin typeface="Arial"/>
              </a:rPr>
              <a:t>AI ranks open deals by likelihood to close</a:t>
            </a:r>
          </a:p>
        </p:txBody>
      </p:sp>
      <p:sp>
        <p:nvSpPr>
          <p:cNvPr id="71" name="Rectangle 70"/>
          <p:cNvSpPr/>
          <p:nvPr/>
        </p:nvSpPr>
        <p:spPr>
          <a:xfrm>
            <a:off x="777240" y="5521960"/>
            <a:ext cx="276496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96112" y="5521960"/>
            <a:ext cx="2563794" cy="467360"/>
          </a:xfrm>
          <a:prstGeom prst="rect">
            <a:avLst/>
          </a:prstGeom>
          <a:noFill/>
        </p:spPr>
        <p:txBody>
          <a:bodyPr wrap="square" anchor="ctr">
            <a:spAutoFit/>
          </a:bodyPr>
          <a:lstStyle/>
          <a:p>
            <a:pPr algn="l">
              <a:spcAft>
                <a:spcPts val="400"/>
              </a:spcAft>
            </a:pPr>
            <a:r>
              <a:rPr sz="1050" b="1">
                <a:solidFill>
                  <a:srgbClr val="161B26"/>
                </a:solidFill>
                <a:latin typeface="Arial"/>
              </a:rPr>
              <a:t>Conversation intelligence</a:t>
            </a:r>
          </a:p>
        </p:txBody>
      </p:sp>
      <p:sp>
        <p:nvSpPr>
          <p:cNvPr id="73" name="Rectangle 72"/>
          <p:cNvSpPr/>
          <p:nvPr/>
        </p:nvSpPr>
        <p:spPr>
          <a:xfrm>
            <a:off x="3542202" y="5521960"/>
            <a:ext cx="1701515"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661074" y="5521960"/>
            <a:ext cx="1500347" cy="467360"/>
          </a:xfrm>
          <a:prstGeom prst="rect">
            <a:avLst/>
          </a:prstGeom>
          <a:noFill/>
        </p:spPr>
        <p:txBody>
          <a:bodyPr wrap="square" anchor="ctr">
            <a:spAutoFit/>
          </a:bodyPr>
          <a:lstStyle/>
          <a:p>
            <a:pPr algn="l">
              <a:spcAft>
                <a:spcPts val="400"/>
              </a:spcAft>
            </a:pPr>
            <a:r>
              <a:rPr sz="1050" b="0">
                <a:solidFill>
                  <a:srgbClr val="161B26"/>
                </a:solidFill>
                <a:latin typeface="Arial"/>
              </a:rPr>
              <a:t>—</a:t>
            </a:r>
          </a:p>
        </p:txBody>
      </p:sp>
      <p:sp>
        <p:nvSpPr>
          <p:cNvPr id="75" name="Rectangle 74"/>
          <p:cNvSpPr/>
          <p:nvPr/>
        </p:nvSpPr>
        <p:spPr>
          <a:xfrm>
            <a:off x="5243717" y="5521960"/>
            <a:ext cx="1595170"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362589" y="5521960"/>
            <a:ext cx="1394002" cy="467360"/>
          </a:xfrm>
          <a:prstGeom prst="rect">
            <a:avLst/>
          </a:prstGeom>
          <a:noFill/>
        </p:spPr>
        <p:txBody>
          <a:bodyPr wrap="square" anchor="ctr">
            <a:spAutoFit/>
          </a:bodyPr>
          <a:lstStyle/>
          <a:p>
            <a:pPr algn="l">
              <a:spcAft>
                <a:spcPts val="400"/>
              </a:spcAft>
            </a:pPr>
            <a:r>
              <a:rPr sz="1050" b="0">
                <a:solidFill>
                  <a:srgbClr val="161B26"/>
                </a:solidFill>
                <a:latin typeface="Arial"/>
              </a:rPr>
              <a:t>Yes</a:t>
            </a:r>
          </a:p>
        </p:txBody>
      </p:sp>
      <p:sp>
        <p:nvSpPr>
          <p:cNvPr id="77" name="Rectangle 76"/>
          <p:cNvSpPr/>
          <p:nvPr/>
        </p:nvSpPr>
        <p:spPr>
          <a:xfrm>
            <a:off x="6838887" y="5521960"/>
            <a:ext cx="4572822" cy="467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957759" y="5521960"/>
            <a:ext cx="4371654" cy="467360"/>
          </a:xfrm>
          <a:prstGeom prst="rect">
            <a:avLst/>
          </a:prstGeom>
          <a:noFill/>
        </p:spPr>
        <p:txBody>
          <a:bodyPr wrap="square" anchor="ctr">
            <a:spAutoFit/>
          </a:bodyPr>
          <a:lstStyle/>
          <a:p>
            <a:pPr algn="l">
              <a:spcAft>
                <a:spcPts val="400"/>
              </a:spcAft>
            </a:pPr>
            <a:r>
              <a:rPr sz="1050" b="0">
                <a:solidFill>
                  <a:srgbClr val="161B26"/>
                </a:solidFill>
                <a:latin typeface="Arial"/>
              </a:rPr>
              <a:t>Analyses sales calls for sentiment, keywords and coaching</a:t>
            </a:r>
          </a:p>
        </p:txBody>
      </p:sp>
      <p:sp>
        <p:nvSpPr>
          <p:cNvPr id="79" name="TextBox 78"/>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This table IS the investment recommendation: which premium capabilities solve a problem you actually have?</a:t>
            </a:r>
          </a:p>
        </p:txBody>
      </p:sp>
      <p:sp>
        <p:nvSpPr>
          <p:cNvPr id="80" name="TextBox 7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1" name="TextBox 8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82" name="TextBox 8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PERSON BEHIND THE RECORD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LinkedIn Sales Navigator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Top card</a:t>
            </a:r>
          </a:p>
          <a:p>
            <a:pPr algn="l">
              <a:spcAft>
                <a:spcPts val="300"/>
              </a:spcAft>
            </a:pPr>
            <a:r>
              <a:rPr sz="1100" b="0">
                <a:solidFill>
                  <a:srgbClr val="5B6372"/>
                </a:solidFill>
                <a:latin typeface="Arial"/>
              </a:rPr>
              <a:t>Headline profile information for the lead or account, embedded in the D365 form.</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News and icebreakers</a:t>
            </a:r>
          </a:p>
          <a:p>
            <a:pPr algn="l">
              <a:spcAft>
                <a:spcPts val="300"/>
              </a:spcAft>
            </a:pPr>
            <a:r>
              <a:rPr sz="1100" b="0">
                <a:solidFill>
                  <a:srgbClr val="5B6372"/>
                </a:solidFill>
                <a:latin typeface="Arial"/>
              </a:rPr>
              <a:t>Recent activity and shared interests that give the seller a reason to reach out.</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Connections</a:t>
            </a:r>
          </a:p>
          <a:p>
            <a:pPr algn="l">
              <a:spcAft>
                <a:spcPts val="300"/>
              </a:spcAft>
            </a:pPr>
            <a:r>
              <a:rPr sz="1100" b="0">
                <a:solidFill>
                  <a:srgbClr val="5B6372"/>
                </a:solidFill>
                <a:latin typeface="Arial"/>
              </a:rPr>
              <a:t>See who in your organisation already knows this person — and ask for an introduction.</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Related leads</a:t>
            </a:r>
          </a:p>
          <a:p>
            <a:pPr algn="l">
              <a:spcAft>
                <a:spcPts val="300"/>
              </a:spcAft>
            </a:pPr>
            <a:r>
              <a:rPr sz="1100" b="0">
                <a:solidFill>
                  <a:srgbClr val="5B6372"/>
                </a:solidFill>
                <a:latin typeface="Arial"/>
              </a:rPr>
              <a:t>Other decision-makers at the same account you have not yet engaged.</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Recommended leads</a:t>
            </a:r>
          </a:p>
          <a:p>
            <a:pPr algn="l">
              <a:spcAft>
                <a:spcPts val="300"/>
              </a:spcAft>
            </a:pPr>
            <a:r>
              <a:rPr sz="1100" b="0">
                <a:solidFill>
                  <a:srgbClr val="5B6372"/>
                </a:solidFill>
                <a:latin typeface="Arial"/>
              </a:rPr>
              <a:t>Sales Navigator suggests prospects matching your ideal customer profile.</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Job-change alerts</a:t>
            </a:r>
          </a:p>
          <a:p>
            <a:pPr algn="l">
              <a:spcAft>
                <a:spcPts val="300"/>
              </a:spcAft>
            </a:pPr>
            <a:r>
              <a:rPr sz="1100" b="0">
                <a:solidFill>
                  <a:srgbClr val="5B6372"/>
                </a:solidFill>
                <a:latin typeface="Arial"/>
              </a:rPr>
              <a:t>A contact moving to a new company is a new opportunity — and a churn risk.</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SELLING AWAY FROM THE DESK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Mobile and Copilot for Sales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0B981"/>
                </a:solidFill>
                <a:latin typeface="Arial"/>
              </a:rPr>
              <a:t>Mobile — the field</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7C3AED"/>
                </a:solidFill>
                <a:latin typeface="Arial"/>
              </a:rPr>
              <a:t>Copilot — the inbox</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Dynamics 365 Sales mobile app</a:t>
            </a:r>
          </a:p>
          <a:p>
            <a:pPr>
              <a:spcAft>
                <a:spcPts val="1000"/>
              </a:spcAft>
            </a:pPr>
            <a:r>
              <a:rPr sz="1200" b="0">
                <a:solidFill>
                  <a:srgbClr val="5B6372"/>
                </a:solidFill>
                <a:latin typeface="Arial"/>
              </a:rPr>
              <a:t>–  Plan your day — bookings, tasks and priorities on one screen</a:t>
            </a:r>
          </a:p>
          <a:p>
            <a:pPr>
              <a:spcAft>
                <a:spcPts val="1000"/>
              </a:spcAft>
            </a:pPr>
            <a:r>
              <a:rPr sz="1200" b="0">
                <a:solidFill>
                  <a:srgbClr val="5B6372"/>
                </a:solidFill>
                <a:latin typeface="Arial"/>
              </a:rPr>
              <a:t>–  Prepare for meetings — the customer's history before you walk in</a:t>
            </a:r>
          </a:p>
          <a:p>
            <a:pPr>
              <a:spcAft>
                <a:spcPts val="1000"/>
              </a:spcAft>
            </a:pPr>
            <a:r>
              <a:rPr sz="1200" b="0">
                <a:solidFill>
                  <a:srgbClr val="5B6372"/>
                </a:solidFill>
                <a:latin typeface="Arial"/>
              </a:rPr>
              <a:t>–  Post-meeting work — capture notes by voice, create follow-ups</a:t>
            </a:r>
          </a:p>
          <a:p>
            <a:pPr>
              <a:spcAft>
                <a:spcPts val="1000"/>
              </a:spcAft>
            </a:pPr>
            <a:r>
              <a:rPr sz="1200" b="0">
                <a:solidFill>
                  <a:srgbClr val="5B6372"/>
                </a:solidFill>
                <a:latin typeface="Arial"/>
              </a:rPr>
              <a:t>–  Join online meetings directly from the app</a:t>
            </a:r>
          </a:p>
          <a:p>
            <a:pPr>
              <a:spcAft>
                <a:spcPts val="1000"/>
              </a:spcAft>
            </a:pPr>
            <a:r>
              <a:rPr sz="1200" b="0">
                <a:solidFill>
                  <a:srgbClr val="5B6372"/>
                </a:solidFill>
                <a:latin typeface="Arial"/>
              </a:rPr>
              <a:t>–  Built for the field seller who is rarely at a desk</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Microsoft 365 Copilot for Sales</a:t>
            </a:r>
          </a:p>
          <a:p>
            <a:pPr>
              <a:spcAft>
                <a:spcPts val="1000"/>
              </a:spcAft>
            </a:pPr>
            <a:r>
              <a:rPr sz="1200" b="0">
                <a:solidFill>
                  <a:srgbClr val="5B6372"/>
                </a:solidFill>
                <a:latin typeface="Arial"/>
              </a:rPr>
              <a:t>–  Works INSIDE Outlook and Teams — no app switching</a:t>
            </a:r>
          </a:p>
          <a:p>
            <a:pPr>
              <a:spcAft>
                <a:spcPts val="1000"/>
              </a:spcAft>
            </a:pPr>
            <a:r>
              <a:rPr sz="1200" b="0">
                <a:solidFill>
                  <a:srgbClr val="5B6372"/>
                </a:solidFill>
                <a:latin typeface="Arial"/>
              </a:rPr>
              <a:t>–  Summarise a long email thread or a meeting recording</a:t>
            </a:r>
          </a:p>
          <a:p>
            <a:pPr>
              <a:spcAft>
                <a:spcPts val="1000"/>
              </a:spcAft>
            </a:pPr>
            <a:r>
              <a:rPr sz="1200" b="0">
                <a:solidFill>
                  <a:srgbClr val="5B6372"/>
                </a:solidFill>
                <a:latin typeface="Arial"/>
              </a:rPr>
              <a:t>–  Draft a reply grounded in the CRM record</a:t>
            </a:r>
          </a:p>
          <a:p>
            <a:pPr>
              <a:spcAft>
                <a:spcPts val="1000"/>
              </a:spcAft>
            </a:pPr>
            <a:r>
              <a:rPr sz="1200" b="0">
                <a:solidFill>
                  <a:srgbClr val="5B6372"/>
                </a:solidFill>
                <a:latin typeface="Arial"/>
              </a:rPr>
              <a:t>–  Save updates back to Dynamics 365 without opening it</a:t>
            </a:r>
          </a:p>
          <a:p>
            <a:pPr>
              <a:spcAft>
                <a:spcPts val="1000"/>
              </a:spcAft>
            </a:pPr>
            <a:r>
              <a:rPr sz="1200" b="0">
                <a:solidFill>
                  <a:srgbClr val="5B6372"/>
                </a:solidFill>
                <a:latin typeface="Arial"/>
              </a:rPr>
              <a:t>–  Removes the manual data entry sellers most resent</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Both target the same problem: sellers spend too much time on admin and not enough with customers.</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6 — Forecast the Pipeline and Evaluate Sales Insights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6  ·  45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Your sales director wants to know whether to buy the Sales Insights premium add-on. You build the pipeline view and a forecast, work the sales accelerator list, examine which Sales Insights features are included versus licensed, review the LinkedIn Sales Navigator and mobile experiences, and produce a written investment recommendation — exactly the evidence LO5 requires.</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Import the pipeline data and open the pipeline chart</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Configure and read a sales forecast</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Work the sales accelerator list and apply a sequence</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Compare Sales Insights standard vs premium features</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Write the investment recommendation</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 pipeline chart and forecast for the current period, a sales accelerator work list with a sequence applied, a completed standard-vs-premium feature comparison, and a one-page investment recommendation.</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Dynamics 365 Sales Hub, Sales Insights, forecasting, sales accelerator, LinkedIn Sales Navigator, Copilot for Sales, Power BI</a:t>
            </a:r>
            <a:r>
              <a:rPr sz="1150" b="0">
                <a:solidFill>
                  <a:srgbClr val="5B6372"/>
                </a:solidFill>
                <a:latin typeface="Arial"/>
              </a:rPr>
              <a:t>     ·     Full step-by-step: Learner Guide, Lab 6</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07</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Explore Dynamics 365 Customer Service</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Service use cases · the case lifecycle · SLAs and entitlements · workload management, queues and routing · business process flows · knowledge management</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07</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EQUIPPING THE AGENT TO RESOLVE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Dynamics 365 Customer Service Does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Track issues as cases</a:t>
            </a:r>
          </a:p>
          <a:p>
            <a:pPr algn="l">
              <a:spcAft>
                <a:spcPts val="300"/>
              </a:spcAft>
            </a:pPr>
            <a:r>
              <a:rPr sz="1100" b="0">
                <a:solidFill>
                  <a:srgbClr val="5B6372"/>
                </a:solidFill>
                <a:latin typeface="Arial"/>
              </a:rPr>
              <a:t>Every customer problem becomes a case record with a full interaction history.</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Share knowledge</a:t>
            </a:r>
          </a:p>
          <a:p>
            <a:pPr algn="l">
              <a:spcAft>
                <a:spcPts val="300"/>
              </a:spcAft>
            </a:pPr>
            <a:r>
              <a:rPr sz="1100" b="0">
                <a:solidFill>
                  <a:srgbClr val="5B6372"/>
                </a:solidFill>
                <a:latin typeface="Arial"/>
              </a:rPr>
              <a:t>A knowledge base agents search and customers self-serve from.</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Route work intelligently</a:t>
            </a:r>
          </a:p>
          <a:p>
            <a:pPr algn="l">
              <a:spcAft>
                <a:spcPts val="300"/>
              </a:spcAft>
            </a:pPr>
            <a:r>
              <a:rPr sz="1100" b="0">
                <a:solidFill>
                  <a:srgbClr val="5B6372"/>
                </a:solidFill>
                <a:latin typeface="Arial"/>
              </a:rPr>
              <a:t>Queues and routing rules put each case in front of the right person.</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Enforce service levels</a:t>
            </a:r>
          </a:p>
          <a:p>
            <a:pPr algn="l">
              <a:spcAft>
                <a:spcPts val="300"/>
              </a:spcAft>
            </a:pPr>
            <a:r>
              <a:rPr sz="1100" b="0">
                <a:solidFill>
                  <a:srgbClr val="5B6372"/>
                </a:solidFill>
                <a:latin typeface="Arial"/>
              </a:rPr>
              <a:t>SLAs put a measurable clock on first response and resolution.</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Define what is covered</a:t>
            </a:r>
          </a:p>
          <a:p>
            <a:pPr algn="l">
              <a:spcAft>
                <a:spcPts val="300"/>
              </a:spcAft>
            </a:pPr>
            <a:r>
              <a:rPr sz="1100" b="0">
                <a:solidFill>
                  <a:srgbClr val="5B6372"/>
                </a:solidFill>
                <a:latin typeface="Arial"/>
              </a:rPr>
              <a:t>Entitlements record how much support the customer has actually bought.</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Measure and improve</a:t>
            </a:r>
          </a:p>
          <a:p>
            <a:pPr algn="l">
              <a:spcAft>
                <a:spcPts val="300"/>
              </a:spcAft>
            </a:pPr>
            <a:r>
              <a:rPr sz="1100" b="0">
                <a:solidFill>
                  <a:srgbClr val="5B6372"/>
                </a:solidFill>
                <a:latin typeface="Arial"/>
              </a:rPr>
              <a:t>Dashboards and historical analytics show where service is working and where it is not.</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MANY INDUSTRIES, ONE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Where Customer Service Is Used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2138415" cy="739140"/>
          </a:xfrm>
          <a:prstGeom prst="rect">
            <a:avLst/>
          </a:prstGeom>
          <a:noFill/>
        </p:spPr>
        <p:txBody>
          <a:bodyPr wrap="square" anchor="ctr">
            <a:spAutoFit/>
          </a:bodyPr>
          <a:lstStyle/>
          <a:p>
            <a:pPr algn="l">
              <a:spcAft>
                <a:spcPts val="400"/>
              </a:spcAft>
            </a:pPr>
            <a:r>
              <a:rPr sz="1200" b="1">
                <a:solidFill>
                  <a:srgbClr val="FFFFFF"/>
                </a:solidFill>
                <a:latin typeface="Arial"/>
              </a:rPr>
              <a:t>Scenario</a:t>
            </a:r>
          </a:p>
        </p:txBody>
      </p:sp>
      <p:sp>
        <p:nvSpPr>
          <p:cNvPr id="9" name="Rectangle 8"/>
          <p:cNvSpPr/>
          <p:nvPr/>
        </p:nvSpPr>
        <p:spPr>
          <a:xfrm>
            <a:off x="3116823" y="1783080"/>
            <a:ext cx="3828409"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35695" y="1783080"/>
            <a:ext cx="3627241" cy="739140"/>
          </a:xfrm>
          <a:prstGeom prst="rect">
            <a:avLst/>
          </a:prstGeom>
          <a:noFill/>
        </p:spPr>
        <p:txBody>
          <a:bodyPr wrap="square" anchor="ctr">
            <a:spAutoFit/>
          </a:bodyPr>
          <a:lstStyle/>
          <a:p>
            <a:pPr algn="l">
              <a:spcAft>
                <a:spcPts val="400"/>
              </a:spcAft>
            </a:pPr>
            <a:r>
              <a:rPr sz="1200" b="1">
                <a:solidFill>
                  <a:srgbClr val="FFFFFF"/>
                </a:solidFill>
                <a:latin typeface="Arial"/>
              </a:rPr>
              <a:t>What they handle</a:t>
            </a:r>
          </a:p>
        </p:txBody>
      </p:sp>
      <p:sp>
        <p:nvSpPr>
          <p:cNvPr id="11" name="Rectangle 10"/>
          <p:cNvSpPr/>
          <p:nvPr/>
        </p:nvSpPr>
        <p:spPr>
          <a:xfrm>
            <a:off x="6945232" y="1783080"/>
            <a:ext cx="4466478" cy="7391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64104" y="1783080"/>
            <a:ext cx="4265310" cy="739140"/>
          </a:xfrm>
          <a:prstGeom prst="rect">
            <a:avLst/>
          </a:prstGeom>
          <a:noFill/>
        </p:spPr>
        <p:txBody>
          <a:bodyPr wrap="square" anchor="ctr">
            <a:spAutoFit/>
          </a:bodyPr>
          <a:lstStyle/>
          <a:p>
            <a:pPr algn="l">
              <a:spcAft>
                <a:spcPts val="400"/>
              </a:spcAft>
            </a:pPr>
            <a:r>
              <a:rPr sz="1200" b="1">
                <a:solidFill>
                  <a:srgbClr val="FFFFFF"/>
                </a:solidFill>
                <a:latin typeface="Arial"/>
              </a:rPr>
              <a:t>Why Dynamics 365 fits</a:t>
            </a:r>
          </a:p>
        </p:txBody>
      </p:sp>
      <p:sp>
        <p:nvSpPr>
          <p:cNvPr id="13" name="Rectangle 12"/>
          <p:cNvSpPr/>
          <p:nvPr/>
        </p:nvSpPr>
        <p:spPr>
          <a:xfrm>
            <a:off x="777240" y="252222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522220"/>
            <a:ext cx="2138415" cy="739140"/>
          </a:xfrm>
          <a:prstGeom prst="rect">
            <a:avLst/>
          </a:prstGeom>
          <a:noFill/>
        </p:spPr>
        <p:txBody>
          <a:bodyPr wrap="square" anchor="ctr">
            <a:spAutoFit/>
          </a:bodyPr>
          <a:lstStyle/>
          <a:p>
            <a:pPr algn="l">
              <a:spcAft>
                <a:spcPts val="400"/>
              </a:spcAft>
            </a:pPr>
            <a:r>
              <a:rPr sz="1100" b="1">
                <a:solidFill>
                  <a:srgbClr val="161B26"/>
                </a:solidFill>
                <a:latin typeface="Arial"/>
              </a:rPr>
              <a:t>Contact centre</a:t>
            </a:r>
          </a:p>
        </p:txBody>
      </p:sp>
      <p:sp>
        <p:nvSpPr>
          <p:cNvPr id="15" name="Rectangle 14"/>
          <p:cNvSpPr/>
          <p:nvPr/>
        </p:nvSpPr>
        <p:spPr>
          <a:xfrm>
            <a:off x="3116823" y="2522220"/>
            <a:ext cx="3828409"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35695" y="2522220"/>
            <a:ext cx="3627241" cy="739140"/>
          </a:xfrm>
          <a:prstGeom prst="rect">
            <a:avLst/>
          </a:prstGeom>
          <a:noFill/>
        </p:spPr>
        <p:txBody>
          <a:bodyPr wrap="square" anchor="ctr">
            <a:spAutoFit/>
          </a:bodyPr>
          <a:lstStyle/>
          <a:p>
            <a:pPr algn="l">
              <a:spcAft>
                <a:spcPts val="400"/>
              </a:spcAft>
            </a:pPr>
            <a:r>
              <a:rPr sz="1100" b="0">
                <a:solidFill>
                  <a:srgbClr val="161B26"/>
                </a:solidFill>
                <a:latin typeface="Arial"/>
              </a:rPr>
              <a:t>High-volume inbound calls, chat and email</a:t>
            </a:r>
          </a:p>
        </p:txBody>
      </p:sp>
      <p:sp>
        <p:nvSpPr>
          <p:cNvPr id="17" name="Rectangle 16"/>
          <p:cNvSpPr/>
          <p:nvPr/>
        </p:nvSpPr>
        <p:spPr>
          <a:xfrm>
            <a:off x="6945232" y="2522220"/>
            <a:ext cx="4466478"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64104" y="2522220"/>
            <a:ext cx="4265310" cy="739140"/>
          </a:xfrm>
          <a:prstGeom prst="rect">
            <a:avLst/>
          </a:prstGeom>
          <a:noFill/>
        </p:spPr>
        <p:txBody>
          <a:bodyPr wrap="square" anchor="ctr">
            <a:spAutoFit/>
          </a:bodyPr>
          <a:lstStyle/>
          <a:p>
            <a:pPr algn="l">
              <a:spcAft>
                <a:spcPts val="400"/>
              </a:spcAft>
            </a:pPr>
            <a:r>
              <a:rPr sz="1100" b="0">
                <a:solidFill>
                  <a:srgbClr val="161B26"/>
                </a:solidFill>
                <a:latin typeface="Arial"/>
              </a:rPr>
              <a:t>Omnichannel routing, session management, agent scripts</a:t>
            </a:r>
          </a:p>
        </p:txBody>
      </p:sp>
      <p:sp>
        <p:nvSpPr>
          <p:cNvPr id="19" name="Rectangle 18"/>
          <p:cNvSpPr/>
          <p:nvPr/>
        </p:nvSpPr>
        <p:spPr>
          <a:xfrm>
            <a:off x="777240" y="3261360"/>
            <a:ext cx="2339583"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261360"/>
            <a:ext cx="2138415" cy="739140"/>
          </a:xfrm>
          <a:prstGeom prst="rect">
            <a:avLst/>
          </a:prstGeom>
          <a:noFill/>
        </p:spPr>
        <p:txBody>
          <a:bodyPr wrap="square" anchor="ctr">
            <a:spAutoFit/>
          </a:bodyPr>
          <a:lstStyle/>
          <a:p>
            <a:pPr algn="l">
              <a:spcAft>
                <a:spcPts val="400"/>
              </a:spcAft>
            </a:pPr>
            <a:r>
              <a:rPr sz="1100" b="1">
                <a:solidFill>
                  <a:srgbClr val="161B26"/>
                </a:solidFill>
                <a:latin typeface="Arial"/>
              </a:rPr>
              <a:t>Service centre</a:t>
            </a:r>
          </a:p>
        </p:txBody>
      </p:sp>
      <p:sp>
        <p:nvSpPr>
          <p:cNvPr id="21" name="Rectangle 20"/>
          <p:cNvSpPr/>
          <p:nvPr/>
        </p:nvSpPr>
        <p:spPr>
          <a:xfrm>
            <a:off x="3116823" y="3261360"/>
            <a:ext cx="3828409"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35695" y="3261360"/>
            <a:ext cx="3627241" cy="739140"/>
          </a:xfrm>
          <a:prstGeom prst="rect">
            <a:avLst/>
          </a:prstGeom>
          <a:noFill/>
        </p:spPr>
        <p:txBody>
          <a:bodyPr wrap="square" anchor="ctr">
            <a:spAutoFit/>
          </a:bodyPr>
          <a:lstStyle/>
          <a:p>
            <a:pPr algn="l">
              <a:spcAft>
                <a:spcPts val="400"/>
              </a:spcAft>
            </a:pPr>
            <a:r>
              <a:rPr sz="1100" b="0">
                <a:solidFill>
                  <a:srgbClr val="161B26"/>
                </a:solidFill>
                <a:latin typeface="Arial"/>
              </a:rPr>
              <a:t>Repairs and servicing at a facility</a:t>
            </a:r>
          </a:p>
        </p:txBody>
      </p:sp>
      <p:sp>
        <p:nvSpPr>
          <p:cNvPr id="23" name="Rectangle 22"/>
          <p:cNvSpPr/>
          <p:nvPr/>
        </p:nvSpPr>
        <p:spPr>
          <a:xfrm>
            <a:off x="6945232" y="3261360"/>
            <a:ext cx="4466478"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64104" y="3261360"/>
            <a:ext cx="4265310" cy="739140"/>
          </a:xfrm>
          <a:prstGeom prst="rect">
            <a:avLst/>
          </a:prstGeom>
          <a:noFill/>
        </p:spPr>
        <p:txBody>
          <a:bodyPr wrap="square" anchor="ctr">
            <a:spAutoFit/>
          </a:bodyPr>
          <a:lstStyle/>
          <a:p>
            <a:pPr algn="l">
              <a:spcAft>
                <a:spcPts val="400"/>
              </a:spcAft>
            </a:pPr>
            <a:r>
              <a:rPr sz="1100" b="0">
                <a:solidFill>
                  <a:srgbClr val="161B26"/>
                </a:solidFill>
                <a:latin typeface="Arial"/>
              </a:rPr>
              <a:t>Case tracking with parts, entitlements and warranty terms</a:t>
            </a:r>
          </a:p>
        </p:txBody>
      </p:sp>
      <p:sp>
        <p:nvSpPr>
          <p:cNvPr id="25" name="Rectangle 24"/>
          <p:cNvSpPr/>
          <p:nvPr/>
        </p:nvSpPr>
        <p:spPr>
          <a:xfrm>
            <a:off x="777240" y="400050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4000500"/>
            <a:ext cx="2138415" cy="739140"/>
          </a:xfrm>
          <a:prstGeom prst="rect">
            <a:avLst/>
          </a:prstGeom>
          <a:noFill/>
        </p:spPr>
        <p:txBody>
          <a:bodyPr wrap="square" anchor="ctr">
            <a:spAutoFit/>
          </a:bodyPr>
          <a:lstStyle/>
          <a:p>
            <a:pPr algn="l">
              <a:spcAft>
                <a:spcPts val="400"/>
              </a:spcAft>
            </a:pPr>
            <a:r>
              <a:rPr sz="1100" b="1">
                <a:solidFill>
                  <a:srgbClr val="161B26"/>
                </a:solidFill>
                <a:latin typeface="Arial"/>
              </a:rPr>
              <a:t>Internal IT helpdesk</a:t>
            </a:r>
          </a:p>
        </p:txBody>
      </p:sp>
      <p:sp>
        <p:nvSpPr>
          <p:cNvPr id="27" name="Rectangle 26"/>
          <p:cNvSpPr/>
          <p:nvPr/>
        </p:nvSpPr>
        <p:spPr>
          <a:xfrm>
            <a:off x="3116823" y="4000500"/>
            <a:ext cx="3828409"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35695" y="4000500"/>
            <a:ext cx="3627241" cy="739140"/>
          </a:xfrm>
          <a:prstGeom prst="rect">
            <a:avLst/>
          </a:prstGeom>
          <a:noFill/>
        </p:spPr>
        <p:txBody>
          <a:bodyPr wrap="square" anchor="ctr">
            <a:spAutoFit/>
          </a:bodyPr>
          <a:lstStyle/>
          <a:p>
            <a:pPr algn="l">
              <a:spcAft>
                <a:spcPts val="400"/>
              </a:spcAft>
            </a:pPr>
            <a:r>
              <a:rPr sz="1100" b="0">
                <a:solidFill>
                  <a:srgbClr val="161B26"/>
                </a:solidFill>
                <a:latin typeface="Arial"/>
              </a:rPr>
              <a:t>Employee technology issues</a:t>
            </a:r>
          </a:p>
        </p:txBody>
      </p:sp>
      <p:sp>
        <p:nvSpPr>
          <p:cNvPr id="29" name="Rectangle 28"/>
          <p:cNvSpPr/>
          <p:nvPr/>
        </p:nvSpPr>
        <p:spPr>
          <a:xfrm>
            <a:off x="6945232" y="4000500"/>
            <a:ext cx="4466478"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64104" y="4000500"/>
            <a:ext cx="4265310" cy="739140"/>
          </a:xfrm>
          <a:prstGeom prst="rect">
            <a:avLst/>
          </a:prstGeom>
          <a:noFill/>
        </p:spPr>
        <p:txBody>
          <a:bodyPr wrap="square" anchor="ctr">
            <a:spAutoFit/>
          </a:bodyPr>
          <a:lstStyle/>
          <a:p>
            <a:pPr algn="l">
              <a:spcAft>
                <a:spcPts val="400"/>
              </a:spcAft>
            </a:pPr>
            <a:r>
              <a:rPr sz="1100" b="0">
                <a:solidFill>
                  <a:srgbClr val="161B26"/>
                </a:solidFill>
                <a:latin typeface="Arial"/>
              </a:rPr>
              <a:t>Queues, SLAs, knowledge base and self-service portal</a:t>
            </a:r>
          </a:p>
        </p:txBody>
      </p:sp>
      <p:sp>
        <p:nvSpPr>
          <p:cNvPr id="31" name="Rectangle 30"/>
          <p:cNvSpPr/>
          <p:nvPr/>
        </p:nvSpPr>
        <p:spPr>
          <a:xfrm>
            <a:off x="777240" y="4739640"/>
            <a:ext cx="2339583"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739640"/>
            <a:ext cx="2138415" cy="739140"/>
          </a:xfrm>
          <a:prstGeom prst="rect">
            <a:avLst/>
          </a:prstGeom>
          <a:noFill/>
        </p:spPr>
        <p:txBody>
          <a:bodyPr wrap="square" anchor="ctr">
            <a:spAutoFit/>
          </a:bodyPr>
          <a:lstStyle/>
          <a:p>
            <a:pPr algn="l">
              <a:spcAft>
                <a:spcPts val="400"/>
              </a:spcAft>
            </a:pPr>
            <a:r>
              <a:rPr sz="1100" b="1">
                <a:solidFill>
                  <a:srgbClr val="161B26"/>
                </a:solidFill>
                <a:latin typeface="Arial"/>
              </a:rPr>
              <a:t>HR service desk</a:t>
            </a:r>
          </a:p>
        </p:txBody>
      </p:sp>
      <p:sp>
        <p:nvSpPr>
          <p:cNvPr id="33" name="Rectangle 32"/>
          <p:cNvSpPr/>
          <p:nvPr/>
        </p:nvSpPr>
        <p:spPr>
          <a:xfrm>
            <a:off x="3116823" y="4739640"/>
            <a:ext cx="3828409"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35695" y="4739640"/>
            <a:ext cx="3627241" cy="739140"/>
          </a:xfrm>
          <a:prstGeom prst="rect">
            <a:avLst/>
          </a:prstGeom>
          <a:noFill/>
        </p:spPr>
        <p:txBody>
          <a:bodyPr wrap="square" anchor="ctr">
            <a:spAutoFit/>
          </a:bodyPr>
          <a:lstStyle/>
          <a:p>
            <a:pPr algn="l">
              <a:spcAft>
                <a:spcPts val="400"/>
              </a:spcAft>
            </a:pPr>
            <a:r>
              <a:rPr sz="1100" b="0">
                <a:solidFill>
                  <a:srgbClr val="161B26"/>
                </a:solidFill>
                <a:latin typeface="Arial"/>
              </a:rPr>
              <a:t>Employee policy and benefit questions</a:t>
            </a:r>
          </a:p>
        </p:txBody>
      </p:sp>
      <p:sp>
        <p:nvSpPr>
          <p:cNvPr id="35" name="Rectangle 34"/>
          <p:cNvSpPr/>
          <p:nvPr/>
        </p:nvSpPr>
        <p:spPr>
          <a:xfrm>
            <a:off x="6945232" y="4739640"/>
            <a:ext cx="4466478" cy="7391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64104" y="4739640"/>
            <a:ext cx="4265310" cy="739140"/>
          </a:xfrm>
          <a:prstGeom prst="rect">
            <a:avLst/>
          </a:prstGeom>
          <a:noFill/>
        </p:spPr>
        <p:txBody>
          <a:bodyPr wrap="square" anchor="ctr">
            <a:spAutoFit/>
          </a:bodyPr>
          <a:lstStyle/>
          <a:p>
            <a:pPr algn="l">
              <a:spcAft>
                <a:spcPts val="400"/>
              </a:spcAft>
            </a:pPr>
            <a:r>
              <a:rPr sz="1100" b="0">
                <a:solidFill>
                  <a:srgbClr val="161B26"/>
                </a:solidFill>
                <a:latin typeface="Arial"/>
              </a:rPr>
              <a:t>Confidential cases with role-based security</a:t>
            </a:r>
          </a:p>
        </p:txBody>
      </p:sp>
      <p:sp>
        <p:nvSpPr>
          <p:cNvPr id="37" name="Rectangle 36"/>
          <p:cNvSpPr/>
          <p:nvPr/>
        </p:nvSpPr>
        <p:spPr>
          <a:xfrm>
            <a:off x="777240" y="5478780"/>
            <a:ext cx="2339583"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5478780"/>
            <a:ext cx="2138415" cy="739140"/>
          </a:xfrm>
          <a:prstGeom prst="rect">
            <a:avLst/>
          </a:prstGeom>
          <a:noFill/>
        </p:spPr>
        <p:txBody>
          <a:bodyPr wrap="square" anchor="ctr">
            <a:spAutoFit/>
          </a:bodyPr>
          <a:lstStyle/>
          <a:p>
            <a:pPr algn="l">
              <a:spcAft>
                <a:spcPts val="400"/>
              </a:spcAft>
            </a:pPr>
            <a:r>
              <a:rPr sz="1100" b="1">
                <a:solidFill>
                  <a:srgbClr val="161B26"/>
                </a:solidFill>
                <a:latin typeface="Arial"/>
              </a:rPr>
              <a:t>Warranty support</a:t>
            </a:r>
          </a:p>
        </p:txBody>
      </p:sp>
      <p:sp>
        <p:nvSpPr>
          <p:cNvPr id="39" name="Rectangle 38"/>
          <p:cNvSpPr/>
          <p:nvPr/>
        </p:nvSpPr>
        <p:spPr>
          <a:xfrm>
            <a:off x="3116823" y="5478780"/>
            <a:ext cx="3828409"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35695" y="5478780"/>
            <a:ext cx="3627241" cy="739140"/>
          </a:xfrm>
          <a:prstGeom prst="rect">
            <a:avLst/>
          </a:prstGeom>
          <a:noFill/>
        </p:spPr>
        <p:txBody>
          <a:bodyPr wrap="square" anchor="ctr">
            <a:spAutoFit/>
          </a:bodyPr>
          <a:lstStyle/>
          <a:p>
            <a:pPr algn="l">
              <a:spcAft>
                <a:spcPts val="400"/>
              </a:spcAft>
            </a:pPr>
            <a:r>
              <a:rPr sz="1100" b="0">
                <a:solidFill>
                  <a:srgbClr val="161B26"/>
                </a:solidFill>
                <a:latin typeface="Arial"/>
              </a:rPr>
              <a:t>Claims against a purchased product</a:t>
            </a:r>
          </a:p>
        </p:txBody>
      </p:sp>
      <p:sp>
        <p:nvSpPr>
          <p:cNvPr id="41" name="Rectangle 40"/>
          <p:cNvSpPr/>
          <p:nvPr/>
        </p:nvSpPr>
        <p:spPr>
          <a:xfrm>
            <a:off x="6945232" y="5478780"/>
            <a:ext cx="4466478" cy="7391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064104" y="5478780"/>
            <a:ext cx="4265310" cy="739140"/>
          </a:xfrm>
          <a:prstGeom prst="rect">
            <a:avLst/>
          </a:prstGeom>
          <a:noFill/>
        </p:spPr>
        <p:txBody>
          <a:bodyPr wrap="square" anchor="ctr">
            <a:spAutoFit/>
          </a:bodyPr>
          <a:lstStyle/>
          <a:p>
            <a:pPr algn="l">
              <a:spcAft>
                <a:spcPts val="400"/>
              </a:spcAft>
            </a:pPr>
            <a:r>
              <a:rPr sz="1100" b="0">
                <a:solidFill>
                  <a:srgbClr val="161B26"/>
                </a:solidFill>
                <a:latin typeface="Arial"/>
              </a:rPr>
              <a:t>Entitlements, customer assets and case resolution history</a:t>
            </a:r>
          </a:p>
        </p:txBody>
      </p:sp>
      <p:sp>
        <p:nvSpPr>
          <p:cNvPr id="43" name="TextBox 4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4" name="TextBox 4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PHONE TO CASE BUSINESS PROCESS FLOW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Case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ase_lifecycle.png"/>
          <p:cNvPicPr>
            <a:picLocks noChangeAspect="1"/>
          </p:cNvPicPr>
          <p:nvPr/>
        </p:nvPicPr>
        <p:blipFill>
          <a:blip r:embed="rId2"/>
          <a:stretch>
            <a:fillRect/>
          </a:stretch>
        </p:blipFill>
        <p:spPr>
          <a:xfrm>
            <a:off x="777240" y="2577657"/>
            <a:ext cx="5852160" cy="2754246"/>
          </a:xfrm>
          <a:prstGeom prst="rect">
            <a:avLst/>
          </a:prstGeom>
        </p:spPr>
      </p:pic>
      <p:sp>
        <p:nvSpPr>
          <p:cNvPr id="8" name="Rectangle 7"/>
          <p:cNvSpPr/>
          <p:nvPr/>
        </p:nvSpPr>
        <p:spPr>
          <a:xfrm>
            <a:off x="6903720" y="1783080"/>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90372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41464" y="1783080"/>
            <a:ext cx="4087368" cy="737006"/>
          </a:xfrm>
          <a:prstGeom prst="rect">
            <a:avLst/>
          </a:prstGeom>
          <a:noFill/>
        </p:spPr>
        <p:txBody>
          <a:bodyPr wrap="square" anchor="ctr">
            <a:spAutoFit/>
          </a:bodyPr>
          <a:lstStyle/>
          <a:p>
            <a:pPr algn="l">
              <a:spcAft>
                <a:spcPts val="200"/>
              </a:spcAft>
            </a:pPr>
            <a:r>
              <a:rPr sz="1300" b="1">
                <a:solidFill>
                  <a:srgbClr val="1F6FEB"/>
                </a:solidFill>
                <a:latin typeface="Arial"/>
              </a:rPr>
              <a:t>Identify</a:t>
            </a:r>
          </a:p>
          <a:p>
            <a:pPr algn="l">
              <a:spcAft>
                <a:spcPts val="200"/>
              </a:spcAft>
            </a:pPr>
            <a:r>
              <a:rPr sz="1100" b="0">
                <a:solidFill>
                  <a:srgbClr val="161B26"/>
                </a:solidFill>
                <a:latin typeface="Arial"/>
              </a:rPr>
              <a:t>Confirm the customer and contact, check the entitlement, understand the issue.</a:t>
            </a:r>
          </a:p>
        </p:txBody>
      </p:sp>
      <p:sp>
        <p:nvSpPr>
          <p:cNvPr id="11" name="Rectangle 10"/>
          <p:cNvSpPr/>
          <p:nvPr/>
        </p:nvSpPr>
        <p:spPr>
          <a:xfrm>
            <a:off x="6903720" y="2684678"/>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0372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1464" y="2684678"/>
            <a:ext cx="4087368" cy="737006"/>
          </a:xfrm>
          <a:prstGeom prst="rect">
            <a:avLst/>
          </a:prstGeom>
          <a:noFill/>
        </p:spPr>
        <p:txBody>
          <a:bodyPr wrap="square" anchor="ctr">
            <a:spAutoFit/>
          </a:bodyPr>
          <a:lstStyle/>
          <a:p>
            <a:pPr algn="l">
              <a:spcAft>
                <a:spcPts val="200"/>
              </a:spcAft>
            </a:pPr>
            <a:r>
              <a:rPr sz="1300" b="1">
                <a:solidFill>
                  <a:srgbClr val="10B981"/>
                </a:solidFill>
                <a:latin typeface="Arial"/>
              </a:rPr>
              <a:t>Research</a:t>
            </a:r>
          </a:p>
          <a:p>
            <a:pPr algn="l">
              <a:spcAft>
                <a:spcPts val="200"/>
              </a:spcAft>
            </a:pPr>
            <a:r>
              <a:rPr sz="1100" b="0">
                <a:solidFill>
                  <a:srgbClr val="161B26"/>
                </a:solidFill>
                <a:latin typeface="Arial"/>
              </a:rPr>
              <a:t>Investigate, search knowledge, collaborate with colleagues, escalate if needed.</a:t>
            </a:r>
          </a:p>
        </p:txBody>
      </p:sp>
      <p:sp>
        <p:nvSpPr>
          <p:cNvPr id="14" name="Rectangle 13"/>
          <p:cNvSpPr/>
          <p:nvPr/>
        </p:nvSpPr>
        <p:spPr>
          <a:xfrm>
            <a:off x="6903720" y="3586276"/>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0372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41464" y="3586276"/>
            <a:ext cx="4087368" cy="737006"/>
          </a:xfrm>
          <a:prstGeom prst="rect">
            <a:avLst/>
          </a:prstGeom>
          <a:noFill/>
        </p:spPr>
        <p:txBody>
          <a:bodyPr wrap="square" anchor="ctr">
            <a:spAutoFit/>
          </a:bodyPr>
          <a:lstStyle/>
          <a:p>
            <a:pPr algn="l">
              <a:spcAft>
                <a:spcPts val="200"/>
              </a:spcAft>
            </a:pPr>
            <a:r>
              <a:rPr sz="1300" b="1">
                <a:solidFill>
                  <a:srgbClr val="7C3AED"/>
                </a:solidFill>
                <a:latin typeface="Arial"/>
              </a:rPr>
              <a:t>Resolve</a:t>
            </a:r>
          </a:p>
          <a:p>
            <a:pPr algn="l">
              <a:spcAft>
                <a:spcPts val="200"/>
              </a:spcAft>
            </a:pPr>
            <a:r>
              <a:rPr sz="1100" b="0">
                <a:solidFill>
                  <a:srgbClr val="161B26"/>
                </a:solidFill>
                <a:latin typeface="Arial"/>
              </a:rPr>
              <a:t>Apply the fix, record the resolution type and billable time, close the case.</a:t>
            </a:r>
          </a:p>
        </p:txBody>
      </p:sp>
      <p:sp>
        <p:nvSpPr>
          <p:cNvPr id="17" name="Rectangle 16"/>
          <p:cNvSpPr/>
          <p:nvPr/>
        </p:nvSpPr>
        <p:spPr>
          <a:xfrm>
            <a:off x="6903720" y="4487874"/>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0372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1464" y="4487874"/>
            <a:ext cx="4087368" cy="737006"/>
          </a:xfrm>
          <a:prstGeom prst="rect">
            <a:avLst/>
          </a:prstGeom>
          <a:noFill/>
        </p:spPr>
        <p:txBody>
          <a:bodyPr wrap="square" anchor="ctr">
            <a:spAutoFit/>
          </a:bodyPr>
          <a:lstStyle/>
          <a:p>
            <a:pPr algn="l">
              <a:spcAft>
                <a:spcPts val="200"/>
              </a:spcAft>
            </a:pPr>
            <a:r>
              <a:rPr sz="1300" b="1">
                <a:solidFill>
                  <a:srgbClr val="F59E0B"/>
                </a:solidFill>
                <a:latin typeface="Arial"/>
              </a:rPr>
              <a:t>The SLA runs alongside</a:t>
            </a:r>
          </a:p>
          <a:p>
            <a:pPr algn="l">
              <a:spcAft>
                <a:spcPts val="200"/>
              </a:spcAft>
            </a:pPr>
            <a:r>
              <a:rPr sz="1100" b="0">
                <a:solidFill>
                  <a:srgbClr val="161B26"/>
                </a:solidFill>
                <a:latin typeface="Arial"/>
              </a:rPr>
              <a:t>First response and resolution clocks with warning and failure actions.</a:t>
            </a:r>
          </a:p>
        </p:txBody>
      </p:sp>
      <p:sp>
        <p:nvSpPr>
          <p:cNvPr id="20" name="Rectangle 19"/>
          <p:cNvSpPr/>
          <p:nvPr/>
        </p:nvSpPr>
        <p:spPr>
          <a:xfrm>
            <a:off x="6903720" y="5389472"/>
            <a:ext cx="450799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0372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41464" y="5389472"/>
            <a:ext cx="4087368" cy="737006"/>
          </a:xfrm>
          <a:prstGeom prst="rect">
            <a:avLst/>
          </a:prstGeom>
          <a:noFill/>
        </p:spPr>
        <p:txBody>
          <a:bodyPr wrap="square" anchor="ctr">
            <a:spAutoFit/>
          </a:bodyPr>
          <a:lstStyle/>
          <a:p>
            <a:pPr algn="l">
              <a:spcAft>
                <a:spcPts val="200"/>
              </a:spcAft>
            </a:pPr>
            <a:r>
              <a:rPr sz="1300" b="1">
                <a:solidFill>
                  <a:srgbClr val="1F6FEB"/>
                </a:solidFill>
                <a:latin typeface="Arial"/>
              </a:rPr>
              <a:t>The entitlement decrements</a:t>
            </a:r>
          </a:p>
          <a:p>
            <a:pPr algn="l">
              <a:spcAft>
                <a:spcPts val="200"/>
              </a:spcAft>
            </a:pPr>
            <a:r>
              <a:rPr sz="1100" b="0">
                <a:solidFill>
                  <a:srgbClr val="161B26"/>
                </a:solidFill>
                <a:latin typeface="Arial"/>
              </a:rPr>
              <a:t>Each resolved case consumes one of the customer's purchased terms.</a:t>
            </a:r>
          </a:p>
        </p:txBody>
      </p:sp>
      <p:sp>
        <p:nvSpPr>
          <p:cNvPr id="23" name="TextBox 2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4" name="TextBox 2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WAYS TO MANAGE SERVICE LEVEL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SLAs and Entitlements — Not the Same Thing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F59E0B"/>
                </a:solidFill>
                <a:latin typeface="Arial"/>
              </a:rPr>
              <a:t>SLA — how fast</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7C3AED"/>
                </a:solidFill>
                <a:latin typeface="Arial"/>
              </a:rPr>
              <a:t>Entitlement — how much</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Service Level Agreement (SLA)</a:t>
            </a:r>
          </a:p>
          <a:p>
            <a:pPr>
              <a:spcAft>
                <a:spcPts val="1000"/>
              </a:spcAft>
            </a:pPr>
            <a:r>
              <a:rPr sz="1200" b="0">
                <a:solidFill>
                  <a:srgbClr val="5B6372"/>
                </a:solidFill>
                <a:latin typeface="Arial"/>
              </a:rPr>
              <a:t>–  A TIME commitment: how fast you will respond and resolve</a:t>
            </a:r>
          </a:p>
          <a:p>
            <a:pPr>
              <a:spcAft>
                <a:spcPts val="1000"/>
              </a:spcAft>
            </a:pPr>
            <a:r>
              <a:rPr sz="1200" b="0">
                <a:solidFill>
                  <a:srgbClr val="5B6372"/>
                </a:solidFill>
                <a:latin typeface="Arial"/>
              </a:rPr>
              <a:t>–  KPIs: First Response By, Resolve By</a:t>
            </a:r>
          </a:p>
          <a:p>
            <a:pPr>
              <a:spcAft>
                <a:spcPts val="1000"/>
              </a:spcAft>
            </a:pPr>
            <a:r>
              <a:rPr sz="1200" b="0">
                <a:solidFill>
                  <a:srgbClr val="5B6372"/>
                </a:solidFill>
                <a:latin typeface="Arial"/>
              </a:rPr>
              <a:t>–  Warning action fires before the deadline</a:t>
            </a:r>
          </a:p>
          <a:p>
            <a:pPr>
              <a:spcAft>
                <a:spcPts val="1000"/>
              </a:spcAft>
            </a:pPr>
            <a:r>
              <a:rPr sz="1200" b="0">
                <a:solidFill>
                  <a:srgbClr val="5B6372"/>
                </a:solidFill>
                <a:latin typeface="Arial"/>
              </a:rPr>
              <a:t>–  Failure action fires when it is breached</a:t>
            </a:r>
          </a:p>
          <a:p>
            <a:pPr>
              <a:spcAft>
                <a:spcPts val="1000"/>
              </a:spcAft>
            </a:pPr>
            <a:r>
              <a:rPr sz="1200" b="0">
                <a:solidFill>
                  <a:srgbClr val="5B6372"/>
                </a:solidFill>
                <a:latin typeface="Arial"/>
              </a:rPr>
              <a:t>–  Can differ by priority, customer tier or channel</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Entitlement</a:t>
            </a:r>
          </a:p>
          <a:p>
            <a:pPr>
              <a:spcAft>
                <a:spcPts val="1000"/>
              </a:spcAft>
            </a:pPr>
            <a:r>
              <a:rPr sz="1200" b="0">
                <a:solidFill>
                  <a:srgbClr val="5B6372"/>
                </a:solidFill>
                <a:latin typeface="Arial"/>
              </a:rPr>
              <a:t>–  A QUANTITY commitment: how much support they bought</a:t>
            </a:r>
          </a:p>
          <a:p>
            <a:pPr>
              <a:spcAft>
                <a:spcPts val="1000"/>
              </a:spcAft>
            </a:pPr>
            <a:r>
              <a:rPr sz="1200" b="0">
                <a:solidFill>
                  <a:srgbClr val="5B6372"/>
                </a:solidFill>
                <a:latin typeface="Arial"/>
              </a:rPr>
              <a:t>–  Allocated by number of cases OR number of hours</a:t>
            </a:r>
          </a:p>
          <a:p>
            <a:pPr>
              <a:spcAft>
                <a:spcPts val="1000"/>
              </a:spcAft>
            </a:pPr>
            <a:r>
              <a:rPr sz="1200" b="0">
                <a:solidFill>
                  <a:srgbClr val="5B6372"/>
                </a:solidFill>
                <a:latin typeface="Arial"/>
              </a:rPr>
              <a:t>–  Has a start date, end date and remaining balance</a:t>
            </a:r>
          </a:p>
          <a:p>
            <a:pPr>
              <a:spcAft>
                <a:spcPts val="1000"/>
              </a:spcAft>
            </a:pPr>
            <a:r>
              <a:rPr sz="1200" b="0">
                <a:solidFill>
                  <a:srgbClr val="5B6372"/>
                </a:solidFill>
                <a:latin typeface="Arial"/>
              </a:rPr>
              <a:t>–  Can be restricted to specific channels or products</a:t>
            </a:r>
          </a:p>
          <a:p>
            <a:pPr>
              <a:spcAft>
                <a:spcPts val="1000"/>
              </a:spcAft>
            </a:pPr>
            <a:r>
              <a:rPr sz="1200" b="0">
                <a:solidFill>
                  <a:srgbClr val="5B6372"/>
                </a:solidFill>
                <a:latin typeface="Arial"/>
              </a:rPr>
              <a:t>–  Covers warranties, service contracts and incident packs</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A gold customer might have a 1-hour SLA and a 50-case entitlement; a bronze customer 24 hours and 10 cases.</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ROUTES INTO THE QUEUE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How Cases Get Created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Manually by an agent</a:t>
            </a:r>
          </a:p>
          <a:p>
            <a:pPr algn="l">
              <a:spcAft>
                <a:spcPts val="300"/>
              </a:spcAft>
            </a:pPr>
            <a:r>
              <a:rPr sz="1100" b="0">
                <a:solidFill>
                  <a:srgbClr val="5B6372"/>
                </a:solidFill>
                <a:latin typeface="Arial"/>
              </a:rPr>
              <a:t>The agent takes a call and creates the case as they talk to the customer.</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Automatic record creation</a:t>
            </a:r>
          </a:p>
          <a:p>
            <a:pPr algn="l">
              <a:spcAft>
                <a:spcPts val="300"/>
              </a:spcAft>
            </a:pPr>
            <a:r>
              <a:rPr sz="1100" b="0">
                <a:solidFill>
                  <a:srgbClr val="5B6372"/>
                </a:solidFill>
                <a:latin typeface="Arial"/>
              </a:rPr>
              <a:t>Rules turn inbound email, social posts or IoT alerts into cases without human touch.</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Customer self-service</a:t>
            </a:r>
          </a:p>
          <a:p>
            <a:pPr algn="l">
              <a:spcAft>
                <a:spcPts val="300"/>
              </a:spcAft>
            </a:pPr>
            <a:r>
              <a:rPr sz="1100" b="0">
                <a:solidFill>
                  <a:srgbClr val="5B6372"/>
                </a:solidFill>
                <a:latin typeface="Arial"/>
              </a:rPr>
              <a:t>A portal or a bot lets the customer raise the case themselves, any hour.</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From a conversation</a:t>
            </a:r>
          </a:p>
          <a:p>
            <a:pPr algn="l">
              <a:spcAft>
                <a:spcPts val="300"/>
              </a:spcAft>
            </a:pPr>
            <a:r>
              <a:rPr sz="1100" b="0">
                <a:solidFill>
                  <a:srgbClr val="5B6372"/>
                </a:solidFill>
                <a:latin typeface="Arial"/>
              </a:rPr>
              <a:t>An Omnichannel chat or call escalates into a case with the transcript attached.</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From a work order</a:t>
            </a:r>
          </a:p>
          <a:p>
            <a:pPr algn="l">
              <a:spcAft>
                <a:spcPts val="300"/>
              </a:spcAft>
            </a:pPr>
            <a:r>
              <a:rPr sz="1100" b="0">
                <a:solidFill>
                  <a:srgbClr val="5B6372"/>
                </a:solidFill>
                <a:latin typeface="Arial"/>
              </a:rPr>
              <a:t>A field visit that reveals a second problem raises a new case.</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Via API or integration</a:t>
            </a:r>
          </a:p>
          <a:p>
            <a:pPr algn="l">
              <a:spcAft>
                <a:spcPts val="300"/>
              </a:spcAft>
            </a:pPr>
            <a:r>
              <a:rPr sz="1100" b="0">
                <a:solidFill>
                  <a:srgbClr val="5B6372"/>
                </a:solidFill>
                <a:latin typeface="Arial"/>
              </a:rPr>
              <a:t>Another system (ERP, monitoring, partner portal) creates cases programmatically.</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WORKLOAD MANAGEMENT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Queues and Routing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outing_decision.png"/>
          <p:cNvPicPr>
            <a:picLocks noChangeAspect="1"/>
          </p:cNvPicPr>
          <p:nvPr/>
        </p:nvPicPr>
        <p:blipFill>
          <a:blip r:embed="rId2"/>
          <a:stretch>
            <a:fillRect/>
          </a:stretch>
        </p:blipFill>
        <p:spPr>
          <a:xfrm>
            <a:off x="777240" y="2537656"/>
            <a:ext cx="6035040" cy="2834248"/>
          </a:xfrm>
          <a:prstGeom prst="rect">
            <a:avLst/>
          </a:prstGeom>
        </p:spPr>
      </p:pic>
      <p:sp>
        <p:nvSpPr>
          <p:cNvPr id="8" name="Rectangle 7"/>
          <p:cNvSpPr/>
          <p:nvPr/>
        </p:nvSpPr>
        <p:spPr>
          <a:xfrm>
            <a:off x="7086600" y="1783080"/>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86600" y="1783080"/>
            <a:ext cx="82296" cy="9624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24344" y="1783080"/>
            <a:ext cx="3904488" cy="962406"/>
          </a:xfrm>
          <a:prstGeom prst="rect">
            <a:avLst/>
          </a:prstGeom>
          <a:noFill/>
        </p:spPr>
        <p:txBody>
          <a:bodyPr wrap="square" anchor="ctr">
            <a:spAutoFit/>
          </a:bodyPr>
          <a:lstStyle/>
          <a:p>
            <a:pPr algn="l">
              <a:spcAft>
                <a:spcPts val="200"/>
              </a:spcAft>
            </a:pPr>
            <a:r>
              <a:rPr sz="1300" b="1">
                <a:solidFill>
                  <a:srgbClr val="1F6FEB"/>
                </a:solidFill>
                <a:latin typeface="Arial"/>
              </a:rPr>
              <a:t>Queues hold the work</a:t>
            </a:r>
          </a:p>
          <a:p>
            <a:pPr algn="l">
              <a:spcAft>
                <a:spcPts val="200"/>
              </a:spcAft>
            </a:pPr>
            <a:r>
              <a:rPr sz="1100" b="0">
                <a:solidFill>
                  <a:srgbClr val="161B26"/>
                </a:solidFill>
                <a:latin typeface="Arial"/>
              </a:rPr>
              <a:t>Cases sit in a queue until an agent picks one or is assigned it.</a:t>
            </a:r>
          </a:p>
        </p:txBody>
      </p:sp>
      <p:sp>
        <p:nvSpPr>
          <p:cNvPr id="11" name="Rectangle 10"/>
          <p:cNvSpPr/>
          <p:nvPr/>
        </p:nvSpPr>
        <p:spPr>
          <a:xfrm>
            <a:off x="7086600" y="2910078"/>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86600" y="2910078"/>
            <a:ext cx="82296" cy="9624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24344" y="2910078"/>
            <a:ext cx="3904488" cy="962406"/>
          </a:xfrm>
          <a:prstGeom prst="rect">
            <a:avLst/>
          </a:prstGeom>
          <a:noFill/>
        </p:spPr>
        <p:txBody>
          <a:bodyPr wrap="square" anchor="ctr">
            <a:spAutoFit/>
          </a:bodyPr>
          <a:lstStyle/>
          <a:p>
            <a:pPr algn="l">
              <a:spcAft>
                <a:spcPts val="200"/>
              </a:spcAft>
            </a:pPr>
            <a:r>
              <a:rPr sz="1300" b="1">
                <a:solidFill>
                  <a:srgbClr val="10B981"/>
                </a:solidFill>
                <a:latin typeface="Arial"/>
              </a:rPr>
              <a:t>Basic routing → a queue</a:t>
            </a:r>
          </a:p>
          <a:p>
            <a:pPr algn="l">
              <a:spcAft>
                <a:spcPts val="200"/>
              </a:spcAft>
            </a:pPr>
            <a:r>
              <a:rPr sz="1100" b="0">
                <a:solidFill>
                  <a:srgbClr val="161B26"/>
                </a:solidFill>
                <a:latin typeface="Arial"/>
              </a:rPr>
              <a:t>Rule sets (Gold / Silver / Bronze) direct the case to the right queue by criteria.</a:t>
            </a:r>
          </a:p>
        </p:txBody>
      </p:sp>
      <p:sp>
        <p:nvSpPr>
          <p:cNvPr id="14" name="Rectangle 13"/>
          <p:cNvSpPr/>
          <p:nvPr/>
        </p:nvSpPr>
        <p:spPr>
          <a:xfrm>
            <a:off x="7086600" y="4037076"/>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86600" y="4037076"/>
            <a:ext cx="82296" cy="9624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4344" y="4037076"/>
            <a:ext cx="3904488" cy="962406"/>
          </a:xfrm>
          <a:prstGeom prst="rect">
            <a:avLst/>
          </a:prstGeom>
          <a:noFill/>
        </p:spPr>
        <p:txBody>
          <a:bodyPr wrap="square" anchor="ctr">
            <a:spAutoFit/>
          </a:bodyPr>
          <a:lstStyle/>
          <a:p>
            <a:pPr algn="l">
              <a:spcAft>
                <a:spcPts val="200"/>
              </a:spcAft>
            </a:pPr>
            <a:r>
              <a:rPr sz="1300" b="1">
                <a:solidFill>
                  <a:srgbClr val="7C3AED"/>
                </a:solidFill>
                <a:latin typeface="Arial"/>
              </a:rPr>
              <a:t>Unified routing → an agent</a:t>
            </a:r>
          </a:p>
          <a:p>
            <a:pPr algn="l">
              <a:spcAft>
                <a:spcPts val="200"/>
              </a:spcAft>
            </a:pPr>
            <a:r>
              <a:rPr sz="1100" b="0">
                <a:solidFill>
                  <a:srgbClr val="161B26"/>
                </a:solidFill>
                <a:latin typeface="Arial"/>
              </a:rPr>
              <a:t>AI assigns work using skills, capacity, presence and priority, across every channel.</a:t>
            </a:r>
          </a:p>
        </p:txBody>
      </p:sp>
      <p:sp>
        <p:nvSpPr>
          <p:cNvPr id="17" name="Rectangle 16"/>
          <p:cNvSpPr/>
          <p:nvPr/>
        </p:nvSpPr>
        <p:spPr>
          <a:xfrm>
            <a:off x="7086600" y="5164074"/>
            <a:ext cx="4325112" cy="9624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86600" y="5164074"/>
            <a:ext cx="82296" cy="9624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24344" y="5164074"/>
            <a:ext cx="3904488" cy="962406"/>
          </a:xfrm>
          <a:prstGeom prst="rect">
            <a:avLst/>
          </a:prstGeom>
          <a:noFill/>
        </p:spPr>
        <p:txBody>
          <a:bodyPr wrap="square" anchor="ctr">
            <a:spAutoFit/>
          </a:bodyPr>
          <a:lstStyle/>
          <a:p>
            <a:pPr algn="l">
              <a:spcAft>
                <a:spcPts val="200"/>
              </a:spcAft>
            </a:pPr>
            <a:r>
              <a:rPr sz="1300" b="1">
                <a:solidFill>
                  <a:srgbClr val="F59E0B"/>
                </a:solidFill>
                <a:latin typeface="Arial"/>
              </a:rPr>
              <a:t>Choose by complexity</a:t>
            </a:r>
          </a:p>
          <a:p>
            <a:pPr algn="l">
              <a:spcAft>
                <a:spcPts val="200"/>
              </a:spcAft>
            </a:pPr>
            <a:r>
              <a:rPr sz="1100" b="0">
                <a:solidFill>
                  <a:srgbClr val="161B26"/>
                </a:solidFill>
                <a:latin typeface="Arial"/>
              </a:rPr>
              <a:t>Small team, one channel? Basic. Skills-based, multi-channel? Unified.</a:t>
            </a:r>
          </a:p>
        </p:txBody>
      </p:sp>
      <p:sp>
        <p:nvSpPr>
          <p:cNvPr id="20" name="TextBox 1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1" name="TextBox 2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SCALING THE ANSWER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Knowledge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Create and design</a:t>
            </a:r>
          </a:p>
          <a:p>
            <a:pPr algn="l">
              <a:spcAft>
                <a:spcPts val="300"/>
              </a:spcAft>
            </a:pPr>
            <a:r>
              <a:rPr sz="1100" b="0">
                <a:solidFill>
                  <a:srgbClr val="5B6372"/>
                </a:solidFill>
                <a:latin typeface="Arial"/>
              </a:rPr>
              <a:t>Rich-text articles with images, videos, attachments and structured templates.</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Manage the lifecycle</a:t>
            </a:r>
          </a:p>
          <a:p>
            <a:pPr algn="l">
              <a:spcAft>
                <a:spcPts val="300"/>
              </a:spcAft>
            </a:pPr>
            <a:r>
              <a:rPr sz="1100" b="0">
                <a:solidFill>
                  <a:srgbClr val="5B6372"/>
                </a:solidFill>
                <a:latin typeface="Arial"/>
              </a:rPr>
              <a:t>Draft → review → approve → publish, with scheduled publication dates.</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Version history</a:t>
            </a:r>
          </a:p>
          <a:p>
            <a:pPr algn="l">
              <a:spcAft>
                <a:spcPts val="300"/>
              </a:spcAft>
            </a:pPr>
            <a:r>
              <a:rPr sz="1100" b="0">
                <a:solidFill>
                  <a:srgbClr val="5B6372"/>
                </a:solidFill>
                <a:latin typeface="Arial"/>
              </a:rPr>
              <a:t>Major and minor versions; retire an article without losing the record.</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Translate</a:t>
            </a:r>
          </a:p>
          <a:p>
            <a:pPr algn="l">
              <a:spcAft>
                <a:spcPts val="300"/>
              </a:spcAft>
            </a:pPr>
            <a:r>
              <a:rPr sz="1100" b="0">
                <a:solidFill>
                  <a:srgbClr val="5B6372"/>
                </a:solidFill>
                <a:latin typeface="Arial"/>
              </a:rPr>
              <a:t>Language variants so global teams and customers get the same answer.</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Search from the case</a:t>
            </a:r>
          </a:p>
          <a:p>
            <a:pPr algn="l">
              <a:spcAft>
                <a:spcPts val="300"/>
              </a:spcAft>
            </a:pPr>
            <a:r>
              <a:rPr sz="1100" b="0">
                <a:solidFill>
                  <a:srgbClr val="5B6372"/>
                </a:solidFill>
                <a:latin typeface="Arial"/>
              </a:rPr>
              <a:t>The knowledge pane pre-searches using the case title — no retyping.</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Link, email or share</a:t>
            </a:r>
          </a:p>
          <a:p>
            <a:pPr algn="l">
              <a:spcAft>
                <a:spcPts val="300"/>
              </a:spcAft>
            </a:pPr>
            <a:r>
              <a:rPr sz="1100" b="0">
                <a:solidFill>
                  <a:srgbClr val="5B6372"/>
                </a:solidFill>
                <a:latin typeface="Arial"/>
              </a:rPr>
              <a:t>Attach the article to the case, email it to the customer, or publish it to the portal.</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07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7 — Resolve a Case with Knowledge, Queues, SLAs and Entitlements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7  ·  60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Alpine Ski House has received a damaged espresso machine. You author and publish the knowledge article that answers it, create the case, route it through a queue, watch the SLA clock, apply an entitlement, work the Phone to Case business process flow, attach the article and resolve the case. This is the complete service lifecycle behind LO1 and LO3.</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Author and publish the knowledge article</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the case and set its customer and origin</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Route it to a queue and apply the SLA and entitlement</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Work the Phone to Case BPF and attach the article</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Resolve the case and check the resolution record</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 published knowledge article, a case routed through a queue with an SLA and an entitlement applied, advanced through all three BPF stages and resolved with the article linked.</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Dynamics 365 Customer Service Hub, Dataverse, knowledge management, queues, routing rules, SLAs, entitlements</a:t>
            </a:r>
            <a:r>
              <a:rPr sz="1150" b="0">
                <a:solidFill>
                  <a:srgbClr val="5B6372"/>
                </a:solidFill>
                <a:latin typeface="Arial"/>
              </a:rPr>
              <a:t>     ·     Full step-by-step: Learner Guide, Lab 7</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08</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Customer Service Capabilities and Related Apps</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Omnichannel for Customer Service · supervisor experiences and Omnichannel Insights · Customer Voice for service · reporting and data visualisation</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08</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EVERY CHANNEL, ONE WORKSPACE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Omnichannel for Customer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74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Live chat</a:t>
            </a:r>
          </a:p>
          <a:p>
            <a:pPr algn="l">
              <a:spcAft>
                <a:spcPts val="300"/>
              </a:spcAft>
            </a:pPr>
            <a:r>
              <a:rPr sz="1050" b="0">
                <a:solidFill>
                  <a:srgbClr val="5B6372"/>
                </a:solidFill>
                <a:latin typeface="Arial"/>
              </a:rPr>
              <a:t>Website and app chat, with proactive invitations based on visitor behaviour.</a:t>
            </a:r>
          </a:p>
        </p:txBody>
      </p:sp>
      <p:sp>
        <p:nvSpPr>
          <p:cNvPr id="12" name="Rectangle 11"/>
          <p:cNvSpPr/>
          <p:nvPr/>
        </p:nvSpPr>
        <p:spPr>
          <a:xfrm>
            <a:off x="4407408"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83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45152" y="2574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40096"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SMS</a:t>
            </a:r>
          </a:p>
          <a:p>
            <a:pPr algn="l">
              <a:spcAft>
                <a:spcPts val="300"/>
              </a:spcAft>
            </a:pPr>
            <a:r>
              <a:rPr sz="1050" b="0">
                <a:solidFill>
                  <a:srgbClr val="5B6372"/>
                </a:solidFill>
                <a:latin typeface="Arial"/>
              </a:rPr>
              <a:t>Two-way text conversations through supported SMS providers.</a:t>
            </a:r>
          </a:p>
        </p:txBody>
      </p:sp>
      <p:sp>
        <p:nvSpPr>
          <p:cNvPr id="17" name="Rectangle 16"/>
          <p:cNvSpPr/>
          <p:nvPr/>
        </p:nvSpPr>
        <p:spPr>
          <a:xfrm>
            <a:off x="8037576"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83080"/>
            <a:ext cx="91440" cy="2084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5320" y="2574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8970264"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Voice</a:t>
            </a:r>
          </a:p>
          <a:p>
            <a:pPr algn="l">
              <a:spcAft>
                <a:spcPts val="300"/>
              </a:spcAft>
            </a:pPr>
            <a:r>
              <a:rPr sz="1050" b="0">
                <a:solidFill>
                  <a:srgbClr val="5B6372"/>
                </a:solidFill>
                <a:latin typeface="Arial"/>
              </a:rPr>
              <a:t>A full cloud contact centre — inbound and outbound calling with transcription.</a:t>
            </a:r>
          </a:p>
        </p:txBody>
      </p:sp>
      <p:sp>
        <p:nvSpPr>
          <p:cNvPr id="22" name="Rectangle 21"/>
          <p:cNvSpPr/>
          <p:nvPr/>
        </p:nvSpPr>
        <p:spPr>
          <a:xfrm>
            <a:off x="777240"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69080"/>
            <a:ext cx="91440" cy="2084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860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Social channels</a:t>
            </a:r>
          </a:p>
          <a:p>
            <a:pPr algn="l">
              <a:spcAft>
                <a:spcPts val="300"/>
              </a:spcAft>
            </a:pPr>
            <a:r>
              <a:rPr sz="1050" b="0">
                <a:solidFill>
                  <a:srgbClr val="5B6372"/>
                </a:solidFill>
                <a:latin typeface="Arial"/>
              </a:rPr>
              <a:t>Facebook, WhatsApp, LINE, WeChat and Twitter/X in the same workspace.</a:t>
            </a:r>
          </a:p>
        </p:txBody>
      </p:sp>
      <p:sp>
        <p:nvSpPr>
          <p:cNvPr id="27" name="Rectangle 26"/>
          <p:cNvSpPr/>
          <p:nvPr/>
        </p:nvSpPr>
        <p:spPr>
          <a:xfrm>
            <a:off x="4407408"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4069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45152" y="4860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5152"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5340096"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Microsoft Teams</a:t>
            </a:r>
          </a:p>
          <a:p>
            <a:pPr algn="l">
              <a:spcAft>
                <a:spcPts val="300"/>
              </a:spcAft>
            </a:pPr>
            <a:r>
              <a:rPr sz="1050" b="0">
                <a:solidFill>
                  <a:srgbClr val="5B6372"/>
                </a:solidFill>
                <a:latin typeface="Arial"/>
              </a:rPr>
              <a:t>Support employees and partners in the tool they already use all day.</a:t>
            </a:r>
          </a:p>
        </p:txBody>
      </p:sp>
      <p:sp>
        <p:nvSpPr>
          <p:cNvPr id="32" name="Rectangle 31"/>
          <p:cNvSpPr/>
          <p:nvPr/>
        </p:nvSpPr>
        <p:spPr>
          <a:xfrm>
            <a:off x="8037576"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4069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75320" y="4860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8970264"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Entity/record channels</a:t>
            </a:r>
          </a:p>
          <a:p>
            <a:pPr algn="l">
              <a:spcAft>
                <a:spcPts val="300"/>
              </a:spcAft>
            </a:pPr>
            <a:r>
              <a:rPr sz="1050" b="0">
                <a:solidFill>
                  <a:srgbClr val="5B6372"/>
                </a:solidFill>
                <a:latin typeface="Arial"/>
              </a:rPr>
              <a:t>Email and case records handled beside the live conversations.</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PRODUCTIVITY IN THE CONVERSATION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the Agent Workspace Gives You</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Session management</a:t>
            </a:r>
          </a:p>
          <a:p>
            <a:pPr algn="l">
              <a:spcAft>
                <a:spcPts val="300"/>
              </a:spcAft>
            </a:pPr>
            <a:r>
              <a:rPr sz="1100" b="0">
                <a:solidFill>
                  <a:srgbClr val="5B6372"/>
                </a:solidFill>
                <a:latin typeface="Arial"/>
              </a:rPr>
              <a:t>Each conversation is its own session with its own tabs — several at once, no lost context.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Real-time notifications</a:t>
            </a:r>
          </a:p>
          <a:p>
            <a:pPr algn="l">
              <a:spcAft>
                <a:spcPts val="300"/>
              </a:spcAft>
            </a:pPr>
            <a:r>
              <a:rPr sz="1100" b="0">
                <a:solidFill>
                  <a:srgbClr val="5B6372"/>
                </a:solidFill>
                <a:latin typeface="Arial"/>
              </a:rPr>
              <a:t>Incoming work arrives with the customer's context already attached.</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Customer context</a:t>
            </a:r>
          </a:p>
          <a:p>
            <a:pPr algn="l">
              <a:spcAft>
                <a:spcPts val="300"/>
              </a:spcAft>
            </a:pPr>
            <a:r>
              <a:rPr sz="1100" b="0">
                <a:solidFill>
                  <a:srgbClr val="5B6372"/>
                </a:solidFill>
                <a:latin typeface="Arial"/>
              </a:rPr>
              <a:t>Who they are, their history, their entitlement and their open cases, at a glance.</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AI conversation summary</a:t>
            </a:r>
          </a:p>
          <a:p>
            <a:pPr algn="l">
              <a:spcAft>
                <a:spcPts val="300"/>
              </a:spcAft>
            </a:pPr>
            <a:r>
              <a:rPr sz="1100" b="0">
                <a:solidFill>
                  <a:srgbClr val="5B6372"/>
                </a:solidFill>
                <a:latin typeface="Arial"/>
              </a:rPr>
              <a:t>Copilot condenses a long chat so the next agent is up to speed immediately.</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Smart assist</a:t>
            </a:r>
          </a:p>
          <a:p>
            <a:pPr algn="l">
              <a:spcAft>
                <a:spcPts val="300"/>
              </a:spcAft>
            </a:pPr>
            <a:r>
              <a:rPr sz="1100" b="0">
                <a:solidFill>
                  <a:srgbClr val="5B6372"/>
                </a:solidFill>
                <a:latin typeface="Arial"/>
              </a:rPr>
              <a:t>Suggests relevant knowledge articles and similar resolved cases as the conversation unfolds.</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Agent scripts and macros</a:t>
            </a:r>
          </a:p>
          <a:p>
            <a:pPr algn="l">
              <a:spcAft>
                <a:spcPts val="300"/>
              </a:spcAft>
            </a:pPr>
            <a:r>
              <a:rPr sz="1100" b="0">
                <a:solidFill>
                  <a:srgbClr val="5B6372"/>
                </a:solidFill>
                <a:latin typeface="Arial"/>
              </a:rPr>
              <a:t>Guided steps and one-click automations for the procedures that must be exact.</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FIRST LINE OF SUPPORT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Bots and Escalation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0B981"/>
                </a:solidFill>
                <a:latin typeface="Arial"/>
              </a:rPr>
              <a:t>Bot — deflect</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7C3AED"/>
                </a:solidFill>
                <a:latin typeface="Arial"/>
              </a:rPr>
              <a:t>Human — resolve</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What the bot handles</a:t>
            </a:r>
          </a:p>
          <a:p>
            <a:pPr>
              <a:spcAft>
                <a:spcPts val="1000"/>
              </a:spcAft>
            </a:pPr>
            <a:r>
              <a:rPr sz="1200" b="0">
                <a:solidFill>
                  <a:srgbClr val="5B6372"/>
                </a:solidFill>
                <a:latin typeface="Arial"/>
              </a:rPr>
              <a:t>–  Password resets, order status, opening hours, simple how-to</a:t>
            </a:r>
          </a:p>
          <a:p>
            <a:pPr>
              <a:spcAft>
                <a:spcPts val="1000"/>
              </a:spcAft>
            </a:pPr>
            <a:r>
              <a:rPr sz="1200" b="0">
                <a:solidFill>
                  <a:srgbClr val="5B6372"/>
                </a:solidFill>
                <a:latin typeface="Arial"/>
              </a:rPr>
              <a:t>–  Available 24/7 at near-zero marginal cost</a:t>
            </a:r>
          </a:p>
          <a:p>
            <a:pPr>
              <a:spcAft>
                <a:spcPts val="1000"/>
              </a:spcAft>
            </a:pPr>
            <a:r>
              <a:rPr sz="1200" b="0">
                <a:solidFill>
                  <a:srgbClr val="5B6372"/>
                </a:solidFill>
                <a:latin typeface="Arial"/>
              </a:rPr>
              <a:t>–  Built in Microsoft Copilot Studio, no code required</a:t>
            </a:r>
          </a:p>
          <a:p>
            <a:pPr>
              <a:spcAft>
                <a:spcPts val="1000"/>
              </a:spcAft>
            </a:pPr>
            <a:r>
              <a:rPr sz="1200" b="0">
                <a:solidFill>
                  <a:srgbClr val="5B6372"/>
                </a:solidFill>
                <a:latin typeface="Arial"/>
              </a:rPr>
              <a:t>–  Deflects routine volume so humans handle the hard cases</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What happens on escalation</a:t>
            </a:r>
          </a:p>
          <a:p>
            <a:pPr>
              <a:spcAft>
                <a:spcPts val="1000"/>
              </a:spcAft>
            </a:pPr>
            <a:r>
              <a:rPr sz="1200" b="0">
                <a:solidFill>
                  <a:srgbClr val="5B6372"/>
                </a:solidFill>
                <a:latin typeface="Arial"/>
              </a:rPr>
              <a:t>–  The bot hands off to a human agent in the same conversation</a:t>
            </a:r>
          </a:p>
          <a:p>
            <a:pPr>
              <a:spcAft>
                <a:spcPts val="1000"/>
              </a:spcAft>
            </a:pPr>
            <a:r>
              <a:rPr sz="1200" b="0">
                <a:solidFill>
                  <a:srgbClr val="5B6372"/>
                </a:solidFill>
                <a:latin typeface="Arial"/>
              </a:rPr>
              <a:t>–  The FULL transcript travels with it — the customer never repeats themselves</a:t>
            </a:r>
          </a:p>
          <a:p>
            <a:pPr>
              <a:spcAft>
                <a:spcPts val="1000"/>
              </a:spcAft>
            </a:pPr>
            <a:r>
              <a:rPr sz="1200" b="0">
                <a:solidFill>
                  <a:srgbClr val="5B6372"/>
                </a:solidFill>
                <a:latin typeface="Arial"/>
              </a:rPr>
              <a:t>–  Skills-based routing picks the right agent for the topic</a:t>
            </a:r>
          </a:p>
          <a:p>
            <a:pPr>
              <a:spcAft>
                <a:spcPts val="1000"/>
              </a:spcAft>
            </a:pPr>
            <a:r>
              <a:rPr sz="1200" b="0">
                <a:solidFill>
                  <a:srgbClr val="5B6372"/>
                </a:solidFill>
                <a:latin typeface="Arial"/>
              </a:rPr>
              <a:t>–  The bot report tells you the deflection rate you are achieving</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Measure deflection honestly: a bot that frustrates customers into abandoning is not deflecting, it is losing them.</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EVALUATING TEAM PERFORMANCE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Service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rvice_kpis.png"/>
          <p:cNvPicPr>
            <a:picLocks noChangeAspect="1"/>
          </p:cNvPicPr>
          <p:nvPr/>
        </p:nvPicPr>
        <p:blipFill>
          <a:blip r:embed="rId2"/>
          <a:stretch>
            <a:fillRect/>
          </a:stretch>
        </p:blipFill>
        <p:spPr>
          <a:xfrm>
            <a:off x="777240" y="2785815"/>
            <a:ext cx="6126480" cy="2337929"/>
          </a:xfrm>
          <a:prstGeom prst="rect">
            <a:avLst/>
          </a:prstGeom>
        </p:spPr>
      </p:pic>
      <p:sp>
        <p:nvSpPr>
          <p:cNvPr id="8" name="Rectangle 7"/>
          <p:cNvSpPr/>
          <p:nvPr/>
        </p:nvSpPr>
        <p:spPr>
          <a:xfrm>
            <a:off x="7178040" y="1783080"/>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780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15784" y="1783080"/>
            <a:ext cx="3813048" cy="737006"/>
          </a:xfrm>
          <a:prstGeom prst="rect">
            <a:avLst/>
          </a:prstGeom>
          <a:noFill/>
        </p:spPr>
        <p:txBody>
          <a:bodyPr wrap="square" anchor="ctr">
            <a:spAutoFit/>
          </a:bodyPr>
          <a:lstStyle/>
          <a:p>
            <a:pPr algn="l">
              <a:spcAft>
                <a:spcPts val="200"/>
              </a:spcAft>
            </a:pPr>
            <a:r>
              <a:rPr sz="1300" b="1">
                <a:solidFill>
                  <a:srgbClr val="1F6FEB"/>
                </a:solidFill>
                <a:latin typeface="Arial"/>
              </a:rPr>
              <a:t>Volume by channel</a:t>
            </a:r>
          </a:p>
          <a:p>
            <a:pPr algn="l">
              <a:spcAft>
                <a:spcPts val="200"/>
              </a:spcAft>
            </a:pPr>
            <a:r>
              <a:rPr sz="1100" b="0">
                <a:solidFill>
                  <a:srgbClr val="161B26"/>
                </a:solidFill>
                <a:latin typeface="Arial"/>
              </a:rPr>
              <a:t>Where the work is coming from — and which channels cost the most to staff.</a:t>
            </a:r>
          </a:p>
        </p:txBody>
      </p:sp>
      <p:sp>
        <p:nvSpPr>
          <p:cNvPr id="11" name="Rectangle 10"/>
          <p:cNvSpPr/>
          <p:nvPr/>
        </p:nvSpPr>
        <p:spPr>
          <a:xfrm>
            <a:off x="7178040" y="2684678"/>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15784" y="2684678"/>
            <a:ext cx="3813048" cy="737006"/>
          </a:xfrm>
          <a:prstGeom prst="rect">
            <a:avLst/>
          </a:prstGeom>
          <a:noFill/>
        </p:spPr>
        <p:txBody>
          <a:bodyPr wrap="square" anchor="ctr">
            <a:spAutoFit/>
          </a:bodyPr>
          <a:lstStyle/>
          <a:p>
            <a:pPr algn="l">
              <a:spcAft>
                <a:spcPts val="200"/>
              </a:spcAft>
            </a:pPr>
            <a:r>
              <a:rPr sz="1300" b="1">
                <a:solidFill>
                  <a:srgbClr val="10B981"/>
                </a:solidFill>
                <a:latin typeface="Arial"/>
              </a:rPr>
              <a:t>Sentiment in near real time</a:t>
            </a:r>
          </a:p>
          <a:p>
            <a:pPr algn="l">
              <a:spcAft>
                <a:spcPts val="200"/>
              </a:spcAft>
            </a:pPr>
            <a:r>
              <a:rPr sz="1100" b="0">
                <a:solidFill>
                  <a:srgbClr val="161B26"/>
                </a:solidFill>
                <a:latin typeface="Arial"/>
              </a:rPr>
              <a:t>Average sentiment pulse plus the positive/neutral/negative split.</a:t>
            </a:r>
          </a:p>
        </p:txBody>
      </p:sp>
      <p:sp>
        <p:nvSpPr>
          <p:cNvPr id="14" name="Rectangle 13"/>
          <p:cNvSpPr/>
          <p:nvPr/>
        </p:nvSpPr>
        <p:spPr>
          <a:xfrm>
            <a:off x="7178040" y="3586276"/>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5784" y="3586276"/>
            <a:ext cx="3813048" cy="737006"/>
          </a:xfrm>
          <a:prstGeom prst="rect">
            <a:avLst/>
          </a:prstGeom>
          <a:noFill/>
        </p:spPr>
        <p:txBody>
          <a:bodyPr wrap="square" anchor="ctr">
            <a:spAutoFit/>
          </a:bodyPr>
          <a:lstStyle/>
          <a:p>
            <a:pPr algn="l">
              <a:spcAft>
                <a:spcPts val="200"/>
              </a:spcAft>
            </a:pPr>
            <a:r>
              <a:rPr sz="1300" b="1">
                <a:solidFill>
                  <a:srgbClr val="7C3AED"/>
                </a:solidFill>
                <a:latin typeface="Arial"/>
              </a:rPr>
              <a:t>SLA compliance trend</a:t>
            </a:r>
          </a:p>
          <a:p>
            <a:pPr algn="l">
              <a:spcAft>
                <a:spcPts val="200"/>
              </a:spcAft>
            </a:pPr>
            <a:r>
              <a:rPr sz="1100" b="0">
                <a:solidFill>
                  <a:srgbClr val="161B26"/>
                </a:solidFill>
                <a:latin typeface="Arial"/>
              </a:rPr>
              <a:t>The percentage met, week by week, against the target you committed to.</a:t>
            </a:r>
          </a:p>
        </p:txBody>
      </p:sp>
      <p:sp>
        <p:nvSpPr>
          <p:cNvPr id="17" name="Rectangle 16"/>
          <p:cNvSpPr/>
          <p:nvPr/>
        </p:nvSpPr>
        <p:spPr>
          <a:xfrm>
            <a:off x="7178040" y="4487874"/>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5784" y="4487874"/>
            <a:ext cx="3813048" cy="737006"/>
          </a:xfrm>
          <a:prstGeom prst="rect">
            <a:avLst/>
          </a:prstGeom>
          <a:noFill/>
        </p:spPr>
        <p:txBody>
          <a:bodyPr wrap="square" anchor="ctr">
            <a:spAutoFit/>
          </a:bodyPr>
          <a:lstStyle/>
          <a:p>
            <a:pPr algn="l">
              <a:spcAft>
                <a:spcPts val="200"/>
              </a:spcAft>
            </a:pPr>
            <a:r>
              <a:rPr sz="1300" b="1">
                <a:solidFill>
                  <a:srgbClr val="F59E0B"/>
                </a:solidFill>
                <a:latin typeface="Arial"/>
              </a:rPr>
              <a:t>Supervisors can intervene</a:t>
            </a:r>
          </a:p>
          <a:p>
            <a:pPr algn="l">
              <a:spcAft>
                <a:spcPts val="200"/>
              </a:spcAft>
            </a:pPr>
            <a:r>
              <a:rPr sz="1100" b="0">
                <a:solidFill>
                  <a:srgbClr val="161B26"/>
                </a:solidFill>
                <a:latin typeface="Arial"/>
              </a:rPr>
              <a:t>Monitor, assign, transfer or force-close a conversation going wrong.</a:t>
            </a:r>
          </a:p>
        </p:txBody>
      </p:sp>
      <p:sp>
        <p:nvSpPr>
          <p:cNvPr id="20" name="Rectangle 19"/>
          <p:cNvSpPr/>
          <p:nvPr/>
        </p:nvSpPr>
        <p:spPr>
          <a:xfrm>
            <a:off x="7178040" y="5389472"/>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4" y="5389472"/>
            <a:ext cx="3813048" cy="737006"/>
          </a:xfrm>
          <a:prstGeom prst="rect">
            <a:avLst/>
          </a:prstGeom>
          <a:noFill/>
        </p:spPr>
        <p:txBody>
          <a:bodyPr wrap="square" anchor="ctr">
            <a:spAutoFit/>
          </a:bodyPr>
          <a:lstStyle/>
          <a:p>
            <a:pPr algn="l">
              <a:spcAft>
                <a:spcPts val="200"/>
              </a:spcAft>
            </a:pPr>
            <a:r>
              <a:rPr sz="1300" b="1">
                <a:solidFill>
                  <a:srgbClr val="1F6FEB"/>
                </a:solidFill>
                <a:latin typeface="Arial"/>
              </a:rPr>
              <a:t>Filters and bookmarks</a:t>
            </a:r>
          </a:p>
          <a:p>
            <a:pPr algn="l">
              <a:spcAft>
                <a:spcPts val="200"/>
              </a:spcAft>
            </a:pPr>
            <a:r>
              <a:rPr sz="1100" b="0">
                <a:solidFill>
                  <a:srgbClr val="161B26"/>
                </a:solidFill>
                <a:latin typeface="Arial"/>
              </a:rPr>
              <a:t>Save a filtered view of the dashboard you return to every morning.</a:t>
            </a:r>
          </a:p>
        </p:txBody>
      </p:sp>
      <p:sp>
        <p:nvSpPr>
          <p:cNvPr id="23" name="TextBox 2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4" name="TextBox 2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HISTORICAL ANALYTICS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Which Report Answers Which Question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4052620" cy="525780"/>
          </a:xfrm>
          <a:prstGeom prst="rect">
            <a:avLst/>
          </a:prstGeom>
          <a:noFill/>
        </p:spPr>
        <p:txBody>
          <a:bodyPr wrap="square" anchor="ctr">
            <a:spAutoFit/>
          </a:bodyPr>
          <a:lstStyle/>
          <a:p>
            <a:pPr algn="l">
              <a:spcAft>
                <a:spcPts val="400"/>
              </a:spcAft>
            </a:pPr>
            <a:r>
              <a:rPr sz="1200" b="1">
                <a:solidFill>
                  <a:srgbClr val="FFFFFF"/>
                </a:solidFill>
                <a:latin typeface="Arial"/>
              </a:rPr>
              <a:t>Management question</a:t>
            </a:r>
          </a:p>
        </p:txBody>
      </p:sp>
      <p:sp>
        <p:nvSpPr>
          <p:cNvPr id="9" name="Rectangle 8"/>
          <p:cNvSpPr/>
          <p:nvPr/>
        </p:nvSpPr>
        <p:spPr>
          <a:xfrm>
            <a:off x="5031028" y="1783080"/>
            <a:ext cx="2977652"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9900" y="1783080"/>
            <a:ext cx="2776484" cy="525780"/>
          </a:xfrm>
          <a:prstGeom prst="rect">
            <a:avLst/>
          </a:prstGeom>
          <a:noFill/>
        </p:spPr>
        <p:txBody>
          <a:bodyPr wrap="square" anchor="ctr">
            <a:spAutoFit/>
          </a:bodyPr>
          <a:lstStyle/>
          <a:p>
            <a:pPr algn="l">
              <a:spcAft>
                <a:spcPts val="400"/>
              </a:spcAft>
            </a:pPr>
            <a:r>
              <a:rPr sz="1200" b="1">
                <a:solidFill>
                  <a:srgbClr val="FFFFFF"/>
                </a:solidFill>
                <a:latin typeface="Arial"/>
              </a:rPr>
              <a:t>Report</a:t>
            </a:r>
          </a:p>
        </p:txBody>
      </p:sp>
      <p:sp>
        <p:nvSpPr>
          <p:cNvPr id="11" name="Rectangle 10"/>
          <p:cNvSpPr/>
          <p:nvPr/>
        </p:nvSpPr>
        <p:spPr>
          <a:xfrm>
            <a:off x="8008680" y="1783080"/>
            <a:ext cx="3403031"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7552" y="1783080"/>
            <a:ext cx="3201863" cy="525780"/>
          </a:xfrm>
          <a:prstGeom prst="rect">
            <a:avLst/>
          </a:prstGeom>
          <a:noFill/>
        </p:spPr>
        <p:txBody>
          <a:bodyPr wrap="square" anchor="ctr">
            <a:spAutoFit/>
          </a:bodyPr>
          <a:lstStyle/>
          <a:p>
            <a:pPr algn="l">
              <a:spcAft>
                <a:spcPts val="400"/>
              </a:spcAft>
            </a:pPr>
            <a:r>
              <a:rPr sz="1200" b="1">
                <a:solidFill>
                  <a:srgbClr val="FFFFFF"/>
                </a:solidFill>
                <a:latin typeface="Arial"/>
              </a:rPr>
              <a:t>Key metric</a:t>
            </a:r>
          </a:p>
        </p:txBody>
      </p:sp>
      <p:sp>
        <p:nvSpPr>
          <p:cNvPr id="13" name="Rectangle 12"/>
          <p:cNvSpPr/>
          <p:nvPr/>
        </p:nvSpPr>
        <p:spPr>
          <a:xfrm>
            <a:off x="777240" y="2308860"/>
            <a:ext cx="425378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308860"/>
            <a:ext cx="4052620" cy="525780"/>
          </a:xfrm>
          <a:prstGeom prst="rect">
            <a:avLst/>
          </a:prstGeom>
          <a:noFill/>
        </p:spPr>
        <p:txBody>
          <a:bodyPr wrap="square" anchor="ctr">
            <a:spAutoFit/>
          </a:bodyPr>
          <a:lstStyle/>
          <a:p>
            <a:pPr algn="l">
              <a:spcAft>
                <a:spcPts val="400"/>
              </a:spcAft>
            </a:pPr>
            <a:r>
              <a:rPr sz="1100" b="1">
                <a:solidFill>
                  <a:srgbClr val="161B26"/>
                </a:solidFill>
                <a:latin typeface="Arial"/>
              </a:rPr>
              <a:t>Are we handling more cases than last month?</a:t>
            </a:r>
          </a:p>
        </p:txBody>
      </p:sp>
      <p:sp>
        <p:nvSpPr>
          <p:cNvPr id="15" name="Rectangle 14"/>
          <p:cNvSpPr/>
          <p:nvPr/>
        </p:nvSpPr>
        <p:spPr>
          <a:xfrm>
            <a:off x="5031028" y="2308860"/>
            <a:ext cx="297765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49900" y="2308860"/>
            <a:ext cx="2776484" cy="525780"/>
          </a:xfrm>
          <a:prstGeom prst="rect">
            <a:avLst/>
          </a:prstGeom>
          <a:noFill/>
        </p:spPr>
        <p:txBody>
          <a:bodyPr wrap="square" anchor="ctr">
            <a:spAutoFit/>
          </a:bodyPr>
          <a:lstStyle/>
          <a:p>
            <a:pPr algn="l">
              <a:spcAft>
                <a:spcPts val="400"/>
              </a:spcAft>
            </a:pPr>
            <a:r>
              <a:rPr sz="1100" b="0">
                <a:solidFill>
                  <a:srgbClr val="161B26"/>
                </a:solidFill>
                <a:latin typeface="Arial"/>
              </a:rPr>
              <a:t>Customer Service – Summary</a:t>
            </a:r>
          </a:p>
        </p:txBody>
      </p:sp>
      <p:sp>
        <p:nvSpPr>
          <p:cNvPr id="17" name="Rectangle 16"/>
          <p:cNvSpPr/>
          <p:nvPr/>
        </p:nvSpPr>
        <p:spPr>
          <a:xfrm>
            <a:off x="8008680" y="2308860"/>
            <a:ext cx="340303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7552" y="2308860"/>
            <a:ext cx="3201863" cy="525780"/>
          </a:xfrm>
          <a:prstGeom prst="rect">
            <a:avLst/>
          </a:prstGeom>
          <a:noFill/>
        </p:spPr>
        <p:txBody>
          <a:bodyPr wrap="square" anchor="ctr">
            <a:spAutoFit/>
          </a:bodyPr>
          <a:lstStyle/>
          <a:p>
            <a:pPr algn="l">
              <a:spcAft>
                <a:spcPts val="400"/>
              </a:spcAft>
            </a:pPr>
            <a:r>
              <a:rPr sz="1100" b="0">
                <a:solidFill>
                  <a:srgbClr val="161B26"/>
                </a:solidFill>
                <a:latin typeface="Arial"/>
              </a:rPr>
              <a:t>Case volume, resolution rate</a:t>
            </a:r>
          </a:p>
        </p:txBody>
      </p:sp>
      <p:sp>
        <p:nvSpPr>
          <p:cNvPr id="19" name="Rectangle 18"/>
          <p:cNvSpPr/>
          <p:nvPr/>
        </p:nvSpPr>
        <p:spPr>
          <a:xfrm>
            <a:off x="777240" y="2834640"/>
            <a:ext cx="425378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2834640"/>
            <a:ext cx="4052620" cy="525780"/>
          </a:xfrm>
          <a:prstGeom prst="rect">
            <a:avLst/>
          </a:prstGeom>
          <a:noFill/>
        </p:spPr>
        <p:txBody>
          <a:bodyPr wrap="square" anchor="ctr">
            <a:spAutoFit/>
          </a:bodyPr>
          <a:lstStyle/>
          <a:p>
            <a:pPr algn="l">
              <a:spcAft>
                <a:spcPts val="400"/>
              </a:spcAft>
            </a:pPr>
            <a:r>
              <a:rPr sz="1100" b="1">
                <a:solidFill>
                  <a:srgbClr val="161B26"/>
                </a:solidFill>
                <a:latin typeface="Arial"/>
              </a:rPr>
              <a:t>Which agent needs coaching?</a:t>
            </a:r>
          </a:p>
        </p:txBody>
      </p:sp>
      <p:sp>
        <p:nvSpPr>
          <p:cNvPr id="21" name="Rectangle 20"/>
          <p:cNvSpPr/>
          <p:nvPr/>
        </p:nvSpPr>
        <p:spPr>
          <a:xfrm>
            <a:off x="5031028" y="2834640"/>
            <a:ext cx="297765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49900" y="2834640"/>
            <a:ext cx="2776484" cy="525780"/>
          </a:xfrm>
          <a:prstGeom prst="rect">
            <a:avLst/>
          </a:prstGeom>
          <a:noFill/>
        </p:spPr>
        <p:txBody>
          <a:bodyPr wrap="square" anchor="ctr">
            <a:spAutoFit/>
          </a:bodyPr>
          <a:lstStyle/>
          <a:p>
            <a:pPr algn="l">
              <a:spcAft>
                <a:spcPts val="400"/>
              </a:spcAft>
            </a:pPr>
            <a:r>
              <a:rPr sz="1100" b="0">
                <a:solidFill>
                  <a:srgbClr val="161B26"/>
                </a:solidFill>
                <a:latin typeface="Arial"/>
              </a:rPr>
              <a:t>Customer Service – Agent</a:t>
            </a:r>
          </a:p>
        </p:txBody>
      </p:sp>
      <p:sp>
        <p:nvSpPr>
          <p:cNvPr id="23" name="Rectangle 22"/>
          <p:cNvSpPr/>
          <p:nvPr/>
        </p:nvSpPr>
        <p:spPr>
          <a:xfrm>
            <a:off x="8008680" y="2834640"/>
            <a:ext cx="340303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27552" y="2834640"/>
            <a:ext cx="3201863" cy="525780"/>
          </a:xfrm>
          <a:prstGeom prst="rect">
            <a:avLst/>
          </a:prstGeom>
          <a:noFill/>
        </p:spPr>
        <p:txBody>
          <a:bodyPr wrap="square" anchor="ctr">
            <a:spAutoFit/>
          </a:bodyPr>
          <a:lstStyle/>
          <a:p>
            <a:pPr algn="l">
              <a:spcAft>
                <a:spcPts val="400"/>
              </a:spcAft>
            </a:pPr>
            <a:r>
              <a:rPr sz="1100" b="0">
                <a:solidFill>
                  <a:srgbClr val="161B26"/>
                </a:solidFill>
                <a:latin typeface="Arial"/>
              </a:rPr>
              <a:t>Cases handled, average handle time</a:t>
            </a:r>
          </a:p>
        </p:txBody>
      </p:sp>
      <p:sp>
        <p:nvSpPr>
          <p:cNvPr id="25" name="Rectangle 24"/>
          <p:cNvSpPr/>
          <p:nvPr/>
        </p:nvSpPr>
        <p:spPr>
          <a:xfrm>
            <a:off x="777240" y="3360420"/>
            <a:ext cx="425378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360420"/>
            <a:ext cx="4052620" cy="525780"/>
          </a:xfrm>
          <a:prstGeom prst="rect">
            <a:avLst/>
          </a:prstGeom>
          <a:noFill/>
        </p:spPr>
        <p:txBody>
          <a:bodyPr wrap="square" anchor="ctr">
            <a:spAutoFit/>
          </a:bodyPr>
          <a:lstStyle/>
          <a:p>
            <a:pPr algn="l">
              <a:spcAft>
                <a:spcPts val="400"/>
              </a:spcAft>
            </a:pPr>
            <a:r>
              <a:rPr sz="1100" b="1">
                <a:solidFill>
                  <a:srgbClr val="161B26"/>
                </a:solidFill>
                <a:latin typeface="Arial"/>
              </a:rPr>
              <a:t>What are customers contacting us about?</a:t>
            </a:r>
          </a:p>
        </p:txBody>
      </p:sp>
      <p:sp>
        <p:nvSpPr>
          <p:cNvPr id="27" name="Rectangle 26"/>
          <p:cNvSpPr/>
          <p:nvPr/>
        </p:nvSpPr>
        <p:spPr>
          <a:xfrm>
            <a:off x="5031028" y="3360420"/>
            <a:ext cx="297765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49900" y="3360420"/>
            <a:ext cx="2776484" cy="525780"/>
          </a:xfrm>
          <a:prstGeom prst="rect">
            <a:avLst/>
          </a:prstGeom>
          <a:noFill/>
        </p:spPr>
        <p:txBody>
          <a:bodyPr wrap="square" anchor="ctr">
            <a:spAutoFit/>
          </a:bodyPr>
          <a:lstStyle/>
          <a:p>
            <a:pPr algn="l">
              <a:spcAft>
                <a:spcPts val="400"/>
              </a:spcAft>
            </a:pPr>
            <a:r>
              <a:rPr sz="1100" b="0">
                <a:solidFill>
                  <a:srgbClr val="161B26"/>
                </a:solidFill>
                <a:latin typeface="Arial"/>
              </a:rPr>
              <a:t>Case Topics</a:t>
            </a:r>
          </a:p>
        </p:txBody>
      </p:sp>
      <p:sp>
        <p:nvSpPr>
          <p:cNvPr id="29" name="Rectangle 28"/>
          <p:cNvSpPr/>
          <p:nvPr/>
        </p:nvSpPr>
        <p:spPr>
          <a:xfrm>
            <a:off x="8008680" y="3360420"/>
            <a:ext cx="340303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27552" y="3360420"/>
            <a:ext cx="3201863" cy="525780"/>
          </a:xfrm>
          <a:prstGeom prst="rect">
            <a:avLst/>
          </a:prstGeom>
          <a:noFill/>
        </p:spPr>
        <p:txBody>
          <a:bodyPr wrap="square" anchor="ctr">
            <a:spAutoFit/>
          </a:bodyPr>
          <a:lstStyle/>
          <a:p>
            <a:pPr algn="l">
              <a:spcAft>
                <a:spcPts val="400"/>
              </a:spcAft>
            </a:pPr>
            <a:r>
              <a:rPr sz="1100" b="0">
                <a:solidFill>
                  <a:srgbClr val="161B26"/>
                </a:solidFill>
                <a:latin typeface="Arial"/>
              </a:rPr>
              <a:t>AI-clustered case themes</a:t>
            </a:r>
          </a:p>
        </p:txBody>
      </p:sp>
      <p:sp>
        <p:nvSpPr>
          <p:cNvPr id="31" name="Rectangle 30"/>
          <p:cNvSpPr/>
          <p:nvPr/>
        </p:nvSpPr>
        <p:spPr>
          <a:xfrm>
            <a:off x="777240" y="3886200"/>
            <a:ext cx="425378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3886200"/>
            <a:ext cx="4052620" cy="525780"/>
          </a:xfrm>
          <a:prstGeom prst="rect">
            <a:avLst/>
          </a:prstGeom>
          <a:noFill/>
        </p:spPr>
        <p:txBody>
          <a:bodyPr wrap="square" anchor="ctr">
            <a:spAutoFit/>
          </a:bodyPr>
          <a:lstStyle/>
          <a:p>
            <a:pPr algn="l">
              <a:spcAft>
                <a:spcPts val="400"/>
              </a:spcAft>
            </a:pPr>
            <a:r>
              <a:rPr sz="1100" b="1">
                <a:solidFill>
                  <a:srgbClr val="161B26"/>
                </a:solidFill>
                <a:latin typeface="Arial"/>
              </a:rPr>
              <a:t>Is the bot deflecting enough?</a:t>
            </a:r>
          </a:p>
        </p:txBody>
      </p:sp>
      <p:sp>
        <p:nvSpPr>
          <p:cNvPr id="33" name="Rectangle 32"/>
          <p:cNvSpPr/>
          <p:nvPr/>
        </p:nvSpPr>
        <p:spPr>
          <a:xfrm>
            <a:off x="5031028" y="3886200"/>
            <a:ext cx="297765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49900" y="3886200"/>
            <a:ext cx="2776484" cy="525780"/>
          </a:xfrm>
          <a:prstGeom prst="rect">
            <a:avLst/>
          </a:prstGeom>
          <a:noFill/>
        </p:spPr>
        <p:txBody>
          <a:bodyPr wrap="square" anchor="ctr">
            <a:spAutoFit/>
          </a:bodyPr>
          <a:lstStyle/>
          <a:p>
            <a:pPr algn="l">
              <a:spcAft>
                <a:spcPts val="400"/>
              </a:spcAft>
            </a:pPr>
            <a:r>
              <a:rPr sz="1100" b="0">
                <a:solidFill>
                  <a:srgbClr val="161B26"/>
                </a:solidFill>
                <a:latin typeface="Arial"/>
              </a:rPr>
              <a:t>Omnichannel – Bot</a:t>
            </a:r>
          </a:p>
        </p:txBody>
      </p:sp>
      <p:sp>
        <p:nvSpPr>
          <p:cNvPr id="35" name="Rectangle 34"/>
          <p:cNvSpPr/>
          <p:nvPr/>
        </p:nvSpPr>
        <p:spPr>
          <a:xfrm>
            <a:off x="8008680" y="3886200"/>
            <a:ext cx="340303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552" y="3886200"/>
            <a:ext cx="3201863" cy="525780"/>
          </a:xfrm>
          <a:prstGeom prst="rect">
            <a:avLst/>
          </a:prstGeom>
          <a:noFill/>
        </p:spPr>
        <p:txBody>
          <a:bodyPr wrap="square" anchor="ctr">
            <a:spAutoFit/>
          </a:bodyPr>
          <a:lstStyle/>
          <a:p>
            <a:pPr algn="l">
              <a:spcAft>
                <a:spcPts val="400"/>
              </a:spcAft>
            </a:pPr>
            <a:r>
              <a:rPr sz="1100" b="0">
                <a:solidFill>
                  <a:srgbClr val="161B26"/>
                </a:solidFill>
                <a:latin typeface="Arial"/>
              </a:rPr>
              <a:t>Bot resolution and escalation rate</a:t>
            </a:r>
          </a:p>
        </p:txBody>
      </p:sp>
      <p:sp>
        <p:nvSpPr>
          <p:cNvPr id="37" name="Rectangle 36"/>
          <p:cNvSpPr/>
          <p:nvPr/>
        </p:nvSpPr>
        <p:spPr>
          <a:xfrm>
            <a:off x="777240" y="4411980"/>
            <a:ext cx="425378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4411980"/>
            <a:ext cx="4052620" cy="525780"/>
          </a:xfrm>
          <a:prstGeom prst="rect">
            <a:avLst/>
          </a:prstGeom>
          <a:noFill/>
        </p:spPr>
        <p:txBody>
          <a:bodyPr wrap="square" anchor="ctr">
            <a:spAutoFit/>
          </a:bodyPr>
          <a:lstStyle/>
          <a:p>
            <a:pPr algn="l">
              <a:spcAft>
                <a:spcPts val="400"/>
              </a:spcAft>
            </a:pPr>
            <a:r>
              <a:rPr sz="1100" b="1">
                <a:solidFill>
                  <a:srgbClr val="161B26"/>
                </a:solidFill>
                <a:latin typeface="Arial"/>
              </a:rPr>
              <a:t>Are customers waiting too long?</a:t>
            </a:r>
          </a:p>
        </p:txBody>
      </p:sp>
      <p:sp>
        <p:nvSpPr>
          <p:cNvPr id="39" name="Rectangle 38"/>
          <p:cNvSpPr/>
          <p:nvPr/>
        </p:nvSpPr>
        <p:spPr>
          <a:xfrm>
            <a:off x="5031028" y="4411980"/>
            <a:ext cx="297765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49900" y="4411980"/>
            <a:ext cx="2776484" cy="525780"/>
          </a:xfrm>
          <a:prstGeom prst="rect">
            <a:avLst/>
          </a:prstGeom>
          <a:noFill/>
        </p:spPr>
        <p:txBody>
          <a:bodyPr wrap="square" anchor="ctr">
            <a:spAutoFit/>
          </a:bodyPr>
          <a:lstStyle/>
          <a:p>
            <a:pPr algn="l">
              <a:spcAft>
                <a:spcPts val="400"/>
              </a:spcAft>
            </a:pPr>
            <a:r>
              <a:rPr sz="1100" b="0">
                <a:solidFill>
                  <a:srgbClr val="161B26"/>
                </a:solidFill>
                <a:latin typeface="Arial"/>
              </a:rPr>
              <a:t>Omnichannel – Queue</a:t>
            </a:r>
          </a:p>
        </p:txBody>
      </p:sp>
      <p:sp>
        <p:nvSpPr>
          <p:cNvPr id="41" name="Rectangle 40"/>
          <p:cNvSpPr/>
          <p:nvPr/>
        </p:nvSpPr>
        <p:spPr>
          <a:xfrm>
            <a:off x="8008680" y="4411980"/>
            <a:ext cx="340303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27552" y="4411980"/>
            <a:ext cx="3201863" cy="525780"/>
          </a:xfrm>
          <a:prstGeom prst="rect">
            <a:avLst/>
          </a:prstGeom>
          <a:noFill/>
        </p:spPr>
        <p:txBody>
          <a:bodyPr wrap="square" anchor="ctr">
            <a:spAutoFit/>
          </a:bodyPr>
          <a:lstStyle/>
          <a:p>
            <a:pPr algn="l">
              <a:spcAft>
                <a:spcPts val="400"/>
              </a:spcAft>
            </a:pPr>
            <a:r>
              <a:rPr sz="1100" b="0">
                <a:solidFill>
                  <a:srgbClr val="161B26"/>
                </a:solidFill>
                <a:latin typeface="Arial"/>
              </a:rPr>
              <a:t>Average wait time, abandon rate</a:t>
            </a:r>
          </a:p>
        </p:txBody>
      </p:sp>
      <p:sp>
        <p:nvSpPr>
          <p:cNvPr id="43" name="Rectangle 42"/>
          <p:cNvSpPr/>
          <p:nvPr/>
        </p:nvSpPr>
        <p:spPr>
          <a:xfrm>
            <a:off x="777240" y="4937760"/>
            <a:ext cx="4253788"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6112" y="4937760"/>
            <a:ext cx="4052620" cy="525780"/>
          </a:xfrm>
          <a:prstGeom prst="rect">
            <a:avLst/>
          </a:prstGeom>
          <a:noFill/>
        </p:spPr>
        <p:txBody>
          <a:bodyPr wrap="square" anchor="ctr">
            <a:spAutoFit/>
          </a:bodyPr>
          <a:lstStyle/>
          <a:p>
            <a:pPr algn="l">
              <a:spcAft>
                <a:spcPts val="400"/>
              </a:spcAft>
            </a:pPr>
            <a:r>
              <a:rPr sz="1100" b="1">
                <a:solidFill>
                  <a:srgbClr val="161B26"/>
                </a:solidFill>
                <a:latin typeface="Arial"/>
              </a:rPr>
              <a:t>Are conversations turning negative?</a:t>
            </a:r>
          </a:p>
        </p:txBody>
      </p:sp>
      <p:sp>
        <p:nvSpPr>
          <p:cNvPr id="45" name="Rectangle 44"/>
          <p:cNvSpPr/>
          <p:nvPr/>
        </p:nvSpPr>
        <p:spPr>
          <a:xfrm>
            <a:off x="5031028" y="4937760"/>
            <a:ext cx="2977652"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49900" y="4937760"/>
            <a:ext cx="2776484" cy="525780"/>
          </a:xfrm>
          <a:prstGeom prst="rect">
            <a:avLst/>
          </a:prstGeom>
          <a:noFill/>
        </p:spPr>
        <p:txBody>
          <a:bodyPr wrap="square" anchor="ctr">
            <a:spAutoFit/>
          </a:bodyPr>
          <a:lstStyle/>
          <a:p>
            <a:pPr algn="l">
              <a:spcAft>
                <a:spcPts val="400"/>
              </a:spcAft>
            </a:pPr>
            <a:r>
              <a:rPr sz="1100" b="0">
                <a:solidFill>
                  <a:srgbClr val="161B26"/>
                </a:solidFill>
                <a:latin typeface="Arial"/>
              </a:rPr>
              <a:t>Sentiment Analysis</a:t>
            </a:r>
          </a:p>
        </p:txBody>
      </p:sp>
      <p:sp>
        <p:nvSpPr>
          <p:cNvPr id="47" name="Rectangle 46"/>
          <p:cNvSpPr/>
          <p:nvPr/>
        </p:nvSpPr>
        <p:spPr>
          <a:xfrm>
            <a:off x="8008680" y="4937760"/>
            <a:ext cx="340303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27552" y="4937760"/>
            <a:ext cx="3201863" cy="525780"/>
          </a:xfrm>
          <a:prstGeom prst="rect">
            <a:avLst/>
          </a:prstGeom>
          <a:noFill/>
        </p:spPr>
        <p:txBody>
          <a:bodyPr wrap="square" anchor="ctr">
            <a:spAutoFit/>
          </a:bodyPr>
          <a:lstStyle/>
          <a:p>
            <a:pPr algn="l">
              <a:spcAft>
                <a:spcPts val="400"/>
              </a:spcAft>
            </a:pPr>
            <a:r>
              <a:rPr sz="1100" b="0">
                <a:solidFill>
                  <a:srgbClr val="161B26"/>
                </a:solidFill>
                <a:latin typeface="Arial"/>
              </a:rPr>
              <a:t>Average sentiment pulse, % negative</a:t>
            </a:r>
          </a:p>
        </p:txBody>
      </p:sp>
      <p:sp>
        <p:nvSpPr>
          <p:cNvPr id="49" name="Rectangle 48"/>
          <p:cNvSpPr/>
          <p:nvPr/>
        </p:nvSpPr>
        <p:spPr>
          <a:xfrm>
            <a:off x="777240" y="5463540"/>
            <a:ext cx="4253788"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5463540"/>
            <a:ext cx="4052620" cy="525780"/>
          </a:xfrm>
          <a:prstGeom prst="rect">
            <a:avLst/>
          </a:prstGeom>
          <a:noFill/>
        </p:spPr>
        <p:txBody>
          <a:bodyPr wrap="square" anchor="ctr">
            <a:spAutoFit/>
          </a:bodyPr>
          <a:lstStyle/>
          <a:p>
            <a:pPr algn="l">
              <a:spcAft>
                <a:spcPts val="400"/>
              </a:spcAft>
            </a:pPr>
            <a:r>
              <a:rPr sz="1100" b="1">
                <a:solidFill>
                  <a:srgbClr val="161B26"/>
                </a:solidFill>
                <a:latin typeface="Arial"/>
              </a:rPr>
              <a:t>Are customers satisfied after resolution?</a:t>
            </a:r>
          </a:p>
        </p:txBody>
      </p:sp>
      <p:sp>
        <p:nvSpPr>
          <p:cNvPr id="51" name="Rectangle 50"/>
          <p:cNvSpPr/>
          <p:nvPr/>
        </p:nvSpPr>
        <p:spPr>
          <a:xfrm>
            <a:off x="5031028" y="5463540"/>
            <a:ext cx="2977652"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49900" y="5463540"/>
            <a:ext cx="2776484" cy="525780"/>
          </a:xfrm>
          <a:prstGeom prst="rect">
            <a:avLst/>
          </a:prstGeom>
          <a:noFill/>
        </p:spPr>
        <p:txBody>
          <a:bodyPr wrap="square" anchor="ctr">
            <a:spAutoFit/>
          </a:bodyPr>
          <a:lstStyle/>
          <a:p>
            <a:pPr algn="l">
              <a:spcAft>
                <a:spcPts val="400"/>
              </a:spcAft>
            </a:pPr>
            <a:r>
              <a:rPr sz="1100" b="0">
                <a:solidFill>
                  <a:srgbClr val="161B26"/>
                </a:solidFill>
                <a:latin typeface="Arial"/>
              </a:rPr>
              <a:t>Customer Voice</a:t>
            </a:r>
          </a:p>
        </p:txBody>
      </p:sp>
      <p:sp>
        <p:nvSpPr>
          <p:cNvPr id="53" name="Rectangle 52"/>
          <p:cNvSpPr/>
          <p:nvPr/>
        </p:nvSpPr>
        <p:spPr>
          <a:xfrm>
            <a:off x="8008680" y="5463540"/>
            <a:ext cx="340303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27552" y="5463540"/>
            <a:ext cx="3201863" cy="525780"/>
          </a:xfrm>
          <a:prstGeom prst="rect">
            <a:avLst/>
          </a:prstGeom>
          <a:noFill/>
        </p:spPr>
        <p:txBody>
          <a:bodyPr wrap="square" anchor="ctr">
            <a:spAutoFit/>
          </a:bodyPr>
          <a:lstStyle/>
          <a:p>
            <a:pPr algn="l">
              <a:spcAft>
                <a:spcPts val="400"/>
              </a:spcAft>
            </a:pPr>
            <a:r>
              <a:rPr sz="1100" b="0">
                <a:solidFill>
                  <a:srgbClr val="161B26"/>
                </a:solidFill>
                <a:latin typeface="Arial"/>
              </a:rPr>
              <a:t>CSAT and Net Promoter Score</a:t>
            </a:r>
          </a:p>
        </p:txBody>
      </p:sp>
      <p:sp>
        <p:nvSpPr>
          <p:cNvPr id="55" name="TextBox 54"/>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Three Customer Service reports (Summary, Agent, Case Topics) and five Omnichannel reports (Conversation, Queue, Agent, Bot, Topics).</a:t>
            </a:r>
          </a:p>
        </p:txBody>
      </p:sp>
      <p:sp>
        <p:nvSpPr>
          <p:cNvPr id="56" name="TextBox 5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57" name="TextBox 5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58" name="TextBox 5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08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8 — Omnichannel, Supervisor Insights and Service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8  ·  45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Contoso's support team is moving from email-only to multi-channel support. You explore the Omnichannel agent workspace and its session model, review the supervisor's near-real-time dashboards and sentiment KPIs, read the historical analytics reports, and connect a Customer Voice post-resolution survey — then draw the performance insight LO4 asks for.</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Open the Customer Service workspace and review sessions</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Explore the Omnichannel channels and productivity tools</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Review supervisor dashboards and sentiment KPIs</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Read the historical analytics reports</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Connect Customer Voice and state the insight</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An Omnichannel agent workspace walkthrough, a supervisor insights review with recorded KPIs, a completed analytics report comparison, and a service performance insight statement.</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Omnichannel for Customer Service, Customer Service workspace, Omnichannel Insights, Customer Voice, Power BI</a:t>
            </a:r>
            <a:r>
              <a:rPr sz="1150" b="0">
                <a:solidFill>
                  <a:srgbClr val="5B6372"/>
                </a:solidFill>
                <a:latin typeface="Arial"/>
              </a:rPr>
              <a:t>     ·     Full step-by-step: Learner Guide, Lab 8</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09</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Explore Dynamics 365 Field Service</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Field service use cases · the work order lifecycle · inspections · the Field Service mobile app</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09</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DEFINITION</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Field service is any service performed away from your own facility.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Another way to say it: mobile workforce management — getting the right technician, with the right parts and skills, to the right place at the right time.</a:t>
            </a:r>
          </a:p>
        </p:txBody>
      </p:sp>
      <p:sp>
        <p:nvSpPr>
          <p:cNvPr id="7" name="TextBox 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 name="TextBox 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CAPABILITIES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Field Service Delivers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Work order management</a:t>
            </a:r>
          </a:p>
          <a:p>
            <a:pPr algn="l">
              <a:spcAft>
                <a:spcPts val="300"/>
              </a:spcAft>
            </a:pPr>
            <a:r>
              <a:rPr sz="1100" b="0">
                <a:solidFill>
                  <a:srgbClr val="5B6372"/>
                </a:solidFill>
                <a:latin typeface="Arial"/>
              </a:rPr>
              <a:t>Define exactly what work must be done, for whom, when and with what.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Scheduling and dispatch</a:t>
            </a:r>
          </a:p>
          <a:p>
            <a:pPr algn="l">
              <a:spcAft>
                <a:spcPts val="300"/>
              </a:spcAft>
            </a:pPr>
            <a:r>
              <a:rPr sz="1100" b="0">
                <a:solidFill>
                  <a:srgbClr val="5B6372"/>
                </a:solidFill>
                <a:latin typeface="Arial"/>
              </a:rPr>
              <a:t>Match the work to a qualified, available resource who is near enough to get there.</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Communication tools</a:t>
            </a:r>
          </a:p>
          <a:p>
            <a:pPr algn="l">
              <a:spcAft>
                <a:spcPts val="300"/>
              </a:spcAft>
            </a:pPr>
            <a:r>
              <a:rPr sz="1100" b="0">
                <a:solidFill>
                  <a:srgbClr val="5B6372"/>
                </a:solidFill>
                <a:latin typeface="Arial"/>
              </a:rPr>
              <a:t>Keep the customer informed — appointment reminders, technician tracking, arrival notices.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Inventory and returns</a:t>
            </a:r>
          </a:p>
          <a:p>
            <a:pPr algn="l">
              <a:spcAft>
                <a:spcPts val="300"/>
              </a:spcAft>
            </a:pPr>
            <a:r>
              <a:rPr sz="1100" b="0">
                <a:solidFill>
                  <a:srgbClr val="5B6372"/>
                </a:solidFill>
                <a:latin typeface="Arial"/>
              </a:rPr>
              <a:t>Track parts on vans and at warehouses; handle returns and warranty claims.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Asset and contract management</a:t>
            </a:r>
          </a:p>
          <a:p>
            <a:pPr algn="l">
              <a:spcAft>
                <a:spcPts val="300"/>
              </a:spcAft>
            </a:pPr>
            <a:r>
              <a:rPr sz="1100" b="0">
                <a:solidFill>
                  <a:srgbClr val="5B6372"/>
                </a:solidFill>
                <a:latin typeface="Arial"/>
              </a:rPr>
              <a:t>Know what equipment the customer owns and what agreement covers it.</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Analytics and reporting</a:t>
            </a:r>
          </a:p>
          <a:p>
            <a:pPr algn="l">
              <a:spcAft>
                <a:spcPts val="300"/>
              </a:spcAft>
            </a:pPr>
            <a:r>
              <a:rPr sz="1100" b="0">
                <a:solidFill>
                  <a:srgbClr val="5B6372"/>
                </a:solidFill>
                <a:latin typeface="Arial"/>
              </a:rPr>
              <a:t>First-time fix rate, travel time, on-time arrival — the metrics that pay for the system.</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ORIGINS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Where Work Orders Come From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 sales process</a:t>
            </a:r>
          </a:p>
          <a:p>
            <a:pPr algn="l">
              <a:spcAft>
                <a:spcPts val="300"/>
              </a:spcAft>
            </a:pPr>
            <a:r>
              <a:rPr sz="1100" b="0">
                <a:solidFill>
                  <a:srgbClr val="5B6372"/>
                </a:solidFill>
                <a:latin typeface="Arial"/>
              </a:rPr>
              <a:t>The service was sold as part of the deal — installation, commissioning, training.</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An escalated case</a:t>
            </a:r>
          </a:p>
          <a:p>
            <a:pPr algn="l">
              <a:spcAft>
                <a:spcPts val="300"/>
              </a:spcAft>
            </a:pPr>
            <a:r>
              <a:rPr sz="1100" b="0">
                <a:solidFill>
                  <a:srgbClr val="5B6372"/>
                </a:solidFill>
                <a:latin typeface="Arial"/>
              </a:rPr>
              <a:t>Customer Service could not fix it remotely, so a technician must attend.</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 customer request</a:t>
            </a:r>
          </a:p>
          <a:p>
            <a:pPr algn="l">
              <a:spcAft>
                <a:spcPts val="300"/>
              </a:spcAft>
            </a:pPr>
            <a:r>
              <a:rPr sz="1100" b="0">
                <a:solidFill>
                  <a:srgbClr val="5B6372"/>
                </a:solidFill>
                <a:latin typeface="Arial"/>
              </a:rPr>
              <a:t>Raised through a portal, an app or a phone call to the service desk.</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 maintenance agreement</a:t>
            </a:r>
          </a:p>
          <a:p>
            <a:pPr algn="l">
              <a:spcAft>
                <a:spcPts val="300"/>
              </a:spcAft>
            </a:pPr>
            <a:r>
              <a:rPr sz="1100" b="0">
                <a:solidFill>
                  <a:srgbClr val="5B6372"/>
                </a:solidFill>
                <a:latin typeface="Arial"/>
              </a:rPr>
              <a:t>Scheduled preventive maintenance generated automatically from the contract.</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An IoT alert</a:t>
            </a:r>
          </a:p>
          <a:p>
            <a:pPr algn="l">
              <a:spcAft>
                <a:spcPts val="300"/>
              </a:spcAft>
            </a:pPr>
            <a:r>
              <a:rPr sz="1100" b="0">
                <a:solidFill>
                  <a:srgbClr val="5B6372"/>
                </a:solidFill>
                <a:latin typeface="Arial"/>
              </a:rPr>
              <a:t>A connected device reported a fault — Connected Field Service raises the work order.</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An inspection follow-up</a:t>
            </a:r>
          </a:p>
          <a:p>
            <a:pPr algn="l">
              <a:spcAft>
                <a:spcPts val="300"/>
              </a:spcAft>
            </a:pPr>
            <a:r>
              <a:rPr sz="1100" b="0">
                <a:solidFill>
                  <a:srgbClr val="5B6372"/>
                </a:solidFill>
                <a:latin typeface="Arial"/>
              </a:rPr>
              <a:t>A previous inspection or audit found something that needs fixing.</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STATUSES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Work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rk_order_lifecycle.png"/>
          <p:cNvPicPr>
            <a:picLocks noChangeAspect="1"/>
          </p:cNvPicPr>
          <p:nvPr/>
        </p:nvPicPr>
        <p:blipFill>
          <a:blip r:embed="rId2"/>
          <a:stretch>
            <a:fillRect/>
          </a:stretch>
        </p:blipFill>
        <p:spPr>
          <a:xfrm>
            <a:off x="777240" y="2711562"/>
            <a:ext cx="6035040" cy="2486436"/>
          </a:xfrm>
          <a:prstGeom prst="rect">
            <a:avLst/>
          </a:prstGeom>
        </p:spPr>
      </p:pic>
      <p:sp>
        <p:nvSpPr>
          <p:cNvPr id="8" name="Rectangle 7"/>
          <p:cNvSpPr/>
          <p:nvPr/>
        </p:nvSpPr>
        <p:spPr>
          <a:xfrm>
            <a:off x="7086600" y="1783080"/>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8660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24344" y="1783080"/>
            <a:ext cx="3904488" cy="737006"/>
          </a:xfrm>
          <a:prstGeom prst="rect">
            <a:avLst/>
          </a:prstGeom>
          <a:noFill/>
        </p:spPr>
        <p:txBody>
          <a:bodyPr wrap="square" anchor="ctr">
            <a:spAutoFit/>
          </a:bodyPr>
          <a:lstStyle/>
          <a:p>
            <a:pPr algn="l">
              <a:spcAft>
                <a:spcPts val="200"/>
              </a:spcAft>
            </a:pPr>
            <a:r>
              <a:rPr sz="1300" b="1">
                <a:solidFill>
                  <a:srgbClr val="1F6FEB"/>
                </a:solidFill>
                <a:latin typeface="Arial"/>
              </a:rPr>
              <a:t>Open – Unscheduled</a:t>
            </a:r>
          </a:p>
          <a:p>
            <a:pPr algn="l">
              <a:spcAft>
                <a:spcPts val="200"/>
              </a:spcAft>
            </a:pPr>
            <a:r>
              <a:rPr sz="1100" b="0">
                <a:solidFill>
                  <a:srgbClr val="161B26"/>
                </a:solidFill>
                <a:latin typeface="Arial"/>
              </a:rPr>
              <a:t>The work is defined but nobody is booked. It sits in the dispatcher's queue.</a:t>
            </a:r>
          </a:p>
        </p:txBody>
      </p:sp>
      <p:sp>
        <p:nvSpPr>
          <p:cNvPr id="11" name="Rectangle 10"/>
          <p:cNvSpPr/>
          <p:nvPr/>
        </p:nvSpPr>
        <p:spPr>
          <a:xfrm>
            <a:off x="7086600" y="2684678"/>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8660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24344" y="2684678"/>
            <a:ext cx="3904488" cy="737006"/>
          </a:xfrm>
          <a:prstGeom prst="rect">
            <a:avLst/>
          </a:prstGeom>
          <a:noFill/>
        </p:spPr>
        <p:txBody>
          <a:bodyPr wrap="square" anchor="ctr">
            <a:spAutoFit/>
          </a:bodyPr>
          <a:lstStyle/>
          <a:p>
            <a:pPr algn="l">
              <a:spcAft>
                <a:spcPts val="200"/>
              </a:spcAft>
            </a:pPr>
            <a:r>
              <a:rPr sz="1300" b="1">
                <a:solidFill>
                  <a:srgbClr val="10B981"/>
                </a:solidFill>
                <a:latin typeface="Arial"/>
              </a:rPr>
              <a:t>Open – Scheduled</a:t>
            </a:r>
          </a:p>
          <a:p>
            <a:pPr algn="l">
              <a:spcAft>
                <a:spcPts val="200"/>
              </a:spcAft>
            </a:pPr>
            <a:r>
              <a:rPr sz="1100" b="0">
                <a:solidFill>
                  <a:srgbClr val="161B26"/>
                </a:solidFill>
                <a:latin typeface="Arial"/>
              </a:rPr>
              <a:t>A resource is booked with a time slot and a travel plan.</a:t>
            </a:r>
          </a:p>
        </p:txBody>
      </p:sp>
      <p:sp>
        <p:nvSpPr>
          <p:cNvPr id="14" name="Rectangle 13"/>
          <p:cNvSpPr/>
          <p:nvPr/>
        </p:nvSpPr>
        <p:spPr>
          <a:xfrm>
            <a:off x="7086600" y="3586276"/>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8660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4344" y="3586276"/>
            <a:ext cx="3904488" cy="737006"/>
          </a:xfrm>
          <a:prstGeom prst="rect">
            <a:avLst/>
          </a:prstGeom>
          <a:noFill/>
        </p:spPr>
        <p:txBody>
          <a:bodyPr wrap="square" anchor="ctr">
            <a:spAutoFit/>
          </a:bodyPr>
          <a:lstStyle/>
          <a:p>
            <a:pPr algn="l">
              <a:spcAft>
                <a:spcPts val="200"/>
              </a:spcAft>
            </a:pPr>
            <a:r>
              <a:rPr sz="1300" b="1">
                <a:solidFill>
                  <a:srgbClr val="7C3AED"/>
                </a:solidFill>
                <a:latin typeface="Arial"/>
              </a:rPr>
              <a:t>Open – In Progress</a:t>
            </a:r>
          </a:p>
          <a:p>
            <a:pPr algn="l">
              <a:spcAft>
                <a:spcPts val="200"/>
              </a:spcAft>
            </a:pPr>
            <a:r>
              <a:rPr sz="1100" b="0">
                <a:solidFill>
                  <a:srgbClr val="161B26"/>
                </a:solidFill>
                <a:latin typeface="Arial"/>
              </a:rPr>
              <a:t>The technician has arrived and started work; actual times are recorded.</a:t>
            </a:r>
          </a:p>
        </p:txBody>
      </p:sp>
      <p:sp>
        <p:nvSpPr>
          <p:cNvPr id="17" name="Rectangle 16"/>
          <p:cNvSpPr/>
          <p:nvPr/>
        </p:nvSpPr>
        <p:spPr>
          <a:xfrm>
            <a:off x="7086600" y="4487874"/>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8660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24344" y="4487874"/>
            <a:ext cx="3904488" cy="737006"/>
          </a:xfrm>
          <a:prstGeom prst="rect">
            <a:avLst/>
          </a:prstGeom>
          <a:noFill/>
        </p:spPr>
        <p:txBody>
          <a:bodyPr wrap="square" anchor="ctr">
            <a:spAutoFit/>
          </a:bodyPr>
          <a:lstStyle/>
          <a:p>
            <a:pPr algn="l">
              <a:spcAft>
                <a:spcPts val="200"/>
              </a:spcAft>
            </a:pPr>
            <a:r>
              <a:rPr sz="1300" b="1">
                <a:solidFill>
                  <a:srgbClr val="F59E0B"/>
                </a:solidFill>
                <a:latin typeface="Arial"/>
              </a:rPr>
              <a:t>Open – Completed</a:t>
            </a:r>
          </a:p>
          <a:p>
            <a:pPr algn="l">
              <a:spcAft>
                <a:spcPts val="200"/>
              </a:spcAft>
            </a:pPr>
            <a:r>
              <a:rPr sz="1100" b="0">
                <a:solidFill>
                  <a:srgbClr val="161B26"/>
                </a:solidFill>
                <a:latin typeface="Arial"/>
              </a:rPr>
              <a:t>The work is done, awaiting review and posting.</a:t>
            </a:r>
          </a:p>
        </p:txBody>
      </p:sp>
      <p:sp>
        <p:nvSpPr>
          <p:cNvPr id="20" name="Rectangle 19"/>
          <p:cNvSpPr/>
          <p:nvPr/>
        </p:nvSpPr>
        <p:spPr>
          <a:xfrm>
            <a:off x="7086600" y="5389472"/>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8660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24344" y="5389472"/>
            <a:ext cx="3904488" cy="737006"/>
          </a:xfrm>
          <a:prstGeom prst="rect">
            <a:avLst/>
          </a:prstGeom>
          <a:noFill/>
        </p:spPr>
        <p:txBody>
          <a:bodyPr wrap="square" anchor="ctr">
            <a:spAutoFit/>
          </a:bodyPr>
          <a:lstStyle/>
          <a:p>
            <a:pPr algn="l">
              <a:spcAft>
                <a:spcPts val="200"/>
              </a:spcAft>
            </a:pPr>
            <a:r>
              <a:rPr sz="1300" b="1">
                <a:solidFill>
                  <a:srgbClr val="1F6FEB"/>
                </a:solidFill>
                <a:latin typeface="Arial"/>
              </a:rPr>
              <a:t>Closed – Posted</a:t>
            </a:r>
          </a:p>
          <a:p>
            <a:pPr algn="l">
              <a:spcAft>
                <a:spcPts val="200"/>
              </a:spcAft>
            </a:pPr>
            <a:r>
              <a:rPr sz="1100" b="0">
                <a:solidFill>
                  <a:srgbClr val="161B26"/>
                </a:solidFill>
                <a:latin typeface="Arial"/>
              </a:rPr>
              <a:t>Reviewed, products and services posted, read-only. Or Closed – Canceled.</a:t>
            </a:r>
          </a:p>
        </p:txBody>
      </p:sp>
      <p:sp>
        <p:nvSpPr>
          <p:cNvPr id="23" name="TextBox 2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4" name="TextBox 2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ANATOMY OF THE CENTRAL RECORD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a Work Order Carries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Service account and address</a:t>
            </a:r>
          </a:p>
          <a:p>
            <a:pPr algn="l">
              <a:spcAft>
                <a:spcPts val="300"/>
              </a:spcAft>
            </a:pPr>
            <a:r>
              <a:rPr sz="1100" b="0">
                <a:solidFill>
                  <a:srgbClr val="5B6372"/>
                </a:solidFill>
                <a:latin typeface="Arial"/>
              </a:rPr>
              <a:t>Who the work is for and exactly where — geo-coded for travel calculation.</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Incident type</a:t>
            </a:r>
          </a:p>
          <a:p>
            <a:pPr algn="l">
              <a:spcAft>
                <a:spcPts val="300"/>
              </a:spcAft>
            </a:pPr>
            <a:r>
              <a:rPr sz="1100" b="0">
                <a:solidFill>
                  <a:srgbClr val="5B6372"/>
                </a:solidFill>
                <a:latin typeface="Arial"/>
              </a:rPr>
              <a:t>The kind of problem, which pre-populates duration, required skills, tasks and products.</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Service tasks</a:t>
            </a:r>
          </a:p>
          <a:p>
            <a:pPr algn="l">
              <a:spcAft>
                <a:spcPts val="300"/>
              </a:spcAft>
            </a:pPr>
            <a:r>
              <a:rPr sz="1100" b="0">
                <a:solidFill>
                  <a:srgbClr val="5B6372"/>
                </a:solidFill>
                <a:latin typeface="Arial"/>
              </a:rPr>
              <a:t>The checklist of what the technician must actually do, with estimated durations.</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Products and services</a:t>
            </a:r>
          </a:p>
          <a:p>
            <a:pPr algn="l">
              <a:spcAft>
                <a:spcPts val="300"/>
              </a:spcAft>
            </a:pPr>
            <a:r>
              <a:rPr sz="1100" b="0">
                <a:solidFill>
                  <a:srgbClr val="5B6372"/>
                </a:solidFill>
                <a:latin typeface="Arial"/>
              </a:rPr>
              <a:t>Parts expected to be used and the labour to be billed.</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Time windows</a:t>
            </a:r>
          </a:p>
          <a:p>
            <a:pPr algn="l">
              <a:spcAft>
                <a:spcPts val="300"/>
              </a:spcAft>
            </a:pPr>
            <a:r>
              <a:rPr sz="1100" b="0">
                <a:solidFill>
                  <a:srgbClr val="5B6372"/>
                </a:solidFill>
                <a:latin typeface="Arial"/>
              </a:rPr>
              <a:t>Promised From and Promised To — the appointment window given to the customer.</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Priority and territory</a:t>
            </a:r>
          </a:p>
          <a:p>
            <a:pPr algn="l">
              <a:spcAft>
                <a:spcPts val="300"/>
              </a:spcAft>
            </a:pPr>
            <a:r>
              <a:rPr sz="1100" b="0">
                <a:solidFill>
                  <a:srgbClr val="5B6372"/>
                </a:solidFill>
                <a:latin typeface="Arial"/>
              </a:rPr>
              <a:t>Drives scheduling urgency and which team of resources can be considered.</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THE TECHNICIAN ACTUALLY TOUCHES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Inspections and the Mobile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500" b="1">
                <a:solidFill>
                  <a:srgbClr val="10B981"/>
                </a:solidFill>
                <a:latin typeface="Arial"/>
              </a:rPr>
              <a:t>Inspections — the data</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500" b="1">
                <a:solidFill>
                  <a:srgbClr val="F59E0B"/>
                </a:solidFill>
                <a:latin typeface="Arial"/>
              </a:rPr>
              <a:t>Mobile — the tool</a:t>
            </a:r>
          </a:p>
        </p:txBody>
      </p:sp>
      <p:sp>
        <p:nvSpPr>
          <p:cNvPr id="13" name="TextBox 12"/>
          <p:cNvSpPr txBox="1"/>
          <p:nvPr/>
        </p:nvSpPr>
        <p:spPr>
          <a:xfrm>
            <a:off x="1005840" y="2450592"/>
            <a:ext cx="4754880" cy="2971800"/>
          </a:xfrm>
          <a:prstGeom prst="rect">
            <a:avLst/>
          </a:prstGeom>
          <a:noFill/>
        </p:spPr>
        <p:txBody>
          <a:bodyPr wrap="square">
            <a:spAutoFit/>
          </a:bodyPr>
          <a:lstStyle/>
          <a:p>
            <a:pPr>
              <a:spcAft>
                <a:spcPts val="1000"/>
              </a:spcAft>
            </a:pPr>
            <a:r>
              <a:rPr sz="1400" b="1">
                <a:solidFill>
                  <a:srgbClr val="161B26"/>
                </a:solidFill>
                <a:latin typeface="Arial"/>
              </a:rPr>
              <a:t>•  Inspections are digital forms</a:t>
            </a:r>
          </a:p>
          <a:p>
            <a:pPr>
              <a:spcAft>
                <a:spcPts val="1000"/>
              </a:spcAft>
            </a:pPr>
            <a:r>
              <a:rPr sz="1200" b="0">
                <a:solidFill>
                  <a:srgbClr val="5B6372"/>
                </a:solidFill>
                <a:latin typeface="Arial"/>
              </a:rPr>
              <a:t>–  Drag-and-drop question sets: yes/no, number, text, photo, single/multi-select</a:t>
            </a:r>
          </a:p>
          <a:p>
            <a:pPr>
              <a:spcAft>
                <a:spcPts val="1000"/>
              </a:spcAft>
            </a:pPr>
            <a:r>
              <a:rPr sz="1200" b="0">
                <a:solidFill>
                  <a:srgbClr val="5B6372"/>
                </a:solidFill>
                <a:latin typeface="Arial"/>
              </a:rPr>
              <a:t>–  Easier to create than the old service task model</a:t>
            </a:r>
          </a:p>
          <a:p>
            <a:pPr>
              <a:spcAft>
                <a:spcPts val="1000"/>
              </a:spcAft>
            </a:pPr>
            <a:r>
              <a:rPr sz="1200" b="0">
                <a:solidFill>
                  <a:srgbClr val="5B6372"/>
                </a:solidFill>
                <a:latin typeface="Arial"/>
              </a:rPr>
              <a:t>–  Faster to fill in on a phone, and works offline</a:t>
            </a:r>
          </a:p>
          <a:p>
            <a:pPr>
              <a:spcAft>
                <a:spcPts val="1000"/>
              </a:spcAft>
            </a:pPr>
            <a:r>
              <a:rPr sz="1200" b="0">
                <a:solidFill>
                  <a:srgbClr val="5B6372"/>
                </a:solidFill>
                <a:latin typeface="Arial"/>
              </a:rPr>
              <a:t>–  Must be PUBLISHED before use; edits create a new version</a:t>
            </a:r>
          </a:p>
          <a:p>
            <a:pPr>
              <a:spcAft>
                <a:spcPts val="1000"/>
              </a:spcAft>
            </a:pPr>
            <a:r>
              <a:rPr sz="1200" b="0">
                <a:solidFill>
                  <a:srgbClr val="5B6372"/>
                </a:solidFill>
                <a:latin typeface="Arial"/>
              </a:rPr>
              <a:t>–  Responses are reportable data, not a scanned paper form</a:t>
            </a:r>
          </a:p>
        </p:txBody>
      </p:sp>
      <p:sp>
        <p:nvSpPr>
          <p:cNvPr id="14" name="TextBox 13"/>
          <p:cNvSpPr txBox="1"/>
          <p:nvPr/>
        </p:nvSpPr>
        <p:spPr>
          <a:xfrm>
            <a:off x="6583680" y="2450592"/>
            <a:ext cx="4617720" cy="2971800"/>
          </a:xfrm>
          <a:prstGeom prst="rect">
            <a:avLst/>
          </a:prstGeom>
          <a:noFill/>
        </p:spPr>
        <p:txBody>
          <a:bodyPr wrap="square">
            <a:spAutoFit/>
          </a:bodyPr>
          <a:lstStyle/>
          <a:p>
            <a:pPr>
              <a:spcAft>
                <a:spcPts val="1000"/>
              </a:spcAft>
            </a:pPr>
            <a:r>
              <a:rPr sz="1400" b="1">
                <a:solidFill>
                  <a:srgbClr val="161B26"/>
                </a:solidFill>
                <a:latin typeface="Arial"/>
              </a:rPr>
              <a:t>•  The Field Service mobile app</a:t>
            </a:r>
          </a:p>
          <a:p>
            <a:pPr>
              <a:spcAft>
                <a:spcPts val="1000"/>
              </a:spcAft>
            </a:pPr>
            <a:r>
              <a:rPr sz="1200" b="0">
                <a:solidFill>
                  <a:srgbClr val="5B6372"/>
                </a:solidFill>
                <a:latin typeface="Arial"/>
              </a:rPr>
              <a:t>–  Built on Power Platform — configurable without code</a:t>
            </a:r>
          </a:p>
          <a:p>
            <a:pPr>
              <a:spcAft>
                <a:spcPts val="1000"/>
              </a:spcAft>
            </a:pPr>
            <a:r>
              <a:rPr sz="1200" b="0">
                <a:solidFill>
                  <a:srgbClr val="5B6372"/>
                </a:solidFill>
                <a:latin typeface="Arial"/>
              </a:rPr>
              <a:t>–  The day's bookings, routes and work order details</a:t>
            </a:r>
          </a:p>
          <a:p>
            <a:pPr>
              <a:spcAft>
                <a:spcPts val="1000"/>
              </a:spcAft>
            </a:pPr>
            <a:r>
              <a:rPr sz="1200" b="0">
                <a:solidFill>
                  <a:srgbClr val="5B6372"/>
                </a:solidFill>
                <a:latin typeface="Arial"/>
              </a:rPr>
              <a:t>–  Customer asset history: what was done here before</a:t>
            </a:r>
          </a:p>
          <a:p>
            <a:pPr>
              <a:spcAft>
                <a:spcPts val="1000"/>
              </a:spcAft>
            </a:pPr>
            <a:r>
              <a:rPr sz="1200" b="0">
                <a:solidFill>
                  <a:srgbClr val="5B6372"/>
                </a:solidFill>
                <a:latin typeface="Arial"/>
              </a:rPr>
              <a:t>–  Guided inspections, photo capture, parts used, signature</a:t>
            </a:r>
          </a:p>
          <a:p>
            <a:pPr>
              <a:spcAft>
                <a:spcPts val="1000"/>
              </a:spcAft>
            </a:pPr>
            <a:r>
              <a:rPr sz="1200" b="0">
                <a:solidFill>
                  <a:srgbClr val="5B6372"/>
                </a:solidFill>
                <a:latin typeface="Arial"/>
              </a:rPr>
              <a:t>–  Offline capability — the basement with no signal still works</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250" b="0">
                <a:solidFill>
                  <a:srgbClr val="5B6372"/>
                </a:solidFill>
                <a:latin typeface="Arial"/>
              </a:rPr>
              <a:t>Together they raise the first-time fix rate: the technician arrives knowing the history and leaves with the evidence captured.</a:t>
            </a:r>
          </a:p>
        </p:txBody>
      </p:sp>
      <p:sp>
        <p:nvSpPr>
          <p:cNvPr id="16" name="TextBox 15"/>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7" name="TextBox 16"/>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09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9 — Create and Complete a Work Order with an Inspection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9  ·  55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A Contoso customer's espresso machine has failed on site. You create the work order with its incident type, products and services, attach a digital inspection the technician must complete, then drive the work order through its full status lifecycle from Open–Unscheduled to Closed–Posted, reviewing the mobile experience the technician would actually use.</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Create the work order and set its incident type</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Add service tasks, products and services</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Build and attach the digital inspection</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Progress the work order through its statuses</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Review the mobile technician experience</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 work order with an incident type, service tasks, products and services, a published inspection attached and completed, driven through every lifecycle status to Closed–Posted.</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Dynamics 365 Field Service, Dataverse, incident types, inspections, Field Service mobile app</a:t>
            </a:r>
            <a:r>
              <a:rPr sz="1150" b="0">
                <a:solidFill>
                  <a:srgbClr val="5B6372"/>
                </a:solidFill>
                <a:latin typeface="Arial"/>
              </a:rPr>
              <a:t>     ·     Full step-by-step: Learner Guide, Lab 9</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10</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Field Service Scheduling Capabilities and Related Apps</a:t>
            </a:r>
          </a:p>
        </p:txBody>
      </p:sp>
      <p:sp>
        <p:nvSpPr>
          <p:cNvPr id="7" name="TextBox 6"/>
          <p:cNvSpPr txBox="1"/>
          <p:nvPr/>
        </p:nvSpPr>
        <p:spPr>
          <a:xfrm>
            <a:off x="1161288" y="4224528"/>
            <a:ext cx="9692640" cy="822960"/>
          </a:xfrm>
          <a:prstGeom prst="rect">
            <a:avLst/>
          </a:prstGeom>
          <a:noFill/>
        </p:spPr>
        <p:txBody>
          <a:bodyPr wrap="square" anchor="t">
            <a:spAutoFit/>
          </a:bodyPr>
          <a:lstStyle/>
          <a:p>
            <a:pPr algn="l">
              <a:spcAft>
                <a:spcPts val="400"/>
              </a:spcAft>
            </a:pPr>
            <a:r>
              <a:rPr sz="1500" b="0">
                <a:solidFill>
                  <a:srgbClr val="5B6372"/>
                </a:solidFill>
                <a:latin typeface="Arial"/>
              </a:rPr>
              <a:t>Resource and scheduling processes · the schedule board and schedule assistant · asset management · Connected Field Service and IoT</a:t>
            </a:r>
          </a:p>
        </p:txBody>
      </p:sp>
      <p:sp>
        <p:nvSpPr>
          <p:cNvPr id="8" name="TextBox 7"/>
          <p:cNvSpPr txBox="1"/>
          <p:nvPr/>
        </p:nvSpPr>
        <p:spPr>
          <a:xfrm>
            <a:off x="9692640" y="640080"/>
            <a:ext cx="2011680" cy="1463040"/>
          </a:xfrm>
          <a:prstGeom prst="rect">
            <a:avLst/>
          </a:prstGeom>
          <a:noFill/>
        </p:spPr>
        <p:txBody>
          <a:bodyPr wrap="square" anchor="t">
            <a:spAutoFit/>
          </a:bodyPr>
          <a:lstStyle/>
          <a:p>
            <a:pPr algn="r">
              <a:spcAft>
                <a:spcPts val="400"/>
              </a:spcAft>
            </a:pPr>
            <a:r>
              <a:rPr sz="6800" b="1">
                <a:solidFill>
                  <a:srgbClr val="E2E8F0"/>
                </a:solidFill>
                <a:latin typeface="Arial"/>
              </a:rPr>
              <a:t>10</a:t>
            </a:r>
          </a:p>
        </p:txBody>
      </p:sp>
      <p:sp>
        <p:nvSpPr>
          <p:cNvPr id="9" name="TextBox 8"/>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 name="TextBox 9"/>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A SCHEDULING SOLUTION MUST ANSWER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Five Scheduling Questions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Is it ready to schedule?</a:t>
            </a:r>
          </a:p>
          <a:p>
            <a:pPr algn="l">
              <a:spcAft>
                <a:spcPts val="300"/>
              </a:spcAft>
            </a:pPr>
            <a:r>
              <a:rPr sz="1100" b="0">
                <a:solidFill>
                  <a:srgbClr val="5B6372"/>
                </a:solidFill>
                <a:latin typeface="Arial"/>
              </a:rPr>
              <a:t>Are the parts available, is the site accessible, has the customer confirmed?</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Who is QUALIFIED?</a:t>
            </a:r>
          </a:p>
          <a:p>
            <a:pPr algn="l">
              <a:spcAft>
                <a:spcPts val="300"/>
              </a:spcAft>
            </a:pPr>
            <a:r>
              <a:rPr sz="1100" b="0">
                <a:solidFill>
                  <a:srgbClr val="5B6372"/>
                </a:solidFill>
                <a:latin typeface="Arial"/>
              </a:rPr>
              <a:t>Which resources hold the required characteristics — certifications and skills?</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Who is AVAILABLE?</a:t>
            </a:r>
          </a:p>
          <a:p>
            <a:pPr algn="l">
              <a:spcAft>
                <a:spcPts val="300"/>
              </a:spcAft>
            </a:pPr>
            <a:r>
              <a:rPr sz="1100" b="0">
                <a:solidFill>
                  <a:srgbClr val="5B6372"/>
                </a:solidFill>
                <a:latin typeface="Arial"/>
              </a:rPr>
              <a:t>Whose working hours and existing bookings leave room in the promised window?</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Who is NEAREST?</a:t>
            </a:r>
          </a:p>
          <a:p>
            <a:pPr algn="l">
              <a:spcAft>
                <a:spcPts val="300"/>
              </a:spcAft>
            </a:pPr>
            <a:r>
              <a:rPr sz="1100" b="0">
                <a:solidFill>
                  <a:srgbClr val="5B6372"/>
                </a:solidFill>
                <a:latin typeface="Arial"/>
              </a:rPr>
              <a:t>Travel time is unbillable cost — proximity is money.</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What does it COST?</a:t>
            </a:r>
          </a:p>
          <a:p>
            <a:pPr algn="l">
              <a:spcAft>
                <a:spcPts val="300"/>
              </a:spcAft>
            </a:pPr>
            <a:r>
              <a:rPr sz="1100" b="0">
                <a:solidFill>
                  <a:srgbClr val="5B6372"/>
                </a:solidFill>
                <a:latin typeface="Arial"/>
              </a:rPr>
              <a:t>Some resources are more expensive; some jobs justify the premium.</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Answer all five, fast</a:t>
            </a:r>
          </a:p>
          <a:p>
            <a:pPr algn="l">
              <a:spcAft>
                <a:spcPts val="300"/>
              </a:spcAft>
            </a:pPr>
            <a:r>
              <a:rPr sz="1100" b="0">
                <a:solidFill>
                  <a:srgbClr val="5B6372"/>
                </a:solidFill>
                <a:latin typeface="Arial"/>
              </a:rPr>
              <a:t>A dispatcher may make hundreds of these decisions a day.</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DISPATCHER'S SINGLE 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Schedule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hedule_board.png"/>
          <p:cNvPicPr>
            <a:picLocks noChangeAspect="1"/>
          </p:cNvPicPr>
          <p:nvPr/>
        </p:nvPicPr>
        <p:blipFill>
          <a:blip r:embed="rId2"/>
          <a:stretch>
            <a:fillRect/>
          </a:stretch>
        </p:blipFill>
        <p:spPr>
          <a:xfrm>
            <a:off x="777240" y="2483733"/>
            <a:ext cx="6126480" cy="2942094"/>
          </a:xfrm>
          <a:prstGeom prst="rect">
            <a:avLst/>
          </a:prstGeom>
        </p:spPr>
      </p:pic>
      <p:sp>
        <p:nvSpPr>
          <p:cNvPr id="8" name="Rectangle 7"/>
          <p:cNvSpPr/>
          <p:nvPr/>
        </p:nvSpPr>
        <p:spPr>
          <a:xfrm>
            <a:off x="7178040" y="1783080"/>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7804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15784" y="1783080"/>
            <a:ext cx="3813048" cy="737006"/>
          </a:xfrm>
          <a:prstGeom prst="rect">
            <a:avLst/>
          </a:prstGeom>
          <a:noFill/>
        </p:spPr>
        <p:txBody>
          <a:bodyPr wrap="square" anchor="ctr">
            <a:spAutoFit/>
          </a:bodyPr>
          <a:lstStyle/>
          <a:p>
            <a:pPr algn="l">
              <a:spcAft>
                <a:spcPts val="200"/>
              </a:spcAft>
            </a:pPr>
            <a:r>
              <a:rPr sz="1300" b="1">
                <a:solidFill>
                  <a:srgbClr val="1F6FEB"/>
                </a:solidFill>
                <a:latin typeface="Arial"/>
              </a:rPr>
              <a:t>Resources down, time across</a:t>
            </a:r>
          </a:p>
          <a:p>
            <a:pPr algn="l">
              <a:spcAft>
                <a:spcPts val="200"/>
              </a:spcAft>
            </a:pPr>
            <a:r>
              <a:rPr sz="1100" b="0">
                <a:solidFill>
                  <a:srgbClr val="161B26"/>
                </a:solidFill>
                <a:latin typeface="Arial"/>
              </a:rPr>
              <a:t>Every technician's day laid out on one grid.</a:t>
            </a:r>
          </a:p>
        </p:txBody>
      </p:sp>
      <p:sp>
        <p:nvSpPr>
          <p:cNvPr id="11" name="Rectangle 10"/>
          <p:cNvSpPr/>
          <p:nvPr/>
        </p:nvSpPr>
        <p:spPr>
          <a:xfrm>
            <a:off x="7178040" y="2684678"/>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15784" y="2684678"/>
            <a:ext cx="3813048" cy="737006"/>
          </a:xfrm>
          <a:prstGeom prst="rect">
            <a:avLst/>
          </a:prstGeom>
          <a:noFill/>
        </p:spPr>
        <p:txBody>
          <a:bodyPr wrap="square" anchor="ctr">
            <a:spAutoFit/>
          </a:bodyPr>
          <a:lstStyle/>
          <a:p>
            <a:pPr algn="l">
              <a:spcAft>
                <a:spcPts val="200"/>
              </a:spcAft>
            </a:pPr>
            <a:r>
              <a:rPr sz="1300" b="1">
                <a:solidFill>
                  <a:srgbClr val="10B981"/>
                </a:solidFill>
                <a:latin typeface="Arial"/>
              </a:rPr>
              <a:t>Bookings are the blocks</a:t>
            </a:r>
          </a:p>
          <a:p>
            <a:pPr algn="l">
              <a:spcAft>
                <a:spcPts val="200"/>
              </a:spcAft>
            </a:pPr>
            <a:r>
              <a:rPr sz="1100" b="0">
                <a:solidFill>
                  <a:srgbClr val="161B26"/>
                </a:solidFill>
                <a:latin typeface="Arial"/>
              </a:rPr>
              <a:t>Drag to move, right-click to substitute or reschedule.</a:t>
            </a:r>
          </a:p>
        </p:txBody>
      </p:sp>
      <p:sp>
        <p:nvSpPr>
          <p:cNvPr id="14" name="Rectangle 13"/>
          <p:cNvSpPr/>
          <p:nvPr/>
        </p:nvSpPr>
        <p:spPr>
          <a:xfrm>
            <a:off x="7178040" y="3586276"/>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15784" y="3586276"/>
            <a:ext cx="3813048" cy="737006"/>
          </a:xfrm>
          <a:prstGeom prst="rect">
            <a:avLst/>
          </a:prstGeom>
          <a:noFill/>
        </p:spPr>
        <p:txBody>
          <a:bodyPr wrap="square" anchor="ctr">
            <a:spAutoFit/>
          </a:bodyPr>
          <a:lstStyle/>
          <a:p>
            <a:pPr algn="l">
              <a:spcAft>
                <a:spcPts val="200"/>
              </a:spcAft>
            </a:pPr>
            <a:r>
              <a:rPr sz="1300" b="1">
                <a:solidFill>
                  <a:srgbClr val="7C3AED"/>
                </a:solidFill>
                <a:latin typeface="Arial"/>
              </a:rPr>
              <a:t>The requirements panel</a:t>
            </a:r>
          </a:p>
          <a:p>
            <a:pPr algn="l">
              <a:spcAft>
                <a:spcPts val="200"/>
              </a:spcAft>
            </a:pPr>
            <a:r>
              <a:rPr sz="1100" b="0">
                <a:solidFill>
                  <a:srgbClr val="161B26"/>
                </a:solidFill>
                <a:latin typeface="Arial"/>
              </a:rPr>
              <a:t>Unscheduled work orders waiting at the bottom, ready to be assigned.</a:t>
            </a:r>
          </a:p>
        </p:txBody>
      </p:sp>
      <p:sp>
        <p:nvSpPr>
          <p:cNvPr id="17" name="Rectangle 16"/>
          <p:cNvSpPr/>
          <p:nvPr/>
        </p:nvSpPr>
        <p:spPr>
          <a:xfrm>
            <a:off x="7178040" y="4487874"/>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5784" y="4487874"/>
            <a:ext cx="3813048" cy="737006"/>
          </a:xfrm>
          <a:prstGeom prst="rect">
            <a:avLst/>
          </a:prstGeom>
          <a:noFill/>
        </p:spPr>
        <p:txBody>
          <a:bodyPr wrap="square" anchor="ctr">
            <a:spAutoFit/>
          </a:bodyPr>
          <a:lstStyle/>
          <a:p>
            <a:pPr algn="l">
              <a:spcAft>
                <a:spcPts val="200"/>
              </a:spcAft>
            </a:pPr>
            <a:r>
              <a:rPr sz="1300" b="1">
                <a:solidFill>
                  <a:srgbClr val="F59E0B"/>
                </a:solidFill>
                <a:latin typeface="Arial"/>
              </a:rPr>
              <a:t>The map view</a:t>
            </a:r>
          </a:p>
          <a:p>
            <a:pPr algn="l">
              <a:spcAft>
                <a:spcPts val="200"/>
              </a:spcAft>
            </a:pPr>
            <a:r>
              <a:rPr sz="1100" b="0">
                <a:solidFill>
                  <a:srgbClr val="161B26"/>
                </a:solidFill>
                <a:latin typeface="Arial"/>
              </a:rPr>
              <a:t>See where resources and jobs are, so travel decisions are visual.</a:t>
            </a:r>
          </a:p>
        </p:txBody>
      </p:sp>
      <p:sp>
        <p:nvSpPr>
          <p:cNvPr id="20" name="Rectangle 19"/>
          <p:cNvSpPr/>
          <p:nvPr/>
        </p:nvSpPr>
        <p:spPr>
          <a:xfrm>
            <a:off x="7178040" y="5389472"/>
            <a:ext cx="423367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15784" y="5389472"/>
            <a:ext cx="3813048" cy="737006"/>
          </a:xfrm>
          <a:prstGeom prst="rect">
            <a:avLst/>
          </a:prstGeom>
          <a:noFill/>
        </p:spPr>
        <p:txBody>
          <a:bodyPr wrap="square" anchor="ctr">
            <a:spAutoFit/>
          </a:bodyPr>
          <a:lstStyle/>
          <a:p>
            <a:pPr algn="l">
              <a:spcAft>
                <a:spcPts val="200"/>
              </a:spcAft>
            </a:pPr>
            <a:r>
              <a:rPr sz="1300" b="1">
                <a:solidFill>
                  <a:srgbClr val="1F6FEB"/>
                </a:solidFill>
                <a:latin typeface="Arial"/>
              </a:rPr>
              <a:t>Filters keep it manageable</a:t>
            </a:r>
          </a:p>
          <a:p>
            <a:pPr algn="l">
              <a:spcAft>
                <a:spcPts val="200"/>
              </a:spcAft>
            </a:pPr>
            <a:r>
              <a:rPr sz="1100" b="0">
                <a:solidFill>
                  <a:srgbClr val="161B26"/>
                </a:solidFill>
                <a:latin typeface="Arial"/>
              </a:rPr>
              <a:t>By territory, skill, resource type or booking status.</a:t>
            </a:r>
          </a:p>
        </p:txBody>
      </p:sp>
      <p:sp>
        <p:nvSpPr>
          <p:cNvPr id="23" name="TextBox 2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4" name="TextBox 2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MANUAL → ASSISTED → AUTOMATED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Three Ways to Schedule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1925726" cy="1051560"/>
          </a:xfrm>
          <a:prstGeom prst="rect">
            <a:avLst/>
          </a:prstGeom>
          <a:noFill/>
        </p:spPr>
        <p:txBody>
          <a:bodyPr wrap="square" anchor="ctr">
            <a:spAutoFit/>
          </a:bodyPr>
          <a:lstStyle/>
          <a:p>
            <a:pPr algn="l">
              <a:spcAft>
                <a:spcPts val="400"/>
              </a:spcAft>
            </a:pPr>
            <a:r>
              <a:rPr sz="1150" b="1">
                <a:solidFill>
                  <a:srgbClr val="FFFFFF"/>
                </a:solidFill>
                <a:latin typeface="Arial"/>
              </a:rPr>
              <a:t>Method</a:t>
            </a:r>
          </a:p>
        </p:txBody>
      </p:sp>
      <p:sp>
        <p:nvSpPr>
          <p:cNvPr id="9" name="Rectangle 8"/>
          <p:cNvSpPr/>
          <p:nvPr/>
        </p:nvSpPr>
        <p:spPr>
          <a:xfrm>
            <a:off x="2904134" y="1783080"/>
            <a:ext cx="3403031"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3006" y="1783080"/>
            <a:ext cx="3201863" cy="1051560"/>
          </a:xfrm>
          <a:prstGeom prst="rect">
            <a:avLst/>
          </a:prstGeom>
          <a:noFill/>
        </p:spPr>
        <p:txBody>
          <a:bodyPr wrap="square" anchor="ctr">
            <a:spAutoFit/>
          </a:bodyPr>
          <a:lstStyle/>
          <a:p>
            <a:pPr algn="l">
              <a:spcAft>
                <a:spcPts val="400"/>
              </a:spcAft>
            </a:pPr>
            <a:r>
              <a:rPr sz="1150" b="1">
                <a:solidFill>
                  <a:srgbClr val="FFFFFF"/>
                </a:solidFill>
                <a:latin typeface="Arial"/>
              </a:rPr>
              <a:t>How it works</a:t>
            </a:r>
          </a:p>
        </p:txBody>
      </p:sp>
      <p:sp>
        <p:nvSpPr>
          <p:cNvPr id="11" name="Rectangle 10"/>
          <p:cNvSpPr/>
          <p:nvPr/>
        </p:nvSpPr>
        <p:spPr>
          <a:xfrm>
            <a:off x="6307165" y="1783080"/>
            <a:ext cx="2552273"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6037" y="1783080"/>
            <a:ext cx="2351105" cy="1051560"/>
          </a:xfrm>
          <a:prstGeom prst="rect">
            <a:avLst/>
          </a:prstGeom>
          <a:noFill/>
        </p:spPr>
        <p:txBody>
          <a:bodyPr wrap="square" anchor="ctr">
            <a:spAutoFit/>
          </a:bodyPr>
          <a:lstStyle/>
          <a:p>
            <a:pPr algn="l">
              <a:spcAft>
                <a:spcPts val="400"/>
              </a:spcAft>
            </a:pPr>
            <a:r>
              <a:rPr sz="1150" b="1">
                <a:solidFill>
                  <a:srgbClr val="FFFFFF"/>
                </a:solidFill>
                <a:latin typeface="Arial"/>
              </a:rPr>
              <a:t>Best for</a:t>
            </a:r>
          </a:p>
        </p:txBody>
      </p:sp>
      <p:sp>
        <p:nvSpPr>
          <p:cNvPr id="13" name="Rectangle 12"/>
          <p:cNvSpPr/>
          <p:nvPr/>
        </p:nvSpPr>
        <p:spPr>
          <a:xfrm>
            <a:off x="8859438" y="1783080"/>
            <a:ext cx="2552273"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78310" y="1783080"/>
            <a:ext cx="2351105" cy="1051560"/>
          </a:xfrm>
          <a:prstGeom prst="rect">
            <a:avLst/>
          </a:prstGeom>
          <a:noFill/>
        </p:spPr>
        <p:txBody>
          <a:bodyPr wrap="square" anchor="ctr">
            <a:spAutoFit/>
          </a:bodyPr>
          <a:lstStyle/>
          <a:p>
            <a:pPr algn="l">
              <a:spcAft>
                <a:spcPts val="400"/>
              </a:spcAft>
            </a:pPr>
            <a:r>
              <a:rPr sz="1150" b="1">
                <a:solidFill>
                  <a:srgbClr val="FFFFFF"/>
                </a:solidFill>
                <a:latin typeface="Arial"/>
              </a:rPr>
              <a:t>Trade-off</a:t>
            </a:r>
          </a:p>
        </p:txBody>
      </p:sp>
      <p:sp>
        <p:nvSpPr>
          <p:cNvPr id="15" name="Rectangle 14"/>
          <p:cNvSpPr/>
          <p:nvPr/>
        </p:nvSpPr>
        <p:spPr>
          <a:xfrm>
            <a:off x="777240" y="2834640"/>
            <a:ext cx="2126894"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34640"/>
            <a:ext cx="1925726" cy="1051560"/>
          </a:xfrm>
          <a:prstGeom prst="rect">
            <a:avLst/>
          </a:prstGeom>
          <a:noFill/>
        </p:spPr>
        <p:txBody>
          <a:bodyPr wrap="square" anchor="ctr">
            <a:spAutoFit/>
          </a:bodyPr>
          <a:lstStyle/>
          <a:p>
            <a:pPr algn="l">
              <a:spcAft>
                <a:spcPts val="400"/>
              </a:spcAft>
            </a:pPr>
            <a:r>
              <a:rPr sz="1050" b="1">
                <a:solidFill>
                  <a:srgbClr val="161B26"/>
                </a:solidFill>
                <a:latin typeface="Arial"/>
              </a:rPr>
              <a:t>Manual</a:t>
            </a:r>
          </a:p>
        </p:txBody>
      </p:sp>
      <p:sp>
        <p:nvSpPr>
          <p:cNvPr id="17" name="Rectangle 16"/>
          <p:cNvSpPr/>
          <p:nvPr/>
        </p:nvSpPr>
        <p:spPr>
          <a:xfrm>
            <a:off x="2904134" y="2834640"/>
            <a:ext cx="3403031"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23006" y="2834640"/>
            <a:ext cx="3201863" cy="1051560"/>
          </a:xfrm>
          <a:prstGeom prst="rect">
            <a:avLst/>
          </a:prstGeom>
          <a:noFill/>
        </p:spPr>
        <p:txBody>
          <a:bodyPr wrap="square" anchor="ctr">
            <a:spAutoFit/>
          </a:bodyPr>
          <a:lstStyle/>
          <a:p>
            <a:pPr algn="l">
              <a:spcAft>
                <a:spcPts val="400"/>
              </a:spcAft>
            </a:pPr>
            <a:r>
              <a:rPr sz="1050" b="0">
                <a:solidFill>
                  <a:srgbClr val="161B26"/>
                </a:solidFill>
                <a:latin typeface="Arial"/>
              </a:rPr>
              <a:t>Drag the requirement onto a resource's row on the board</a:t>
            </a:r>
          </a:p>
        </p:txBody>
      </p:sp>
      <p:sp>
        <p:nvSpPr>
          <p:cNvPr id="19" name="Rectangle 18"/>
          <p:cNvSpPr/>
          <p:nvPr/>
        </p:nvSpPr>
        <p:spPr>
          <a:xfrm>
            <a:off x="6307165" y="2834640"/>
            <a:ext cx="255227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6037" y="2834640"/>
            <a:ext cx="2351105" cy="1051560"/>
          </a:xfrm>
          <a:prstGeom prst="rect">
            <a:avLst/>
          </a:prstGeom>
          <a:noFill/>
        </p:spPr>
        <p:txBody>
          <a:bodyPr wrap="square" anchor="ctr">
            <a:spAutoFit/>
          </a:bodyPr>
          <a:lstStyle/>
          <a:p>
            <a:pPr algn="l">
              <a:spcAft>
                <a:spcPts val="400"/>
              </a:spcAft>
            </a:pPr>
            <a:r>
              <a:rPr sz="1050" b="0">
                <a:solidFill>
                  <a:srgbClr val="161B26"/>
                </a:solidFill>
                <a:latin typeface="Arial"/>
              </a:rPr>
              <a:t>Urgent jobs, known preferences, small teams</a:t>
            </a:r>
          </a:p>
        </p:txBody>
      </p:sp>
      <p:sp>
        <p:nvSpPr>
          <p:cNvPr id="21" name="Rectangle 20"/>
          <p:cNvSpPr/>
          <p:nvPr/>
        </p:nvSpPr>
        <p:spPr>
          <a:xfrm>
            <a:off x="8859438" y="2834640"/>
            <a:ext cx="255227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78310" y="2834640"/>
            <a:ext cx="2351105" cy="1051560"/>
          </a:xfrm>
          <a:prstGeom prst="rect">
            <a:avLst/>
          </a:prstGeom>
          <a:noFill/>
        </p:spPr>
        <p:txBody>
          <a:bodyPr wrap="square" anchor="ctr">
            <a:spAutoFit/>
          </a:bodyPr>
          <a:lstStyle/>
          <a:p>
            <a:pPr algn="l">
              <a:spcAft>
                <a:spcPts val="400"/>
              </a:spcAft>
            </a:pPr>
            <a:r>
              <a:rPr sz="1050" b="0">
                <a:solidFill>
                  <a:srgbClr val="161B26"/>
                </a:solidFill>
                <a:latin typeface="Arial"/>
              </a:rPr>
              <a:t>Bypasses constraint checking — you can double-book</a:t>
            </a:r>
          </a:p>
        </p:txBody>
      </p:sp>
      <p:sp>
        <p:nvSpPr>
          <p:cNvPr id="23" name="Rectangle 22"/>
          <p:cNvSpPr/>
          <p:nvPr/>
        </p:nvSpPr>
        <p:spPr>
          <a:xfrm>
            <a:off x="777240" y="3886200"/>
            <a:ext cx="2126894"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886200"/>
            <a:ext cx="1925726" cy="1051560"/>
          </a:xfrm>
          <a:prstGeom prst="rect">
            <a:avLst/>
          </a:prstGeom>
          <a:noFill/>
        </p:spPr>
        <p:txBody>
          <a:bodyPr wrap="square" anchor="ctr">
            <a:spAutoFit/>
          </a:bodyPr>
          <a:lstStyle/>
          <a:p>
            <a:pPr algn="l">
              <a:spcAft>
                <a:spcPts val="400"/>
              </a:spcAft>
            </a:pPr>
            <a:r>
              <a:rPr sz="1050" b="1">
                <a:solidFill>
                  <a:srgbClr val="161B26"/>
                </a:solidFill>
                <a:latin typeface="Arial"/>
              </a:rPr>
              <a:t>Schedule assistant</a:t>
            </a:r>
          </a:p>
        </p:txBody>
      </p:sp>
      <p:sp>
        <p:nvSpPr>
          <p:cNvPr id="25" name="Rectangle 24"/>
          <p:cNvSpPr/>
          <p:nvPr/>
        </p:nvSpPr>
        <p:spPr>
          <a:xfrm>
            <a:off x="2904134" y="3886200"/>
            <a:ext cx="3403031"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23006" y="3886200"/>
            <a:ext cx="3201863" cy="1051560"/>
          </a:xfrm>
          <a:prstGeom prst="rect">
            <a:avLst/>
          </a:prstGeom>
          <a:noFill/>
        </p:spPr>
        <p:txBody>
          <a:bodyPr wrap="square" anchor="ctr">
            <a:spAutoFit/>
          </a:bodyPr>
          <a:lstStyle/>
          <a:p>
            <a:pPr algn="l">
              <a:spcAft>
                <a:spcPts val="400"/>
              </a:spcAft>
            </a:pPr>
            <a:r>
              <a:rPr sz="1050" b="0">
                <a:solidFill>
                  <a:srgbClr val="161B26"/>
                </a:solidFill>
                <a:latin typeface="Arial"/>
              </a:rPr>
              <a:t>Filters by skill, territory, availability and proximity, then ranks candidates</a:t>
            </a:r>
          </a:p>
        </p:txBody>
      </p:sp>
      <p:sp>
        <p:nvSpPr>
          <p:cNvPr id="27" name="Rectangle 26"/>
          <p:cNvSpPr/>
          <p:nvPr/>
        </p:nvSpPr>
        <p:spPr>
          <a:xfrm>
            <a:off x="6307165" y="3886200"/>
            <a:ext cx="2552273"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6037" y="3886200"/>
            <a:ext cx="2351105" cy="1051560"/>
          </a:xfrm>
          <a:prstGeom prst="rect">
            <a:avLst/>
          </a:prstGeom>
          <a:noFill/>
        </p:spPr>
        <p:txBody>
          <a:bodyPr wrap="square" anchor="ctr">
            <a:spAutoFit/>
          </a:bodyPr>
          <a:lstStyle/>
          <a:p>
            <a:pPr algn="l">
              <a:spcAft>
                <a:spcPts val="400"/>
              </a:spcAft>
            </a:pPr>
            <a:r>
              <a:rPr sz="1050" b="0">
                <a:solidFill>
                  <a:srgbClr val="161B26"/>
                </a:solidFill>
                <a:latin typeface="Arial"/>
              </a:rPr>
              <a:t>Most day-to-day scheduling</a:t>
            </a:r>
          </a:p>
        </p:txBody>
      </p:sp>
      <p:sp>
        <p:nvSpPr>
          <p:cNvPr id="29" name="Rectangle 28"/>
          <p:cNvSpPr/>
          <p:nvPr/>
        </p:nvSpPr>
        <p:spPr>
          <a:xfrm>
            <a:off x="8859438" y="3886200"/>
            <a:ext cx="2552273"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78310" y="3886200"/>
            <a:ext cx="2351105" cy="1051560"/>
          </a:xfrm>
          <a:prstGeom prst="rect">
            <a:avLst/>
          </a:prstGeom>
          <a:noFill/>
        </p:spPr>
        <p:txBody>
          <a:bodyPr wrap="square" anchor="ctr">
            <a:spAutoFit/>
          </a:bodyPr>
          <a:lstStyle/>
          <a:p>
            <a:pPr algn="l">
              <a:spcAft>
                <a:spcPts val="400"/>
              </a:spcAft>
            </a:pPr>
            <a:r>
              <a:rPr sz="1050" b="0">
                <a:solidFill>
                  <a:srgbClr val="161B26"/>
                </a:solidFill>
                <a:latin typeface="Arial"/>
              </a:rPr>
              <a:t>One booking at a time; still a human decision</a:t>
            </a:r>
          </a:p>
        </p:txBody>
      </p:sp>
      <p:sp>
        <p:nvSpPr>
          <p:cNvPr id="31" name="Rectangle 30"/>
          <p:cNvSpPr/>
          <p:nvPr/>
        </p:nvSpPr>
        <p:spPr>
          <a:xfrm>
            <a:off x="777240" y="4937760"/>
            <a:ext cx="2126894"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937760"/>
            <a:ext cx="1925726" cy="1051560"/>
          </a:xfrm>
          <a:prstGeom prst="rect">
            <a:avLst/>
          </a:prstGeom>
          <a:noFill/>
        </p:spPr>
        <p:txBody>
          <a:bodyPr wrap="square" anchor="ctr">
            <a:spAutoFit/>
          </a:bodyPr>
          <a:lstStyle/>
          <a:p>
            <a:pPr algn="l">
              <a:spcAft>
                <a:spcPts val="400"/>
              </a:spcAft>
            </a:pPr>
            <a:r>
              <a:rPr sz="1050" b="1">
                <a:solidFill>
                  <a:srgbClr val="161B26"/>
                </a:solidFill>
                <a:latin typeface="Arial"/>
              </a:rPr>
              <a:t>Resource Scheduling Optimization</a:t>
            </a:r>
          </a:p>
        </p:txBody>
      </p:sp>
      <p:sp>
        <p:nvSpPr>
          <p:cNvPr id="33" name="Rectangle 32"/>
          <p:cNvSpPr/>
          <p:nvPr/>
        </p:nvSpPr>
        <p:spPr>
          <a:xfrm>
            <a:off x="2904134" y="4937760"/>
            <a:ext cx="3403031"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23006" y="4937760"/>
            <a:ext cx="3201863" cy="1051560"/>
          </a:xfrm>
          <a:prstGeom prst="rect">
            <a:avLst/>
          </a:prstGeom>
          <a:noFill/>
        </p:spPr>
        <p:txBody>
          <a:bodyPr wrap="square" anchor="ctr">
            <a:spAutoFit/>
          </a:bodyPr>
          <a:lstStyle/>
          <a:p>
            <a:pPr algn="l">
              <a:spcAft>
                <a:spcPts val="400"/>
              </a:spcAft>
            </a:pPr>
            <a:r>
              <a:rPr sz="1050" b="0">
                <a:solidFill>
                  <a:srgbClr val="161B26"/>
                </a:solidFill>
                <a:latin typeface="Arial"/>
              </a:rPr>
              <a:t>Runs on a schedule and optimises many bookings at once</a:t>
            </a:r>
          </a:p>
        </p:txBody>
      </p:sp>
      <p:sp>
        <p:nvSpPr>
          <p:cNvPr id="35" name="Rectangle 34"/>
          <p:cNvSpPr/>
          <p:nvPr/>
        </p:nvSpPr>
        <p:spPr>
          <a:xfrm>
            <a:off x="6307165" y="4937760"/>
            <a:ext cx="255227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6037" y="4937760"/>
            <a:ext cx="2351105" cy="1051560"/>
          </a:xfrm>
          <a:prstGeom prst="rect">
            <a:avLst/>
          </a:prstGeom>
          <a:noFill/>
        </p:spPr>
        <p:txBody>
          <a:bodyPr wrap="square" anchor="ctr">
            <a:spAutoFit/>
          </a:bodyPr>
          <a:lstStyle/>
          <a:p>
            <a:pPr algn="l">
              <a:spcAft>
                <a:spcPts val="400"/>
              </a:spcAft>
            </a:pPr>
            <a:r>
              <a:rPr sz="1050" b="0">
                <a:solidFill>
                  <a:srgbClr val="161B26"/>
                </a:solidFill>
                <a:latin typeface="Arial"/>
              </a:rPr>
              <a:t>Large teams, dense routes, changing conditions</a:t>
            </a:r>
          </a:p>
        </p:txBody>
      </p:sp>
      <p:sp>
        <p:nvSpPr>
          <p:cNvPr id="37" name="Rectangle 36"/>
          <p:cNvSpPr/>
          <p:nvPr/>
        </p:nvSpPr>
        <p:spPr>
          <a:xfrm>
            <a:off x="8859438" y="4937760"/>
            <a:ext cx="2552273" cy="10515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78310" y="4937760"/>
            <a:ext cx="2351105" cy="1051560"/>
          </a:xfrm>
          <a:prstGeom prst="rect">
            <a:avLst/>
          </a:prstGeom>
          <a:noFill/>
        </p:spPr>
        <p:txBody>
          <a:bodyPr wrap="square" anchor="ctr">
            <a:spAutoFit/>
          </a:bodyPr>
          <a:lstStyle/>
          <a:p>
            <a:pPr algn="l">
              <a:spcAft>
                <a:spcPts val="400"/>
              </a:spcAft>
            </a:pPr>
            <a:r>
              <a:rPr sz="1050" b="0">
                <a:solidFill>
                  <a:srgbClr val="161B26"/>
                </a:solidFill>
                <a:latin typeface="Arial"/>
              </a:rPr>
              <a:t>Extra licence; needs well-maintained data to trust</a:t>
            </a:r>
          </a:p>
        </p:txBody>
      </p:sp>
      <p:sp>
        <p:nvSpPr>
          <p:cNvPr id="39" name="TextBox 38"/>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Most organisations run all three: optimisation for the routine bulk, the assistant for exceptions, manual for emergencies.</a:t>
            </a:r>
          </a:p>
        </p:txBody>
      </p:sp>
      <p:sp>
        <p:nvSpPr>
          <p:cNvPr id="40" name="TextBox 3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1" name="TextBox 4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THREE MOVES AND WHEN TO USE THEM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Dispatcher Moves When Plans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74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Move</a:t>
            </a:r>
          </a:p>
          <a:p>
            <a:pPr algn="l">
              <a:spcAft>
                <a:spcPts val="300"/>
              </a:spcAft>
            </a:pPr>
            <a:r>
              <a:rPr sz="1050" b="0">
                <a:solidFill>
                  <a:srgbClr val="5B6372"/>
                </a:solidFill>
                <a:latin typeface="Arial"/>
              </a:rPr>
              <a:t>Drag the booking to a different time or day — same resource, new slot.</a:t>
            </a:r>
          </a:p>
        </p:txBody>
      </p:sp>
      <p:sp>
        <p:nvSpPr>
          <p:cNvPr id="12" name="Rectangle 11"/>
          <p:cNvSpPr/>
          <p:nvPr/>
        </p:nvSpPr>
        <p:spPr>
          <a:xfrm>
            <a:off x="4407408"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783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45152" y="2574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340096"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Substitute Resource</a:t>
            </a:r>
          </a:p>
          <a:p>
            <a:pPr algn="l">
              <a:spcAft>
                <a:spcPts val="300"/>
              </a:spcAft>
            </a:pPr>
            <a:r>
              <a:rPr sz="1050" b="0">
                <a:solidFill>
                  <a:srgbClr val="5B6372"/>
                </a:solidFill>
                <a:latin typeface="Arial"/>
              </a:rPr>
              <a:t>Find Substitution ranks other qualified resources and transfers the booking.</a:t>
            </a:r>
          </a:p>
        </p:txBody>
      </p:sp>
      <p:sp>
        <p:nvSpPr>
          <p:cNvPr id="17" name="Rectangle 16"/>
          <p:cNvSpPr/>
          <p:nvPr/>
        </p:nvSpPr>
        <p:spPr>
          <a:xfrm>
            <a:off x="8037576" y="1783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37576" y="1783080"/>
            <a:ext cx="91440" cy="2084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5320" y="2574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8970264" y="1892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Rebook</a:t>
            </a:r>
          </a:p>
          <a:p>
            <a:pPr algn="l">
              <a:spcAft>
                <a:spcPts val="300"/>
              </a:spcAft>
            </a:pPr>
            <a:r>
              <a:rPr sz="1050" b="0">
                <a:solidFill>
                  <a:srgbClr val="5B6372"/>
                </a:solidFill>
                <a:latin typeface="Arial"/>
              </a:rPr>
              <a:t>Send the requirement back through the schedule assistant for a fresh slot.</a:t>
            </a:r>
          </a:p>
        </p:txBody>
      </p:sp>
      <p:sp>
        <p:nvSpPr>
          <p:cNvPr id="22" name="Rectangle 21"/>
          <p:cNvSpPr/>
          <p:nvPr/>
        </p:nvSpPr>
        <p:spPr>
          <a:xfrm>
            <a:off x="777240"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69080"/>
            <a:ext cx="91440" cy="2084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860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Technician sick?</a:t>
            </a:r>
          </a:p>
          <a:p>
            <a:pPr algn="l">
              <a:spcAft>
                <a:spcPts val="300"/>
              </a:spcAft>
            </a:pPr>
            <a:r>
              <a:rPr sz="1050" b="0">
                <a:solidFill>
                  <a:srgbClr val="5B6372"/>
                </a:solidFill>
                <a:latin typeface="Arial"/>
              </a:rPr>
              <a:t>Substitute — the work still needs the same skills, just a different person.</a:t>
            </a:r>
          </a:p>
        </p:txBody>
      </p:sp>
      <p:sp>
        <p:nvSpPr>
          <p:cNvPr id="27" name="Rectangle 26"/>
          <p:cNvSpPr/>
          <p:nvPr/>
        </p:nvSpPr>
        <p:spPr>
          <a:xfrm>
            <a:off x="4407408"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07408" y="4069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45152" y="4860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45152"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5340096"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Customer wants later?</a:t>
            </a:r>
          </a:p>
          <a:p>
            <a:pPr algn="l">
              <a:spcAft>
                <a:spcPts val="300"/>
              </a:spcAft>
            </a:pPr>
            <a:r>
              <a:rPr sz="1050" b="0">
                <a:solidFill>
                  <a:srgbClr val="5B6372"/>
                </a:solidFill>
                <a:latin typeface="Arial"/>
              </a:rPr>
              <a:t>Move — the resource is fine, only the time changes.</a:t>
            </a:r>
          </a:p>
        </p:txBody>
      </p:sp>
      <p:sp>
        <p:nvSpPr>
          <p:cNvPr id="32" name="Rectangle 31"/>
          <p:cNvSpPr/>
          <p:nvPr/>
        </p:nvSpPr>
        <p:spPr>
          <a:xfrm>
            <a:off x="8037576" y="4069080"/>
            <a:ext cx="3374136"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37576" y="4069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75320" y="4860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8970264" y="4178808"/>
            <a:ext cx="2221992" cy="1920240"/>
          </a:xfrm>
          <a:prstGeom prst="rect">
            <a:avLst/>
          </a:prstGeom>
          <a:noFill/>
        </p:spPr>
        <p:txBody>
          <a:bodyPr wrap="square" anchor="ctr">
            <a:spAutoFit/>
          </a:bodyPr>
          <a:lstStyle/>
          <a:p>
            <a:pPr algn="l">
              <a:spcAft>
                <a:spcPts val="300"/>
              </a:spcAft>
            </a:pPr>
            <a:r>
              <a:rPr sz="1400" b="1">
                <a:solidFill>
                  <a:srgbClr val="161B26"/>
                </a:solidFill>
                <a:latin typeface="Arial"/>
              </a:rPr>
              <a:t>Emergency job?</a:t>
            </a:r>
          </a:p>
          <a:p>
            <a:pPr algn="l">
              <a:spcAft>
                <a:spcPts val="300"/>
              </a:spcAft>
            </a:pPr>
            <a:r>
              <a:rPr sz="1050" b="0">
                <a:solidFill>
                  <a:srgbClr val="5B6372"/>
                </a:solidFill>
                <a:latin typeface="Arial"/>
              </a:rPr>
              <a:t>Rebook the displaced routine work, then schedule the emergency.</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TRACKING THE EQUIPMENT OVER ITS LIFE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Customer Assets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See every asset per customer</a:t>
            </a:r>
          </a:p>
          <a:p>
            <a:pPr algn="l">
              <a:spcAft>
                <a:spcPts val="300"/>
              </a:spcAft>
            </a:pPr>
            <a:r>
              <a:rPr sz="1100" b="0">
                <a:solidFill>
                  <a:srgbClr val="5B6372"/>
                </a:solidFill>
                <a:latin typeface="Arial"/>
              </a:rPr>
              <a:t>All the equipment they own, in one list on the account.</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Know where it is</a:t>
            </a:r>
          </a:p>
          <a:p>
            <a:pPr algn="l">
              <a:spcAft>
                <a:spcPts val="300"/>
              </a:spcAft>
            </a:pPr>
            <a:r>
              <a:rPr sz="1100" b="0">
                <a:solidFill>
                  <a:srgbClr val="5B6372"/>
                </a:solidFill>
                <a:latin typeface="Arial"/>
              </a:rPr>
              <a:t>Which site, which floor, which room — so the technician finds it.</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Track work against it</a:t>
            </a:r>
          </a:p>
          <a:p>
            <a:pPr algn="l">
              <a:spcAft>
                <a:spcPts val="300"/>
              </a:spcAft>
            </a:pPr>
            <a:r>
              <a:rPr sz="1100" b="0">
                <a:solidFill>
                  <a:srgbClr val="5B6372"/>
                </a:solidFill>
                <a:latin typeface="Arial"/>
              </a:rPr>
              <a:t>Every work order ever raised on THAT specific unit, by serial number.</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Build a hierarchy</a:t>
            </a:r>
          </a:p>
          <a:p>
            <a:pPr algn="l">
              <a:spcAft>
                <a:spcPts val="300"/>
              </a:spcAft>
            </a:pPr>
            <a:r>
              <a:rPr sz="1100" b="0">
                <a:solidFill>
                  <a:srgbClr val="5B6372"/>
                </a:solidFill>
                <a:latin typeface="Arial"/>
              </a:rPr>
              <a:t>A machine with its boiler, grinder and pump as child assets.</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Record the specifics</a:t>
            </a:r>
          </a:p>
          <a:p>
            <a:pPr algn="l">
              <a:spcAft>
                <a:spcPts val="300"/>
              </a:spcAft>
            </a:pPr>
            <a:r>
              <a:rPr sz="1100" b="0">
                <a:solidFill>
                  <a:srgbClr val="5B6372"/>
                </a:solidFill>
                <a:latin typeface="Arial"/>
              </a:rPr>
              <a:t>Model, serial number, install date, warranty end, service history.</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Inform the next visit</a:t>
            </a:r>
          </a:p>
          <a:p>
            <a:pPr algn="l">
              <a:spcAft>
                <a:spcPts val="300"/>
              </a:spcAft>
            </a:pPr>
            <a:r>
              <a:rPr sz="1100" b="0">
                <a:solidFill>
                  <a:srgbClr val="5B6372"/>
                </a:solidFill>
                <a:latin typeface="Arial"/>
              </a:rPr>
              <a:t>The technician arrives already knowing what was done last time and why.</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FROM REACTIVE TO PREDICTIVE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Connected Field Service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_loop.png"/>
          <p:cNvPicPr>
            <a:picLocks noChangeAspect="1"/>
          </p:cNvPicPr>
          <p:nvPr/>
        </p:nvPicPr>
        <p:blipFill>
          <a:blip r:embed="rId2"/>
          <a:stretch>
            <a:fillRect/>
          </a:stretch>
        </p:blipFill>
        <p:spPr>
          <a:xfrm>
            <a:off x="777240" y="2599344"/>
            <a:ext cx="6035040" cy="2710871"/>
          </a:xfrm>
          <a:prstGeom prst="rect">
            <a:avLst/>
          </a:prstGeom>
        </p:spPr>
      </p:pic>
      <p:sp>
        <p:nvSpPr>
          <p:cNvPr id="8" name="Rectangle 7"/>
          <p:cNvSpPr/>
          <p:nvPr/>
        </p:nvSpPr>
        <p:spPr>
          <a:xfrm>
            <a:off x="7086600" y="1783080"/>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86600" y="1783080"/>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24344" y="1783080"/>
            <a:ext cx="3904488" cy="737006"/>
          </a:xfrm>
          <a:prstGeom prst="rect">
            <a:avLst/>
          </a:prstGeom>
          <a:noFill/>
        </p:spPr>
        <p:txBody>
          <a:bodyPr wrap="square" anchor="ctr">
            <a:spAutoFit/>
          </a:bodyPr>
          <a:lstStyle/>
          <a:p>
            <a:pPr algn="l">
              <a:spcAft>
                <a:spcPts val="200"/>
              </a:spcAft>
            </a:pPr>
            <a:r>
              <a:rPr sz="1300" b="1">
                <a:solidFill>
                  <a:srgbClr val="1F6FEB"/>
                </a:solidFill>
                <a:latin typeface="Arial"/>
              </a:rPr>
              <a:t>Device on the asset</a:t>
            </a:r>
          </a:p>
          <a:p>
            <a:pPr algn="l">
              <a:spcAft>
                <a:spcPts val="200"/>
              </a:spcAft>
            </a:pPr>
            <a:r>
              <a:rPr sz="1100" b="0">
                <a:solidFill>
                  <a:srgbClr val="161B26"/>
                </a:solidFill>
                <a:latin typeface="Arial"/>
              </a:rPr>
              <a:t>An IoT device registered in Azure IoT Hub and linked to the customer asset.</a:t>
            </a:r>
          </a:p>
        </p:txBody>
      </p:sp>
      <p:sp>
        <p:nvSpPr>
          <p:cNvPr id="11" name="Rectangle 10"/>
          <p:cNvSpPr/>
          <p:nvPr/>
        </p:nvSpPr>
        <p:spPr>
          <a:xfrm>
            <a:off x="7086600" y="2684678"/>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86600" y="2684678"/>
            <a:ext cx="82296" cy="7370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24344" y="2684678"/>
            <a:ext cx="3904488" cy="737006"/>
          </a:xfrm>
          <a:prstGeom prst="rect">
            <a:avLst/>
          </a:prstGeom>
          <a:noFill/>
        </p:spPr>
        <p:txBody>
          <a:bodyPr wrap="square" anchor="ctr">
            <a:spAutoFit/>
          </a:bodyPr>
          <a:lstStyle/>
          <a:p>
            <a:pPr algn="l">
              <a:spcAft>
                <a:spcPts val="200"/>
              </a:spcAft>
            </a:pPr>
            <a:r>
              <a:rPr sz="1300" b="1">
                <a:solidFill>
                  <a:srgbClr val="10B981"/>
                </a:solidFill>
                <a:latin typeface="Arial"/>
              </a:rPr>
              <a:t>Telemetry streams in</a:t>
            </a:r>
          </a:p>
          <a:p>
            <a:pPr algn="l">
              <a:spcAft>
                <a:spcPts val="200"/>
              </a:spcAft>
            </a:pPr>
            <a:r>
              <a:rPr sz="1100" b="0">
                <a:solidFill>
                  <a:srgbClr val="161B26"/>
                </a:solidFill>
                <a:latin typeface="Arial"/>
              </a:rPr>
              <a:t>Pressure, temperature, vibration, usage — continuously.</a:t>
            </a:r>
          </a:p>
        </p:txBody>
      </p:sp>
      <p:sp>
        <p:nvSpPr>
          <p:cNvPr id="14" name="Rectangle 13"/>
          <p:cNvSpPr/>
          <p:nvPr/>
        </p:nvSpPr>
        <p:spPr>
          <a:xfrm>
            <a:off x="7086600" y="3586276"/>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86600" y="3586276"/>
            <a:ext cx="82296" cy="7370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4344" y="3586276"/>
            <a:ext cx="3904488" cy="737006"/>
          </a:xfrm>
          <a:prstGeom prst="rect">
            <a:avLst/>
          </a:prstGeom>
          <a:noFill/>
        </p:spPr>
        <p:txBody>
          <a:bodyPr wrap="square" anchor="ctr">
            <a:spAutoFit/>
          </a:bodyPr>
          <a:lstStyle/>
          <a:p>
            <a:pPr algn="l">
              <a:spcAft>
                <a:spcPts val="200"/>
              </a:spcAft>
            </a:pPr>
            <a:r>
              <a:rPr sz="1300" b="1">
                <a:solidFill>
                  <a:srgbClr val="7C3AED"/>
                </a:solidFill>
                <a:latin typeface="Arial"/>
              </a:rPr>
              <a:t>Rules raise alerts</a:t>
            </a:r>
          </a:p>
          <a:p>
            <a:pPr algn="l">
              <a:spcAft>
                <a:spcPts val="200"/>
              </a:spcAft>
            </a:pPr>
            <a:r>
              <a:rPr sz="1100" b="0">
                <a:solidFill>
                  <a:srgbClr val="161B26"/>
                </a:solidFill>
                <a:latin typeface="Arial"/>
              </a:rPr>
              <a:t>A breach creates an IoT Alert record in Dynamics 365.</a:t>
            </a:r>
          </a:p>
        </p:txBody>
      </p:sp>
      <p:sp>
        <p:nvSpPr>
          <p:cNvPr id="17" name="Rectangle 16"/>
          <p:cNvSpPr/>
          <p:nvPr/>
        </p:nvSpPr>
        <p:spPr>
          <a:xfrm>
            <a:off x="7086600" y="4487874"/>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86600" y="4487874"/>
            <a:ext cx="82296" cy="7370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24344" y="4487874"/>
            <a:ext cx="3904488" cy="737006"/>
          </a:xfrm>
          <a:prstGeom prst="rect">
            <a:avLst/>
          </a:prstGeom>
          <a:noFill/>
        </p:spPr>
        <p:txBody>
          <a:bodyPr wrap="square" anchor="ctr">
            <a:spAutoFit/>
          </a:bodyPr>
          <a:lstStyle/>
          <a:p>
            <a:pPr algn="l">
              <a:spcAft>
                <a:spcPts val="200"/>
              </a:spcAft>
            </a:pPr>
            <a:r>
              <a:rPr sz="1300" b="1">
                <a:solidFill>
                  <a:srgbClr val="F59E0B"/>
                </a:solidFill>
                <a:latin typeface="Arial"/>
              </a:rPr>
              <a:t>The alert creates work</a:t>
            </a:r>
          </a:p>
          <a:p>
            <a:pPr algn="l">
              <a:spcAft>
                <a:spcPts val="200"/>
              </a:spcAft>
            </a:pPr>
            <a:r>
              <a:rPr sz="1100" b="0">
                <a:solidFill>
                  <a:srgbClr val="161B26"/>
                </a:solidFill>
                <a:latin typeface="Arial"/>
              </a:rPr>
              <a:t>Automatically, or after a human triages it — a work order with the asset attached.</a:t>
            </a:r>
          </a:p>
        </p:txBody>
      </p:sp>
      <p:sp>
        <p:nvSpPr>
          <p:cNvPr id="20" name="Rectangle 19"/>
          <p:cNvSpPr/>
          <p:nvPr/>
        </p:nvSpPr>
        <p:spPr>
          <a:xfrm>
            <a:off x="7086600" y="5389472"/>
            <a:ext cx="4325112" cy="7370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86600" y="5389472"/>
            <a:ext cx="82296" cy="73700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24344" y="5389472"/>
            <a:ext cx="3904488" cy="737006"/>
          </a:xfrm>
          <a:prstGeom prst="rect">
            <a:avLst/>
          </a:prstGeom>
          <a:noFill/>
        </p:spPr>
        <p:txBody>
          <a:bodyPr wrap="square" anchor="ctr">
            <a:spAutoFit/>
          </a:bodyPr>
          <a:lstStyle/>
          <a:p>
            <a:pPr algn="l">
              <a:spcAft>
                <a:spcPts val="200"/>
              </a:spcAft>
            </a:pPr>
            <a:r>
              <a:rPr sz="1300" b="1">
                <a:solidFill>
                  <a:srgbClr val="1F6FEB"/>
                </a:solidFill>
                <a:latin typeface="Arial"/>
              </a:rPr>
              <a:t>Or fix it remotely</a:t>
            </a:r>
          </a:p>
          <a:p>
            <a:pPr algn="l">
              <a:spcAft>
                <a:spcPts val="200"/>
              </a:spcAft>
            </a:pPr>
            <a:r>
              <a:rPr sz="1100" b="0">
                <a:solidFill>
                  <a:srgbClr val="161B26"/>
                </a:solidFill>
                <a:latin typeface="Arial"/>
              </a:rPr>
              <a:t>An IoT device command can reset the equipment without sending anyone.</a:t>
            </a:r>
          </a:p>
        </p:txBody>
      </p:sp>
      <p:sp>
        <p:nvSpPr>
          <p:cNvPr id="23" name="TextBox 22"/>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4" name="TextBox 23"/>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MOVING PARTS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Seven Connected Field Service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83080"/>
            <a:ext cx="2989173" cy="525780"/>
          </a:xfrm>
          <a:prstGeom prst="rect">
            <a:avLst/>
          </a:prstGeom>
          <a:noFill/>
        </p:spPr>
        <p:txBody>
          <a:bodyPr wrap="square" anchor="ctr">
            <a:spAutoFit/>
          </a:bodyPr>
          <a:lstStyle/>
          <a:p>
            <a:pPr algn="l">
              <a:spcAft>
                <a:spcPts val="400"/>
              </a:spcAft>
            </a:pPr>
            <a:r>
              <a:rPr sz="1250" b="1">
                <a:solidFill>
                  <a:srgbClr val="FFFFFF"/>
                </a:solidFill>
                <a:latin typeface="Arial"/>
              </a:rPr>
              <a:t>Component</a:t>
            </a:r>
          </a:p>
        </p:txBody>
      </p:sp>
      <p:sp>
        <p:nvSpPr>
          <p:cNvPr id="9" name="Rectangle 8"/>
          <p:cNvSpPr/>
          <p:nvPr/>
        </p:nvSpPr>
        <p:spPr>
          <a:xfrm>
            <a:off x="3967581" y="1783080"/>
            <a:ext cx="7444130" cy="5257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86453" y="1783080"/>
            <a:ext cx="7242962" cy="525780"/>
          </a:xfrm>
          <a:prstGeom prst="rect">
            <a:avLst/>
          </a:prstGeom>
          <a:noFill/>
        </p:spPr>
        <p:txBody>
          <a:bodyPr wrap="square" anchor="ctr">
            <a:spAutoFit/>
          </a:bodyPr>
          <a:lstStyle/>
          <a:p>
            <a:pPr algn="l">
              <a:spcAft>
                <a:spcPts val="400"/>
              </a:spcAft>
            </a:pPr>
            <a:r>
              <a:rPr sz="1250" b="1">
                <a:solidFill>
                  <a:srgbClr val="FFFFFF"/>
                </a:solidFill>
                <a:latin typeface="Arial"/>
              </a:rPr>
              <a:t>What it is</a:t>
            </a:r>
          </a:p>
        </p:txBody>
      </p:sp>
      <p:sp>
        <p:nvSpPr>
          <p:cNvPr id="11" name="Rectangle 10"/>
          <p:cNvSpPr/>
          <p:nvPr/>
        </p:nvSpPr>
        <p:spPr>
          <a:xfrm>
            <a:off x="777240" y="2308860"/>
            <a:ext cx="319034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08860"/>
            <a:ext cx="2989173" cy="525780"/>
          </a:xfrm>
          <a:prstGeom prst="rect">
            <a:avLst/>
          </a:prstGeom>
          <a:noFill/>
        </p:spPr>
        <p:txBody>
          <a:bodyPr wrap="square" anchor="ctr">
            <a:spAutoFit/>
          </a:bodyPr>
          <a:lstStyle/>
          <a:p>
            <a:pPr algn="l">
              <a:spcAft>
                <a:spcPts val="400"/>
              </a:spcAft>
            </a:pPr>
            <a:r>
              <a:rPr sz="1150" b="1">
                <a:solidFill>
                  <a:srgbClr val="161B26"/>
                </a:solidFill>
                <a:latin typeface="Arial"/>
              </a:rPr>
              <a:t>Customer Asset</a:t>
            </a:r>
          </a:p>
        </p:txBody>
      </p:sp>
      <p:sp>
        <p:nvSpPr>
          <p:cNvPr id="13" name="Rectangle 12"/>
          <p:cNvSpPr/>
          <p:nvPr/>
        </p:nvSpPr>
        <p:spPr>
          <a:xfrm>
            <a:off x="3967581" y="2308860"/>
            <a:ext cx="7444130"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86453" y="2308860"/>
            <a:ext cx="7242962" cy="525780"/>
          </a:xfrm>
          <a:prstGeom prst="rect">
            <a:avLst/>
          </a:prstGeom>
          <a:noFill/>
        </p:spPr>
        <p:txBody>
          <a:bodyPr wrap="square" anchor="ctr">
            <a:spAutoFit/>
          </a:bodyPr>
          <a:lstStyle/>
          <a:p>
            <a:pPr algn="l">
              <a:spcAft>
                <a:spcPts val="400"/>
              </a:spcAft>
            </a:pPr>
            <a:r>
              <a:rPr sz="1150" b="0">
                <a:solidFill>
                  <a:srgbClr val="161B26"/>
                </a:solidFill>
                <a:latin typeface="Arial"/>
              </a:rPr>
              <a:t>The specific piece of equipment the customer owns</a:t>
            </a:r>
          </a:p>
        </p:txBody>
      </p:sp>
      <p:sp>
        <p:nvSpPr>
          <p:cNvPr id="15" name="Rectangle 14"/>
          <p:cNvSpPr/>
          <p:nvPr/>
        </p:nvSpPr>
        <p:spPr>
          <a:xfrm>
            <a:off x="777240" y="2834640"/>
            <a:ext cx="319034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34640"/>
            <a:ext cx="2989173" cy="525780"/>
          </a:xfrm>
          <a:prstGeom prst="rect">
            <a:avLst/>
          </a:prstGeom>
          <a:noFill/>
        </p:spPr>
        <p:txBody>
          <a:bodyPr wrap="square" anchor="ctr">
            <a:spAutoFit/>
          </a:bodyPr>
          <a:lstStyle/>
          <a:p>
            <a:pPr algn="l">
              <a:spcAft>
                <a:spcPts val="400"/>
              </a:spcAft>
            </a:pPr>
            <a:r>
              <a:rPr sz="1150" b="1">
                <a:solidFill>
                  <a:srgbClr val="161B26"/>
                </a:solidFill>
                <a:latin typeface="Arial"/>
              </a:rPr>
              <a:t>Device Category</a:t>
            </a:r>
          </a:p>
        </p:txBody>
      </p:sp>
      <p:sp>
        <p:nvSpPr>
          <p:cNvPr id="17" name="Rectangle 16"/>
          <p:cNvSpPr/>
          <p:nvPr/>
        </p:nvSpPr>
        <p:spPr>
          <a:xfrm>
            <a:off x="3967581" y="2834640"/>
            <a:ext cx="7444130"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86453" y="2834640"/>
            <a:ext cx="7242962" cy="525780"/>
          </a:xfrm>
          <a:prstGeom prst="rect">
            <a:avLst/>
          </a:prstGeom>
          <a:noFill/>
        </p:spPr>
        <p:txBody>
          <a:bodyPr wrap="square" anchor="ctr">
            <a:spAutoFit/>
          </a:bodyPr>
          <a:lstStyle/>
          <a:p>
            <a:pPr algn="l">
              <a:spcAft>
                <a:spcPts val="400"/>
              </a:spcAft>
            </a:pPr>
            <a:r>
              <a:rPr sz="1150" b="0">
                <a:solidFill>
                  <a:srgbClr val="161B26"/>
                </a:solidFill>
                <a:latin typeface="Arial"/>
              </a:rPr>
              <a:t>Groups devices of the same kind so they share configuration</a:t>
            </a:r>
          </a:p>
        </p:txBody>
      </p:sp>
      <p:sp>
        <p:nvSpPr>
          <p:cNvPr id="19" name="Rectangle 18"/>
          <p:cNvSpPr/>
          <p:nvPr/>
        </p:nvSpPr>
        <p:spPr>
          <a:xfrm>
            <a:off x="777240" y="3360420"/>
            <a:ext cx="319034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360420"/>
            <a:ext cx="2989173" cy="525780"/>
          </a:xfrm>
          <a:prstGeom prst="rect">
            <a:avLst/>
          </a:prstGeom>
          <a:noFill/>
        </p:spPr>
        <p:txBody>
          <a:bodyPr wrap="square" anchor="ctr">
            <a:spAutoFit/>
          </a:bodyPr>
          <a:lstStyle/>
          <a:p>
            <a:pPr algn="l">
              <a:spcAft>
                <a:spcPts val="400"/>
              </a:spcAft>
            </a:pPr>
            <a:r>
              <a:rPr sz="1150" b="1">
                <a:solidFill>
                  <a:srgbClr val="161B26"/>
                </a:solidFill>
                <a:latin typeface="Arial"/>
              </a:rPr>
              <a:t>IoT Device</a:t>
            </a:r>
          </a:p>
        </p:txBody>
      </p:sp>
      <p:sp>
        <p:nvSpPr>
          <p:cNvPr id="21" name="Rectangle 20"/>
          <p:cNvSpPr/>
          <p:nvPr/>
        </p:nvSpPr>
        <p:spPr>
          <a:xfrm>
            <a:off x="3967581" y="3360420"/>
            <a:ext cx="7444130"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86453" y="3360420"/>
            <a:ext cx="7242962" cy="525780"/>
          </a:xfrm>
          <a:prstGeom prst="rect">
            <a:avLst/>
          </a:prstGeom>
          <a:noFill/>
        </p:spPr>
        <p:txBody>
          <a:bodyPr wrap="square" anchor="ctr">
            <a:spAutoFit/>
          </a:bodyPr>
          <a:lstStyle/>
          <a:p>
            <a:pPr algn="l">
              <a:spcAft>
                <a:spcPts val="400"/>
              </a:spcAft>
            </a:pPr>
            <a:r>
              <a:rPr sz="1150" b="0">
                <a:solidFill>
                  <a:srgbClr val="161B26"/>
                </a:solidFill>
                <a:latin typeface="Arial"/>
              </a:rPr>
              <a:t>The registered physical device that sends telemetry</a:t>
            </a:r>
          </a:p>
        </p:txBody>
      </p:sp>
      <p:sp>
        <p:nvSpPr>
          <p:cNvPr id="23" name="Rectangle 22"/>
          <p:cNvSpPr/>
          <p:nvPr/>
        </p:nvSpPr>
        <p:spPr>
          <a:xfrm>
            <a:off x="777240" y="3886200"/>
            <a:ext cx="319034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886200"/>
            <a:ext cx="2989173" cy="525780"/>
          </a:xfrm>
          <a:prstGeom prst="rect">
            <a:avLst/>
          </a:prstGeom>
          <a:noFill/>
        </p:spPr>
        <p:txBody>
          <a:bodyPr wrap="square" anchor="ctr">
            <a:spAutoFit/>
          </a:bodyPr>
          <a:lstStyle/>
          <a:p>
            <a:pPr algn="l">
              <a:spcAft>
                <a:spcPts val="400"/>
              </a:spcAft>
            </a:pPr>
            <a:r>
              <a:rPr sz="1150" b="1">
                <a:solidFill>
                  <a:srgbClr val="161B26"/>
                </a:solidFill>
                <a:latin typeface="Arial"/>
              </a:rPr>
              <a:t>IoT Alert</a:t>
            </a:r>
          </a:p>
        </p:txBody>
      </p:sp>
      <p:sp>
        <p:nvSpPr>
          <p:cNvPr id="25" name="Rectangle 24"/>
          <p:cNvSpPr/>
          <p:nvPr/>
        </p:nvSpPr>
        <p:spPr>
          <a:xfrm>
            <a:off x="3967581" y="3886200"/>
            <a:ext cx="7444130"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86453" y="3886200"/>
            <a:ext cx="7242962" cy="525780"/>
          </a:xfrm>
          <a:prstGeom prst="rect">
            <a:avLst/>
          </a:prstGeom>
          <a:noFill/>
        </p:spPr>
        <p:txBody>
          <a:bodyPr wrap="square" anchor="ctr">
            <a:spAutoFit/>
          </a:bodyPr>
          <a:lstStyle/>
          <a:p>
            <a:pPr algn="l">
              <a:spcAft>
                <a:spcPts val="400"/>
              </a:spcAft>
            </a:pPr>
            <a:r>
              <a:rPr sz="1150" b="0">
                <a:solidFill>
                  <a:srgbClr val="161B26"/>
                </a:solidFill>
                <a:latin typeface="Arial"/>
              </a:rPr>
              <a:t>A notification raised when telemetry breaches a rule</a:t>
            </a:r>
          </a:p>
        </p:txBody>
      </p:sp>
      <p:sp>
        <p:nvSpPr>
          <p:cNvPr id="27" name="Rectangle 26"/>
          <p:cNvSpPr/>
          <p:nvPr/>
        </p:nvSpPr>
        <p:spPr>
          <a:xfrm>
            <a:off x="777240" y="4411980"/>
            <a:ext cx="319034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4411980"/>
            <a:ext cx="2989173" cy="525780"/>
          </a:xfrm>
          <a:prstGeom prst="rect">
            <a:avLst/>
          </a:prstGeom>
          <a:noFill/>
        </p:spPr>
        <p:txBody>
          <a:bodyPr wrap="square" anchor="ctr">
            <a:spAutoFit/>
          </a:bodyPr>
          <a:lstStyle/>
          <a:p>
            <a:pPr algn="l">
              <a:spcAft>
                <a:spcPts val="400"/>
              </a:spcAft>
            </a:pPr>
            <a:r>
              <a:rPr sz="1150" b="1">
                <a:solidFill>
                  <a:srgbClr val="161B26"/>
                </a:solidFill>
                <a:latin typeface="Arial"/>
              </a:rPr>
              <a:t>IoT Device Command</a:t>
            </a:r>
          </a:p>
        </p:txBody>
      </p:sp>
      <p:sp>
        <p:nvSpPr>
          <p:cNvPr id="29" name="Rectangle 28"/>
          <p:cNvSpPr/>
          <p:nvPr/>
        </p:nvSpPr>
        <p:spPr>
          <a:xfrm>
            <a:off x="3967581" y="4411980"/>
            <a:ext cx="7444130"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86453" y="4411980"/>
            <a:ext cx="7242962" cy="525780"/>
          </a:xfrm>
          <a:prstGeom prst="rect">
            <a:avLst/>
          </a:prstGeom>
          <a:noFill/>
        </p:spPr>
        <p:txBody>
          <a:bodyPr wrap="square" anchor="ctr">
            <a:spAutoFit/>
          </a:bodyPr>
          <a:lstStyle/>
          <a:p>
            <a:pPr algn="l">
              <a:spcAft>
                <a:spcPts val="400"/>
              </a:spcAft>
            </a:pPr>
            <a:r>
              <a:rPr sz="1150" b="0">
                <a:solidFill>
                  <a:srgbClr val="161B26"/>
                </a:solidFill>
                <a:latin typeface="Arial"/>
              </a:rPr>
              <a:t>An instruction sent back down to the device</a:t>
            </a:r>
          </a:p>
        </p:txBody>
      </p:sp>
      <p:sp>
        <p:nvSpPr>
          <p:cNvPr id="31" name="Rectangle 30"/>
          <p:cNvSpPr/>
          <p:nvPr/>
        </p:nvSpPr>
        <p:spPr>
          <a:xfrm>
            <a:off x="777240" y="4937760"/>
            <a:ext cx="3190341"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937760"/>
            <a:ext cx="2989173" cy="525780"/>
          </a:xfrm>
          <a:prstGeom prst="rect">
            <a:avLst/>
          </a:prstGeom>
          <a:noFill/>
        </p:spPr>
        <p:txBody>
          <a:bodyPr wrap="square" anchor="ctr">
            <a:spAutoFit/>
          </a:bodyPr>
          <a:lstStyle/>
          <a:p>
            <a:pPr algn="l">
              <a:spcAft>
                <a:spcPts val="400"/>
              </a:spcAft>
            </a:pPr>
            <a:r>
              <a:rPr sz="1150" b="1">
                <a:solidFill>
                  <a:srgbClr val="161B26"/>
                </a:solidFill>
                <a:latin typeface="Arial"/>
              </a:rPr>
              <a:t>Command Definition</a:t>
            </a:r>
          </a:p>
        </p:txBody>
      </p:sp>
      <p:sp>
        <p:nvSpPr>
          <p:cNvPr id="33" name="Rectangle 32"/>
          <p:cNvSpPr/>
          <p:nvPr/>
        </p:nvSpPr>
        <p:spPr>
          <a:xfrm>
            <a:off x="3967581" y="4937760"/>
            <a:ext cx="7444130" cy="5257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86453" y="4937760"/>
            <a:ext cx="7242962" cy="525780"/>
          </a:xfrm>
          <a:prstGeom prst="rect">
            <a:avLst/>
          </a:prstGeom>
          <a:noFill/>
        </p:spPr>
        <p:txBody>
          <a:bodyPr wrap="square" anchor="ctr">
            <a:spAutoFit/>
          </a:bodyPr>
          <a:lstStyle/>
          <a:p>
            <a:pPr algn="l">
              <a:spcAft>
                <a:spcPts val="400"/>
              </a:spcAft>
            </a:pPr>
            <a:r>
              <a:rPr sz="1150" b="0">
                <a:solidFill>
                  <a:srgbClr val="161B26"/>
                </a:solidFill>
                <a:latin typeface="Arial"/>
              </a:rPr>
              <a:t>The template describing an available command and its parameters</a:t>
            </a:r>
          </a:p>
        </p:txBody>
      </p:sp>
      <p:sp>
        <p:nvSpPr>
          <p:cNvPr id="35" name="Rectangle 34"/>
          <p:cNvSpPr/>
          <p:nvPr/>
        </p:nvSpPr>
        <p:spPr>
          <a:xfrm>
            <a:off x="777240" y="5463540"/>
            <a:ext cx="3190341"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5463540"/>
            <a:ext cx="2989173" cy="525780"/>
          </a:xfrm>
          <a:prstGeom prst="rect">
            <a:avLst/>
          </a:prstGeom>
          <a:noFill/>
        </p:spPr>
        <p:txBody>
          <a:bodyPr wrap="square" anchor="ctr">
            <a:spAutoFit/>
          </a:bodyPr>
          <a:lstStyle/>
          <a:p>
            <a:pPr algn="l">
              <a:spcAft>
                <a:spcPts val="400"/>
              </a:spcAft>
            </a:pPr>
            <a:r>
              <a:rPr sz="1150" b="1">
                <a:solidFill>
                  <a:srgbClr val="161B26"/>
                </a:solidFill>
                <a:latin typeface="Arial"/>
              </a:rPr>
              <a:t>Property Definition</a:t>
            </a:r>
          </a:p>
        </p:txBody>
      </p:sp>
      <p:sp>
        <p:nvSpPr>
          <p:cNvPr id="37" name="Rectangle 36"/>
          <p:cNvSpPr/>
          <p:nvPr/>
        </p:nvSpPr>
        <p:spPr>
          <a:xfrm>
            <a:off x="3967581" y="5463540"/>
            <a:ext cx="7444130" cy="5257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86453" y="5463540"/>
            <a:ext cx="7242962" cy="525780"/>
          </a:xfrm>
          <a:prstGeom prst="rect">
            <a:avLst/>
          </a:prstGeom>
          <a:noFill/>
        </p:spPr>
        <p:txBody>
          <a:bodyPr wrap="square" anchor="ctr">
            <a:spAutoFit/>
          </a:bodyPr>
          <a:lstStyle/>
          <a:p>
            <a:pPr algn="l">
              <a:spcAft>
                <a:spcPts val="400"/>
              </a:spcAft>
            </a:pPr>
            <a:r>
              <a:rPr sz="1150" b="0">
                <a:solidFill>
                  <a:srgbClr val="161B26"/>
                </a:solidFill>
                <a:latin typeface="Arial"/>
              </a:rPr>
              <a:t>The telemetry properties a device reports and their units</a:t>
            </a:r>
          </a:p>
        </p:txBody>
      </p:sp>
      <p:sp>
        <p:nvSpPr>
          <p:cNvPr id="39" name="TextBox 38"/>
          <p:cNvSpPr txBox="1"/>
          <p:nvPr/>
        </p:nvSpPr>
        <p:spPr>
          <a:xfrm>
            <a:off x="777240" y="6035040"/>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The business case: reduce downtime, diagnose before the customer notices, and avoid the truck roll entirely when a remote command will do.</a:t>
            </a:r>
          </a:p>
        </p:txBody>
      </p:sp>
      <p:sp>
        <p:nvSpPr>
          <p:cNvPr id="40" name="TextBox 3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1" name="TextBox 4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10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Lab 10 — Schedule Resources, Manage Assets and Connect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250" b="1">
                <a:solidFill>
                  <a:srgbClr val="FFFFFF"/>
                </a:solidFill>
                <a:latin typeface="Arial"/>
              </a:rPr>
              <a:t>LAB 10  ·  55 MIN</a:t>
            </a:r>
          </a:p>
        </p:txBody>
      </p:sp>
      <p:sp>
        <p:nvSpPr>
          <p:cNvPr id="9" name="TextBox 8"/>
          <p:cNvSpPr txBox="1"/>
          <p:nvPr/>
        </p:nvSpPr>
        <p:spPr>
          <a:xfrm>
            <a:off x="777240" y="1737360"/>
            <a:ext cx="10698480" cy="1097280"/>
          </a:xfrm>
          <a:prstGeom prst="rect">
            <a:avLst/>
          </a:prstGeom>
          <a:noFill/>
        </p:spPr>
        <p:txBody>
          <a:bodyPr wrap="square" anchor="t">
            <a:spAutoFit/>
          </a:bodyPr>
          <a:lstStyle/>
          <a:p>
            <a:pPr algn="l">
              <a:spcAft>
                <a:spcPts val="400"/>
              </a:spcAft>
            </a:pPr>
            <a:r>
              <a:rPr sz="1350" b="0">
                <a:solidFill>
                  <a:srgbClr val="161B26"/>
                </a:solidFill>
                <a:latin typeface="Arial"/>
              </a:rPr>
              <a:t>The work order from Lab 9 must now be scheduled, and the customer's equipment tracked over its life. You book the work with the schedule assistant, work the schedule board as a dispatcher (rebook, substitute, move), build the customer asset hierarchy with its service history, and register an IoT device so an alert can raise a work order automatically. This completes LO3, LO4 and LO5.</a:t>
            </a:r>
          </a:p>
        </p:txBody>
      </p:sp>
      <p:sp>
        <p:nvSpPr>
          <p:cNvPr id="10" name="Rectangle 9"/>
          <p:cNvSpPr/>
          <p:nvPr/>
        </p:nvSpPr>
        <p:spPr>
          <a:xfrm>
            <a:off x="77724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0601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0601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87782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Book the work order with the schedule assistant</a:t>
            </a:r>
          </a:p>
        </p:txBody>
      </p:sp>
      <p:sp>
        <p:nvSpPr>
          <p:cNvPr id="15" name="TextBox 14"/>
          <p:cNvSpPr txBox="1"/>
          <p:nvPr/>
        </p:nvSpPr>
        <p:spPr>
          <a:xfrm>
            <a:off x="268284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16" name="Rectangle 15"/>
          <p:cNvSpPr/>
          <p:nvPr/>
        </p:nvSpPr>
        <p:spPr>
          <a:xfrm>
            <a:off x="294802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4802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7680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680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20" name="TextBox 19"/>
          <p:cNvSpPr txBox="1"/>
          <p:nvPr/>
        </p:nvSpPr>
        <p:spPr>
          <a:xfrm>
            <a:off x="304860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Work the schedule board as a dispatcher</a:t>
            </a:r>
          </a:p>
        </p:txBody>
      </p:sp>
      <p:sp>
        <p:nvSpPr>
          <p:cNvPr id="21" name="TextBox 20"/>
          <p:cNvSpPr txBox="1"/>
          <p:nvPr/>
        </p:nvSpPr>
        <p:spPr>
          <a:xfrm>
            <a:off x="485363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2" name="Rectangle 21"/>
          <p:cNvSpPr/>
          <p:nvPr/>
        </p:nvSpPr>
        <p:spPr>
          <a:xfrm>
            <a:off x="511881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1881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758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758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6" name="TextBox 25"/>
          <p:cNvSpPr txBox="1"/>
          <p:nvPr/>
        </p:nvSpPr>
        <p:spPr>
          <a:xfrm>
            <a:off x="521939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Rebook, substitute and move bookings</a:t>
            </a:r>
          </a:p>
        </p:txBody>
      </p:sp>
      <p:sp>
        <p:nvSpPr>
          <p:cNvPr id="27" name="TextBox 26"/>
          <p:cNvSpPr txBox="1"/>
          <p:nvPr/>
        </p:nvSpPr>
        <p:spPr>
          <a:xfrm>
            <a:off x="7024419"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28" name="Rectangle 27"/>
          <p:cNvSpPr/>
          <p:nvPr/>
        </p:nvSpPr>
        <p:spPr>
          <a:xfrm>
            <a:off x="7289595"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89595"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8371"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8371"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32" name="TextBox 31"/>
          <p:cNvSpPr txBox="1"/>
          <p:nvPr/>
        </p:nvSpPr>
        <p:spPr>
          <a:xfrm>
            <a:off x="7390179"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Build the customer asset hierarchy and history</a:t>
            </a:r>
          </a:p>
        </p:txBody>
      </p:sp>
      <p:sp>
        <p:nvSpPr>
          <p:cNvPr id="33" name="TextBox 32"/>
          <p:cNvSpPr txBox="1"/>
          <p:nvPr/>
        </p:nvSpPr>
        <p:spPr>
          <a:xfrm>
            <a:off x="9195204" y="3630168"/>
            <a:ext cx="310896" cy="457200"/>
          </a:xfrm>
          <a:prstGeom prst="rect">
            <a:avLst/>
          </a:prstGeom>
          <a:noFill/>
        </p:spPr>
        <p:txBody>
          <a:bodyPr wrap="square" anchor="ctr">
            <a:spAutoFit/>
          </a:bodyPr>
          <a:lstStyle/>
          <a:p>
            <a:pPr algn="ctr">
              <a:spcAft>
                <a:spcPts val="400"/>
              </a:spcAft>
            </a:pPr>
            <a:r>
              <a:rPr sz="1150" b="1">
                <a:solidFill>
                  <a:srgbClr val="10B981"/>
                </a:solidFill>
                <a:latin typeface="Arial"/>
              </a:rPr>
              <a:t>▶</a:t>
            </a:r>
          </a:p>
        </p:txBody>
      </p:sp>
      <p:sp>
        <p:nvSpPr>
          <p:cNvPr id="34" name="Rectangle 33"/>
          <p:cNvSpPr/>
          <p:nvPr/>
        </p:nvSpPr>
        <p:spPr>
          <a:xfrm>
            <a:off x="9460380" y="2999232"/>
            <a:ext cx="1951329" cy="1737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60380" y="2999232"/>
            <a:ext cx="195132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9156" y="320040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9156" y="3200400"/>
            <a:ext cx="493776" cy="493776"/>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8" name="TextBox 37"/>
          <p:cNvSpPr txBox="1"/>
          <p:nvPr/>
        </p:nvSpPr>
        <p:spPr>
          <a:xfrm>
            <a:off x="9560964" y="3822192"/>
            <a:ext cx="1750161" cy="822960"/>
          </a:xfrm>
          <a:prstGeom prst="rect">
            <a:avLst/>
          </a:prstGeom>
          <a:noFill/>
        </p:spPr>
        <p:txBody>
          <a:bodyPr wrap="square" anchor="t">
            <a:spAutoFit/>
          </a:bodyPr>
          <a:lstStyle/>
          <a:p>
            <a:pPr algn="ctr">
              <a:spcAft>
                <a:spcPts val="400"/>
              </a:spcAft>
            </a:pPr>
            <a:r>
              <a:rPr sz="1100" b="0">
                <a:solidFill>
                  <a:srgbClr val="161B26"/>
                </a:solidFill>
                <a:latin typeface="Arial"/>
              </a:rPr>
              <a:t>Register the IoT device and raise an alert</a:t>
            </a:r>
          </a:p>
        </p:txBody>
      </p:sp>
      <p:sp>
        <p:nvSpPr>
          <p:cNvPr id="39" name="Rectangle 38"/>
          <p:cNvSpPr/>
          <p:nvPr/>
        </p:nvSpPr>
        <p:spPr>
          <a:xfrm>
            <a:off x="777240" y="4956048"/>
            <a:ext cx="10634472" cy="804672"/>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956048"/>
            <a:ext cx="10241280" cy="804672"/>
          </a:xfrm>
          <a:prstGeom prst="rect">
            <a:avLst/>
          </a:prstGeom>
          <a:noFill/>
        </p:spPr>
        <p:txBody>
          <a:bodyPr wrap="square" anchor="ctr">
            <a:spAutoFit/>
          </a:bodyPr>
          <a:lstStyle/>
          <a:p>
            <a:pPr algn="l">
              <a:spcAft>
                <a:spcPts val="400"/>
              </a:spcAft>
            </a:pPr>
            <a:r>
              <a:rPr sz="1150" b="1">
                <a:solidFill>
                  <a:srgbClr val="0B7A47"/>
                </a:solidFill>
                <a:latin typeface="Arial"/>
              </a:rPr>
              <a:t>YOU'LL PRODUCE   </a:t>
            </a:r>
            <a:r>
              <a:rPr sz="1250" b="0">
                <a:solidFill>
                  <a:srgbClr val="161B26"/>
                </a:solidFill>
                <a:latin typeface="Arial"/>
              </a:rPr>
              <a:t>A booked work order on the schedule board, a rebooked and substituted booking, a customer asset hierarchy with service history, and an IoT device registered against an asset with an alert that creates a work order.</a:t>
            </a:r>
          </a:p>
        </p:txBody>
      </p:sp>
      <p:sp>
        <p:nvSpPr>
          <p:cNvPr id="41" name="TextBox 40"/>
          <p:cNvSpPr txBox="1"/>
          <p:nvPr/>
        </p:nvSpPr>
        <p:spPr>
          <a:xfrm>
            <a:off x="777240" y="5870448"/>
            <a:ext cx="10634472" cy="457200"/>
          </a:xfrm>
          <a:prstGeom prst="rect">
            <a:avLst/>
          </a:prstGeom>
          <a:noFill/>
        </p:spPr>
        <p:txBody>
          <a:bodyPr wrap="square" anchor="t">
            <a:spAutoFit/>
          </a:bodyPr>
          <a:lstStyle/>
          <a:p>
            <a:pPr algn="l">
              <a:spcAft>
                <a:spcPts val="400"/>
              </a:spcAft>
            </a:pPr>
            <a:r>
              <a:rPr sz="1150" b="1">
                <a:solidFill>
                  <a:srgbClr val="5B6372"/>
                </a:solidFill>
                <a:latin typeface="Arial"/>
              </a:rPr>
              <a:t>Tools:  </a:t>
            </a:r>
            <a:r>
              <a:rPr sz="1150" b="0">
                <a:solidFill>
                  <a:srgbClr val="5B6372"/>
                </a:solidFill>
                <a:latin typeface="Arial"/>
              </a:rPr>
              <a:t>Dynamics 365 Field Service, schedule board, schedule assistant, Resource Scheduling Optimization, customer assets, Connected Field Service, Azure IoT</a:t>
            </a:r>
            <a:r>
              <a:rPr sz="1150" b="0">
                <a:solidFill>
                  <a:srgbClr val="5B6372"/>
                </a:solidFill>
                <a:latin typeface="Arial"/>
              </a:rPr>
              <a:t>     ·     Full step-by-step: Learner Guide, Lab 10</a:t>
            </a:r>
          </a:p>
        </p:txBody>
      </p:sp>
      <p:sp>
        <p:nvSpPr>
          <p:cNvPr id="42" name="TextBox 4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3" name="TextBox 4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326880" cy="1371600"/>
          </a:xfrm>
          <a:prstGeom prst="rect">
            <a:avLst/>
          </a:prstGeom>
          <a:noFill/>
        </p:spPr>
        <p:txBody>
          <a:bodyPr wrap="square" anchor="t">
            <a:spAutoFit/>
          </a:bodyPr>
          <a:lstStyle/>
          <a:p>
            <a:pPr algn="l">
              <a:spcAft>
                <a:spcPts val="400"/>
              </a:spcAft>
            </a:pPr>
            <a:r>
              <a:rPr sz="3600" b="1">
                <a:solidFill>
                  <a:srgbClr val="161B26"/>
                </a:solidFill>
                <a:latin typeface="Arial"/>
              </a:rPr>
              <a:t>Course Summary &amp; Next Steps</a:t>
            </a:r>
          </a:p>
        </p:txBody>
      </p:sp>
      <p:sp>
        <p:nvSpPr>
          <p:cNvPr id="7" name="TextBox 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 name="TextBox 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DELIVERED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882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882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Implemented CRM capabilities</a:t>
            </a:r>
          </a:p>
          <a:p>
            <a:pPr algn="l">
              <a:spcAft>
                <a:spcPts val="300"/>
              </a:spcAft>
            </a:pPr>
            <a:r>
              <a:rPr sz="1050" b="0">
                <a:solidFill>
                  <a:srgbClr val="5B6372"/>
                </a:solidFill>
                <a:latin typeface="Arial"/>
              </a:rPr>
              <a:t>Navigated the platform, explored Dataverse, and built customers, activities and reporting. (LO1)</a:t>
            </a:r>
          </a:p>
        </p:txBody>
      </p:sp>
      <p:sp>
        <p:nvSpPr>
          <p:cNvPr id="12" name="Rectangle 11"/>
          <p:cNvSpPr/>
          <p:nvPr/>
        </p:nvSpPr>
        <p:spPr>
          <a:xfrm>
            <a:off x="777240" y="26974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7480"/>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8026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8026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072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Defined customer journeys</a:t>
            </a:r>
          </a:p>
          <a:p>
            <a:pPr algn="l">
              <a:spcAft>
                <a:spcPts val="300"/>
              </a:spcAft>
            </a:pPr>
            <a:r>
              <a:rPr sz="1050" b="0">
                <a:solidFill>
                  <a:srgbClr val="5B6372"/>
                </a:solidFill>
                <a:latin typeface="Arial"/>
              </a:rPr>
              <a:t>Built segments, emails, journeys, forms and events in Customer Insights – Journeys. (LO2)</a:t>
            </a:r>
          </a:p>
        </p:txBody>
      </p:sp>
      <p:sp>
        <p:nvSpPr>
          <p:cNvPr id="17" name="Rectangle 16"/>
          <p:cNvSpPr/>
          <p:nvPr/>
        </p:nvSpPr>
        <p:spPr>
          <a:xfrm>
            <a:off x="777240" y="36118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1880"/>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216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Optimised deployment</a:t>
            </a:r>
          </a:p>
          <a:p>
            <a:pPr algn="l">
              <a:spcAft>
                <a:spcPts val="300"/>
              </a:spcAft>
            </a:pPr>
            <a:r>
              <a:rPr sz="1050" b="0">
                <a:solidFill>
                  <a:srgbClr val="5B6372"/>
                </a:solidFill>
                <a:latin typeface="Arial"/>
              </a:rPr>
              <a:t>Ran the lead-to-cash cycle, the case lifecycle and the work order lifecycle end to end. (LO3)</a:t>
            </a:r>
          </a:p>
        </p:txBody>
      </p:sp>
      <p:sp>
        <p:nvSpPr>
          <p:cNvPr id="22" name="Rectangle 21"/>
          <p:cNvSpPr/>
          <p:nvPr/>
        </p:nvSpPr>
        <p:spPr>
          <a:xfrm>
            <a:off x="777240" y="45262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26280"/>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14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14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360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Drew actionable insights</a:t>
            </a:r>
          </a:p>
          <a:p>
            <a:pPr algn="l">
              <a:spcAft>
                <a:spcPts val="300"/>
              </a:spcAft>
            </a:pPr>
            <a:r>
              <a:rPr sz="1050" b="0">
                <a:solidFill>
                  <a:srgbClr val="5B6372"/>
                </a:solidFill>
                <a:latin typeface="Arial"/>
              </a:rPr>
              <a:t>Read pipelines, forecasts, service KPIs and sentiment to evaluate team performance. (LO4)</a:t>
            </a:r>
          </a:p>
        </p:txBody>
      </p:sp>
      <p:sp>
        <p:nvSpPr>
          <p:cNvPr id="27" name="Rectangle 26"/>
          <p:cNvSpPr/>
          <p:nvPr/>
        </p:nvSpPr>
        <p:spPr>
          <a:xfrm>
            <a:off x="777240" y="54406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406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58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58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504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Recommended investment</a:t>
            </a:r>
          </a:p>
          <a:p>
            <a:pPr algn="l">
              <a:spcAft>
                <a:spcPts val="300"/>
              </a:spcAft>
            </a:pPr>
            <a:r>
              <a:rPr sz="1050" b="0">
                <a:solidFill>
                  <a:srgbClr val="5B6372"/>
                </a:solidFill>
                <a:latin typeface="Arial"/>
              </a:rPr>
              <a:t>Compared Sales Insights tiers and scheduling methods, and wrote the recommendation. (LO5)</a:t>
            </a:r>
          </a:p>
        </p:txBody>
      </p:sp>
      <p:sp>
        <p:nvSpPr>
          <p:cNvPr id="32" name="TextBox 3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3" name="TextBox 3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CONTINUING 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Where to Go Next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Practise in a trial</a:t>
            </a:r>
          </a:p>
          <a:p>
            <a:pPr algn="l">
              <a:spcAft>
                <a:spcPts val="300"/>
              </a:spcAft>
            </a:pPr>
            <a:r>
              <a:rPr sz="1100" b="0">
                <a:solidFill>
                  <a:srgbClr val="5B6372"/>
                </a:solidFill>
                <a:latin typeface="Arial"/>
              </a:rPr>
              <a:t>A 30-day Dynamics 365 trial at trials.dynamics.com keeps every lab repeatable.</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Sit the MB-910 exam</a:t>
            </a:r>
          </a:p>
          <a:p>
            <a:pPr algn="l">
              <a:spcAft>
                <a:spcPts val="300"/>
              </a:spcAft>
            </a:pPr>
            <a:r>
              <a:rPr sz="1100" b="0">
                <a:solidFill>
                  <a:srgbClr val="5B6372"/>
                </a:solidFill>
                <a:latin typeface="Arial"/>
              </a:rPr>
              <a:t>Microsoft Certified: Dynamics 365 Fundamentals (CRM) — the credential this course maps to.</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Go deeper on one app</a:t>
            </a:r>
          </a:p>
          <a:p>
            <a:pPr algn="l">
              <a:spcAft>
                <a:spcPts val="300"/>
              </a:spcAft>
            </a:pPr>
            <a:r>
              <a:rPr sz="1100" b="0">
                <a:solidFill>
                  <a:srgbClr val="5B6372"/>
                </a:solidFill>
                <a:latin typeface="Arial"/>
              </a:rPr>
              <a:t>Role-based certifications exist for Sales (MB-210), Service (MB-230) and Field Service (MB-240).</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Learn the platform</a:t>
            </a:r>
          </a:p>
          <a:p>
            <a:pPr algn="l">
              <a:spcAft>
                <a:spcPts val="300"/>
              </a:spcAft>
            </a:pPr>
            <a:r>
              <a:rPr sz="1100" b="0">
                <a:solidFill>
                  <a:srgbClr val="5B6372"/>
                </a:solidFill>
                <a:latin typeface="Arial"/>
              </a:rPr>
              <a:t>PL-900 Power Platform Fundamentals is the natural companion to this course.</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Build something</a:t>
            </a:r>
          </a:p>
          <a:p>
            <a:pPr algn="l">
              <a:spcAft>
                <a:spcPts val="300"/>
              </a:spcAft>
            </a:pPr>
            <a:r>
              <a:rPr sz="1100" b="0">
                <a:solidFill>
                  <a:srgbClr val="5B6372"/>
                </a:solidFill>
                <a:latin typeface="Arial"/>
              </a:rPr>
              <a:t>The fastest way to consolidate: model a real process from your own organisation.</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450" b="1">
                <a:solidFill>
                  <a:srgbClr val="161B26"/>
                </a:solidFill>
                <a:latin typeface="Arial"/>
              </a:rPr>
              <a:t>Keep the materials</a:t>
            </a:r>
          </a:p>
          <a:p>
            <a:pPr algn="l">
              <a:spcAft>
                <a:spcPts val="300"/>
              </a:spcAft>
            </a:pPr>
            <a:r>
              <a:rPr sz="1100" b="0">
                <a:solidFill>
                  <a:srgbClr val="5B6372"/>
                </a:solidFill>
                <a:latin typeface="Arial"/>
              </a:rPr>
              <a:t>Your slides, Learner Guide and lab files stay available on the LMS/TMS portal.</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EXAM READINESS · TERTIARY INFOTECH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48640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486400" cy="457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75104"/>
            <a:ext cx="155448" cy="15544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88720" y="1975104"/>
            <a:ext cx="155448" cy="1554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35608" y="19751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911096"/>
            <a:ext cx="4187952" cy="3017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65960" y="1911096"/>
            <a:ext cx="3913632" cy="301752"/>
          </a:xfrm>
          <a:prstGeom prst="rect">
            <a:avLst/>
          </a:prstGeom>
          <a:noFill/>
        </p:spPr>
        <p:txBody>
          <a:bodyPr wrap="square" anchor="ctr">
            <a:spAutoFit/>
          </a:bodyPr>
          <a:lstStyle/>
          <a:p>
            <a:pPr algn="l">
              <a:spcAft>
                <a:spcPts val="400"/>
              </a:spcAft>
            </a:pPr>
            <a:r>
              <a:rPr sz="1200" b="1">
                <a:solidFill>
                  <a:srgbClr val="7C3AED"/>
                </a:solidFill>
                <a:latin typeface="Arial"/>
              </a:rPr>
              <a:t>https://exams.tertiaryinfotech.com</a:t>
            </a:r>
          </a:p>
        </p:txBody>
      </p:sp>
      <p:sp>
        <p:nvSpPr>
          <p:cNvPr id="14" name="Rectangle 13"/>
          <p:cNvSpPr/>
          <p:nvPr/>
        </p:nvSpPr>
        <p:spPr>
          <a:xfrm>
            <a:off x="1005840" y="2487168"/>
            <a:ext cx="502920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487168"/>
            <a:ext cx="4663440" cy="658368"/>
          </a:xfrm>
          <a:prstGeom prst="rect">
            <a:avLst/>
          </a:prstGeom>
          <a:noFill/>
        </p:spPr>
        <p:txBody>
          <a:bodyPr wrap="square" anchor="ctr">
            <a:spAutoFit/>
          </a:bodyPr>
          <a:lstStyle/>
          <a:p>
            <a:pPr algn="l">
              <a:spcAft>
                <a:spcPts val="200"/>
              </a:spcAft>
            </a:pPr>
            <a:r>
              <a:rPr sz="1450" b="1">
                <a:solidFill>
                  <a:srgbClr val="FFFFFF"/>
                </a:solidFill>
                <a:latin typeface="Arial"/>
              </a:rPr>
              <a:t>Tertiary Infotech Practice Exams</a:t>
            </a:r>
          </a:p>
          <a:p>
            <a:pPr algn="l">
              <a:spcAft>
                <a:spcPts val="200"/>
              </a:spcAft>
            </a:pPr>
            <a:r>
              <a:rPr sz="1050" b="0">
                <a:solidFill>
                  <a:srgbClr val="E0D0FF"/>
                </a:solidFill>
                <a:latin typeface="Arial"/>
              </a:rPr>
              <a:t>Microsoft Dynamics 365 Fundamentals (CRM) MB-910</a:t>
            </a:r>
          </a:p>
        </p:txBody>
      </p:sp>
      <p:sp>
        <p:nvSpPr>
          <p:cNvPr id="16" name="Rectangle 15"/>
          <p:cNvSpPr/>
          <p:nvPr/>
        </p:nvSpPr>
        <p:spPr>
          <a:xfrm>
            <a:off x="1005840" y="3291840"/>
            <a:ext cx="5029200" cy="420624"/>
          </a:xfrm>
          <a:prstGeom prst="rect">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291840"/>
            <a:ext cx="4663440" cy="420624"/>
          </a:xfrm>
          <a:prstGeom prst="rect">
            <a:avLst/>
          </a:prstGeom>
          <a:noFill/>
        </p:spPr>
        <p:txBody>
          <a:bodyPr wrap="square" anchor="ctr">
            <a:spAutoFit/>
          </a:bodyPr>
          <a:lstStyle/>
          <a:p>
            <a:pPr algn="l">
              <a:spcAft>
                <a:spcPts val="400"/>
              </a:spcAft>
            </a:pPr>
            <a:r>
              <a:rPr sz="1150" b="1">
                <a:solidFill>
                  <a:srgbClr val="7C3AED"/>
                </a:solidFill>
                <a:latin typeface="Arial"/>
              </a:rPr>
              <a:t>Question 7 of 50</a:t>
            </a:r>
          </a:p>
        </p:txBody>
      </p:sp>
      <p:sp>
        <p:nvSpPr>
          <p:cNvPr id="18" name="Rectangle 17"/>
          <p:cNvSpPr/>
          <p:nvPr/>
        </p:nvSpPr>
        <p:spPr>
          <a:xfrm>
            <a:off x="1005840" y="3803904"/>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3803904"/>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Which app unifies data into a single customer profile?</a:t>
            </a:r>
          </a:p>
        </p:txBody>
      </p:sp>
      <p:sp>
        <p:nvSpPr>
          <p:cNvPr id="20" name="Rectangle 19"/>
          <p:cNvSpPr/>
          <p:nvPr/>
        </p:nvSpPr>
        <p:spPr>
          <a:xfrm>
            <a:off x="1005840" y="4315968"/>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315968"/>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A.  Customer Insights – Journeys</a:t>
            </a:r>
          </a:p>
        </p:txBody>
      </p:sp>
      <p:sp>
        <p:nvSpPr>
          <p:cNvPr id="22" name="Rectangle 21"/>
          <p:cNvSpPr/>
          <p:nvPr/>
        </p:nvSpPr>
        <p:spPr>
          <a:xfrm>
            <a:off x="1005840" y="4828032"/>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4828032"/>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B.  Customer Insights – Data</a:t>
            </a:r>
          </a:p>
        </p:txBody>
      </p:sp>
      <p:sp>
        <p:nvSpPr>
          <p:cNvPr id="24" name="Rectangle 23"/>
          <p:cNvSpPr/>
          <p:nvPr/>
        </p:nvSpPr>
        <p:spPr>
          <a:xfrm>
            <a:off x="1005840" y="5340096"/>
            <a:ext cx="502920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5340096"/>
            <a:ext cx="4663440" cy="420624"/>
          </a:xfrm>
          <a:prstGeom prst="rect">
            <a:avLst/>
          </a:prstGeom>
          <a:noFill/>
        </p:spPr>
        <p:txBody>
          <a:bodyPr wrap="square" anchor="ctr">
            <a:spAutoFit/>
          </a:bodyPr>
          <a:lstStyle/>
          <a:p>
            <a:pPr algn="l">
              <a:spcAft>
                <a:spcPts val="400"/>
              </a:spcAft>
            </a:pPr>
            <a:r>
              <a:rPr sz="1150" b="0">
                <a:solidFill>
                  <a:srgbClr val="161B26"/>
                </a:solidFill>
                <a:latin typeface="Arial"/>
              </a:rPr>
              <a:t>C.  Customer Voice</a:t>
            </a:r>
          </a:p>
        </p:txBody>
      </p:sp>
      <p:sp>
        <p:nvSpPr>
          <p:cNvPr id="26" name="Rectangle 25"/>
          <p:cNvSpPr/>
          <p:nvPr/>
        </p:nvSpPr>
        <p:spPr>
          <a:xfrm>
            <a:off x="6583680" y="1828800"/>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0" y="1828800"/>
            <a:ext cx="82296" cy="9052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48272" y="2071116"/>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48272" y="2071116"/>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30" name="TextBox 29"/>
          <p:cNvSpPr txBox="1"/>
          <p:nvPr/>
        </p:nvSpPr>
        <p:spPr>
          <a:xfrm>
            <a:off x="7333488" y="1828800"/>
            <a:ext cx="3913632" cy="905256"/>
          </a:xfrm>
          <a:prstGeom prst="rect">
            <a:avLst/>
          </a:prstGeom>
          <a:noFill/>
        </p:spPr>
        <p:txBody>
          <a:bodyPr wrap="square" anchor="ctr">
            <a:spAutoFit/>
          </a:bodyPr>
          <a:lstStyle/>
          <a:p>
            <a:pPr algn="l">
              <a:spcAft>
                <a:spcPts val="200"/>
              </a:spcAft>
            </a:pPr>
            <a:r>
              <a:rPr sz="1300" b="1">
                <a:solidFill>
                  <a:srgbClr val="1F6FEB"/>
                </a:solidFill>
                <a:latin typeface="Arial"/>
              </a:rPr>
              <a:t>Practise before you certify</a:t>
            </a:r>
          </a:p>
          <a:p>
            <a:pPr algn="l">
              <a:spcAft>
                <a:spcPts val="200"/>
              </a:spcAft>
            </a:pPr>
            <a:r>
              <a:rPr sz="1100" b="0">
                <a:solidFill>
                  <a:srgbClr val="161B26"/>
                </a:solidFill>
                <a:latin typeface="Arial"/>
              </a:rPr>
              <a:t>Timed, exam-style questions across all four MB-910 skill areas.</a:t>
            </a:r>
          </a:p>
        </p:txBody>
      </p:sp>
      <p:sp>
        <p:nvSpPr>
          <p:cNvPr id="31" name="Rectangle 30"/>
          <p:cNvSpPr/>
          <p:nvPr/>
        </p:nvSpPr>
        <p:spPr>
          <a:xfrm>
            <a:off x="6583680" y="2898648"/>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0" y="2898648"/>
            <a:ext cx="82296" cy="9052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48272" y="3140964"/>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48272" y="314096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35" name="TextBox 34"/>
          <p:cNvSpPr txBox="1"/>
          <p:nvPr/>
        </p:nvSpPr>
        <p:spPr>
          <a:xfrm>
            <a:off x="7333488" y="2898648"/>
            <a:ext cx="3913632" cy="905256"/>
          </a:xfrm>
          <a:prstGeom prst="rect">
            <a:avLst/>
          </a:prstGeom>
          <a:noFill/>
        </p:spPr>
        <p:txBody>
          <a:bodyPr wrap="square" anchor="ctr">
            <a:spAutoFit/>
          </a:bodyPr>
          <a:lstStyle/>
          <a:p>
            <a:pPr algn="l">
              <a:spcAft>
                <a:spcPts val="200"/>
              </a:spcAft>
            </a:pPr>
            <a:r>
              <a:rPr sz="1300" b="1">
                <a:solidFill>
                  <a:srgbClr val="10B981"/>
                </a:solidFill>
                <a:latin typeface="Arial"/>
              </a:rPr>
              <a:t>Read the explanations</a:t>
            </a:r>
          </a:p>
          <a:p>
            <a:pPr algn="l">
              <a:spcAft>
                <a:spcPts val="200"/>
              </a:spcAft>
            </a:pPr>
            <a:r>
              <a:rPr sz="1100" b="0">
                <a:solidFill>
                  <a:srgbClr val="161B26"/>
                </a:solidFill>
                <a:latin typeface="Arial"/>
              </a:rPr>
              <a:t>Each answer explains why it is right — and why the others are not.</a:t>
            </a:r>
          </a:p>
        </p:txBody>
      </p:sp>
      <p:sp>
        <p:nvSpPr>
          <p:cNvPr id="36" name="Rectangle 35"/>
          <p:cNvSpPr/>
          <p:nvPr/>
        </p:nvSpPr>
        <p:spPr>
          <a:xfrm>
            <a:off x="6583680" y="3968496"/>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83680" y="3968496"/>
            <a:ext cx="82296" cy="9052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48272" y="4210812"/>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48272" y="4210812"/>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40" name="TextBox 39"/>
          <p:cNvSpPr txBox="1"/>
          <p:nvPr/>
        </p:nvSpPr>
        <p:spPr>
          <a:xfrm>
            <a:off x="7333488" y="3968496"/>
            <a:ext cx="3913632" cy="905256"/>
          </a:xfrm>
          <a:prstGeom prst="rect">
            <a:avLst/>
          </a:prstGeom>
          <a:noFill/>
        </p:spPr>
        <p:txBody>
          <a:bodyPr wrap="square" anchor="ctr">
            <a:spAutoFit/>
          </a:bodyPr>
          <a:lstStyle/>
          <a:p>
            <a:pPr algn="l">
              <a:spcAft>
                <a:spcPts val="200"/>
              </a:spcAft>
            </a:pPr>
            <a:r>
              <a:rPr sz="1300" b="1">
                <a:solidFill>
                  <a:srgbClr val="7C3AED"/>
                </a:solidFill>
                <a:latin typeface="Arial"/>
              </a:rPr>
              <a:t>Target your revision</a:t>
            </a:r>
          </a:p>
          <a:p>
            <a:pPr algn="l">
              <a:spcAft>
                <a:spcPts val="200"/>
              </a:spcAft>
            </a:pPr>
            <a:r>
              <a:rPr sz="1100" b="0">
                <a:solidFill>
                  <a:srgbClr val="161B26"/>
                </a:solidFill>
                <a:latin typeface="Arial"/>
              </a:rPr>
              <a:t>Weak area? Go back to that topic's slides and lab.</a:t>
            </a:r>
          </a:p>
        </p:txBody>
      </p:sp>
      <p:sp>
        <p:nvSpPr>
          <p:cNvPr id="41" name="Rectangle 40"/>
          <p:cNvSpPr/>
          <p:nvPr/>
        </p:nvSpPr>
        <p:spPr>
          <a:xfrm>
            <a:off x="6583680" y="5038344"/>
            <a:ext cx="4828032" cy="9052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3680" y="5038344"/>
            <a:ext cx="82296" cy="9052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748272" y="528066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48272" y="5280660"/>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45" name="TextBox 44"/>
          <p:cNvSpPr txBox="1"/>
          <p:nvPr/>
        </p:nvSpPr>
        <p:spPr>
          <a:xfrm>
            <a:off x="7333488" y="5038344"/>
            <a:ext cx="3913632" cy="905256"/>
          </a:xfrm>
          <a:prstGeom prst="rect">
            <a:avLst/>
          </a:prstGeom>
          <a:noFill/>
        </p:spPr>
        <p:txBody>
          <a:bodyPr wrap="square" anchor="ctr">
            <a:spAutoFit/>
          </a:bodyPr>
          <a:lstStyle/>
          <a:p>
            <a:pPr algn="l">
              <a:spcAft>
                <a:spcPts val="200"/>
              </a:spcAft>
            </a:pPr>
            <a:r>
              <a:rPr sz="1300" b="1">
                <a:solidFill>
                  <a:srgbClr val="F59E0B"/>
                </a:solidFill>
                <a:latin typeface="Arial"/>
              </a:rPr>
              <a:t>Then sit the real exam</a:t>
            </a:r>
          </a:p>
          <a:p>
            <a:pPr algn="l">
              <a:spcAft>
                <a:spcPts val="200"/>
              </a:spcAft>
            </a:pPr>
            <a:r>
              <a:rPr sz="1100" b="0">
                <a:solidFill>
                  <a:srgbClr val="161B26"/>
                </a:solidFill>
                <a:latin typeface="Arial"/>
              </a:rPr>
              <a:t>MB-910 via Pearson VUE, or the free Microsoft practice assessment.</a:t>
            </a:r>
          </a:p>
        </p:txBody>
      </p:sp>
      <p:sp>
        <p:nvSpPr>
          <p:cNvPr id="46" name="TextBox 45"/>
          <p:cNvSpPr txBox="1"/>
          <p:nvPr/>
        </p:nvSpPr>
        <p:spPr>
          <a:xfrm>
            <a:off x="777240" y="6053328"/>
            <a:ext cx="10698480" cy="365760"/>
          </a:xfrm>
          <a:prstGeom prst="rect">
            <a:avLst/>
          </a:prstGeom>
          <a:noFill/>
        </p:spPr>
        <p:txBody>
          <a:bodyPr wrap="square" anchor="t">
            <a:spAutoFit/>
          </a:bodyPr>
          <a:lstStyle/>
          <a:p>
            <a:pPr algn="ctr">
              <a:spcAft>
                <a:spcPts val="400"/>
              </a:spcAft>
            </a:pPr>
            <a:r>
              <a:rPr sz="1200" b="0">
                <a:solidFill>
                  <a:srgbClr val="5B6372"/>
                </a:solidFill>
                <a:latin typeface="Arial"/>
              </a:rPr>
              <a:t>https://exams.tertiaryinfotech.com   ·   Exam voucher: www.tertiarycourses.com.sg/microsoft-fundamentals-certification-exam-voucher.html</a:t>
            </a:r>
          </a:p>
        </p:txBody>
      </p:sp>
      <p:sp>
        <p:nvSpPr>
          <p:cNvPr id="47" name="TextBox 4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8" name="TextBox 4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MICROSOFT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Recommended Follow-On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882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882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Microsoft Power Platform Fundamentals (PL-900)</a:t>
            </a:r>
          </a:p>
          <a:p>
            <a:pPr algn="l">
              <a:spcAft>
                <a:spcPts val="300"/>
              </a:spcAft>
            </a:pPr>
            <a:r>
              <a:rPr sz="1050" b="0">
                <a:solidFill>
                  <a:srgbClr val="5B6372"/>
                </a:solidFill>
                <a:latin typeface="Arial"/>
              </a:rPr>
              <a:t>WSQ funded · Tertiary Infotech Academy</a:t>
            </a:r>
          </a:p>
        </p:txBody>
      </p:sp>
      <p:sp>
        <p:nvSpPr>
          <p:cNvPr id="12" name="Rectangle 11"/>
          <p:cNvSpPr/>
          <p:nvPr/>
        </p:nvSpPr>
        <p:spPr>
          <a:xfrm>
            <a:off x="777240" y="26974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97480"/>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8026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8026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072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Microsoft Power BI Data Analyst (PL-300)</a:t>
            </a:r>
          </a:p>
          <a:p>
            <a:pPr algn="l">
              <a:spcAft>
                <a:spcPts val="300"/>
              </a:spcAft>
            </a:pPr>
            <a:r>
              <a:rPr sz="1050" b="0">
                <a:solidFill>
                  <a:srgbClr val="5B6372"/>
                </a:solidFill>
                <a:latin typeface="Arial"/>
              </a:rPr>
              <a:t>WSQ funded · Tertiary Infotech Academy</a:t>
            </a:r>
          </a:p>
        </p:txBody>
      </p:sp>
      <p:sp>
        <p:nvSpPr>
          <p:cNvPr id="17" name="Rectangle 16"/>
          <p:cNvSpPr/>
          <p:nvPr/>
        </p:nvSpPr>
        <p:spPr>
          <a:xfrm>
            <a:off x="777240" y="36118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1880"/>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216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Microsoft Power Apps Low-Code Application Development</a:t>
            </a:r>
          </a:p>
          <a:p>
            <a:pPr algn="l">
              <a:spcAft>
                <a:spcPts val="300"/>
              </a:spcAft>
            </a:pPr>
            <a:r>
              <a:rPr sz="1050" b="0">
                <a:solidFill>
                  <a:srgbClr val="5B6372"/>
                </a:solidFill>
                <a:latin typeface="Arial"/>
              </a:rPr>
              <a:t>WSQ funded · Tertiary Infotech Academy</a:t>
            </a:r>
          </a:p>
        </p:txBody>
      </p:sp>
      <p:sp>
        <p:nvSpPr>
          <p:cNvPr id="22" name="Rectangle 21"/>
          <p:cNvSpPr/>
          <p:nvPr/>
        </p:nvSpPr>
        <p:spPr>
          <a:xfrm>
            <a:off x="777240" y="45262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26280"/>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14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14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360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Microsoft Power Automate Workflow Automation</a:t>
            </a:r>
          </a:p>
          <a:p>
            <a:pPr algn="l">
              <a:spcAft>
                <a:spcPts val="300"/>
              </a:spcAft>
            </a:pPr>
            <a:r>
              <a:rPr sz="1050" b="0">
                <a:solidFill>
                  <a:srgbClr val="5B6372"/>
                </a:solidFill>
                <a:latin typeface="Arial"/>
              </a:rPr>
              <a:t>WSQ funded · Tertiary Infotech Academy</a:t>
            </a:r>
          </a:p>
        </p:txBody>
      </p:sp>
      <p:sp>
        <p:nvSpPr>
          <p:cNvPr id="27" name="Rectangle 26"/>
          <p:cNvSpPr/>
          <p:nvPr/>
        </p:nvSpPr>
        <p:spPr>
          <a:xfrm>
            <a:off x="777240" y="544068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406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58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58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50408"/>
            <a:ext cx="9482328" cy="548640"/>
          </a:xfrm>
          <a:prstGeom prst="rect">
            <a:avLst/>
          </a:prstGeom>
          <a:noFill/>
        </p:spPr>
        <p:txBody>
          <a:bodyPr wrap="square" anchor="ctr">
            <a:spAutoFit/>
          </a:bodyPr>
          <a:lstStyle/>
          <a:p>
            <a:pPr algn="l">
              <a:spcAft>
                <a:spcPts val="300"/>
              </a:spcAft>
            </a:pPr>
            <a:r>
              <a:rPr sz="1400" b="1">
                <a:solidFill>
                  <a:srgbClr val="161B26"/>
                </a:solidFill>
                <a:latin typeface="Arial"/>
              </a:rPr>
              <a:t>Microsoft Azure AI Fundamentals (AI-900)</a:t>
            </a:r>
          </a:p>
          <a:p>
            <a:pPr algn="l">
              <a:spcAft>
                <a:spcPts val="300"/>
              </a:spcAft>
            </a:pPr>
            <a:r>
              <a:rPr sz="1050" b="0">
                <a:solidFill>
                  <a:srgbClr val="5B6372"/>
                </a:solidFill>
                <a:latin typeface="Arial"/>
              </a:rPr>
              <a:t>WSQ funded · Tertiary Infotech Academy</a:t>
            </a:r>
          </a:p>
        </p:txBody>
      </p:sp>
      <p:sp>
        <p:nvSpPr>
          <p:cNvPr id="32" name="TextBox 31"/>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3" name="TextBox 32"/>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84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74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Email us</a:t>
            </a:r>
          </a:p>
          <a:p>
            <a:pPr algn="l">
              <a:spcAft>
                <a:spcPts val="300"/>
              </a:spcAft>
            </a:pPr>
            <a:r>
              <a:rPr sz="1150" b="0">
                <a:solidFill>
                  <a:srgbClr val="5B6372"/>
                </a:solidFill>
                <a:latin typeface="Arial"/>
              </a:rPr>
              <a:t>enquiry@tertiaryinfotech.com — during and after the class.</a:t>
            </a:r>
          </a:p>
        </p:txBody>
      </p:sp>
      <p:sp>
        <p:nvSpPr>
          <p:cNvPr id="12" name="Rectangle 11"/>
          <p:cNvSpPr/>
          <p:nvPr/>
        </p:nvSpPr>
        <p:spPr>
          <a:xfrm>
            <a:off x="6222492" y="1783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2084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574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574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Call us</a:t>
            </a:r>
          </a:p>
          <a:p>
            <a:pPr algn="l">
              <a:spcAft>
                <a:spcPts val="300"/>
              </a:spcAft>
            </a:pPr>
            <a:r>
              <a:rPr sz="1150" b="0">
                <a:solidFill>
                  <a:srgbClr val="5B6372"/>
                </a:solidFill>
                <a:latin typeface="Arial"/>
              </a:rPr>
              <a:t>+65 6100 0613</a:t>
            </a:r>
          </a:p>
        </p:txBody>
      </p:sp>
      <p:sp>
        <p:nvSpPr>
          <p:cNvPr id="17" name="Rectangle 16"/>
          <p:cNvSpPr/>
          <p:nvPr/>
        </p:nvSpPr>
        <p:spPr>
          <a:xfrm>
            <a:off x="777240" y="4069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69080"/>
            <a:ext cx="91440" cy="2084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78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Course catalogue</a:t>
            </a:r>
          </a:p>
          <a:p>
            <a:pPr algn="l">
              <a:spcAft>
                <a:spcPts val="300"/>
              </a:spcAft>
            </a:pPr>
            <a:r>
              <a:rPr sz="1150" b="0">
                <a:solidFill>
                  <a:srgbClr val="5B6372"/>
                </a:solidFill>
                <a:latin typeface="Arial"/>
              </a:rPr>
              <a:t>www.tertiarycourses.com.sg</a:t>
            </a:r>
          </a:p>
        </p:txBody>
      </p:sp>
      <p:sp>
        <p:nvSpPr>
          <p:cNvPr id="22" name="Rectangle 21"/>
          <p:cNvSpPr/>
          <p:nvPr/>
        </p:nvSpPr>
        <p:spPr>
          <a:xfrm>
            <a:off x="6222492" y="4069080"/>
            <a:ext cx="5189220" cy="2084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69080"/>
            <a:ext cx="91440" cy="2084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4860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4860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4178808"/>
            <a:ext cx="4037076" cy="1920240"/>
          </a:xfrm>
          <a:prstGeom prst="rect">
            <a:avLst/>
          </a:prstGeom>
          <a:noFill/>
        </p:spPr>
        <p:txBody>
          <a:bodyPr wrap="square" anchor="ctr">
            <a:spAutoFit/>
          </a:bodyPr>
          <a:lstStyle/>
          <a:p>
            <a:pPr algn="l">
              <a:spcAft>
                <a:spcPts val="300"/>
              </a:spcAft>
            </a:pPr>
            <a:r>
              <a:rPr sz="1500" b="1">
                <a:solidFill>
                  <a:srgbClr val="161B26"/>
                </a:solidFill>
                <a:latin typeface="Arial"/>
              </a:rPr>
              <a:t>Your course material</a:t>
            </a:r>
          </a:p>
          <a:p>
            <a:pPr algn="l">
              <a:spcAft>
                <a:spcPts val="300"/>
              </a:spcAft>
            </a:pPr>
            <a:r>
              <a:rPr sz="1150" b="0">
                <a:solidFill>
                  <a:srgbClr val="5B6372"/>
                </a:solidFill>
                <a:latin typeface="Arial"/>
              </a:rPr>
              <a:t>lms-tms.tertiaryinfotech.com — slides, guide, labs and assessment.</a:t>
            </a:r>
          </a:p>
        </p:txBody>
      </p:sp>
      <p:sp>
        <p:nvSpPr>
          <p:cNvPr id="27" name="TextBox 2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28" name="TextBox 2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93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50" b="0">
                <a:solidFill>
                  <a:srgbClr val="5B6372"/>
                </a:solidFill>
                <a:latin typeface="Arial"/>
              </a:rPr>
              <a:t>Short-Answer Questions — 1 hour. Tests the knowledge behind the four MB-910 skill areas.</a:t>
            </a:r>
          </a:p>
        </p:txBody>
      </p:sp>
      <p:sp>
        <p:nvSpPr>
          <p:cNvPr id="12" name="Rectangle 11"/>
          <p:cNvSpPr/>
          <p:nvPr/>
        </p:nvSpPr>
        <p:spPr>
          <a:xfrm>
            <a:off x="6222492" y="1783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83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0236" y="2193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0236" y="2193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55180" y="1892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Practical Performance (PP)</a:t>
            </a:r>
          </a:p>
          <a:p>
            <a:pPr algn="l">
              <a:spcAft>
                <a:spcPts val="300"/>
              </a:spcAft>
            </a:pPr>
            <a:r>
              <a:rPr sz="1150" b="0">
                <a:solidFill>
                  <a:srgbClr val="5B6372"/>
                </a:solidFill>
                <a:latin typeface="Arial"/>
              </a:rPr>
              <a:t>Hands-on Dynamics 365 tasks — 1 hour. Drawn from the ten labs you completed.</a:t>
            </a:r>
          </a:p>
        </p:txBody>
      </p:sp>
      <p:sp>
        <p:nvSpPr>
          <p:cNvPr id="17" name="Rectangle 16"/>
          <p:cNvSpPr/>
          <p:nvPr/>
        </p:nvSpPr>
        <p:spPr>
          <a:xfrm>
            <a:off x="777240"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91440" cy="13228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7036"/>
            <a:ext cx="502920" cy="5029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Open book</a:t>
            </a:r>
          </a:p>
          <a:p>
            <a:pPr algn="l">
              <a:spcAft>
                <a:spcPts val="300"/>
              </a:spcAft>
            </a:pPr>
            <a:r>
              <a:rPr sz="1150" b="0">
                <a:solidFill>
                  <a:srgbClr val="5B6372"/>
                </a:solidFill>
                <a:latin typeface="Arial"/>
              </a:rPr>
              <a:t>Course slides, Learner Guide and approved materials only.</a:t>
            </a:r>
          </a:p>
        </p:txBody>
      </p:sp>
      <p:sp>
        <p:nvSpPr>
          <p:cNvPr id="22" name="Rectangle 21"/>
          <p:cNvSpPr/>
          <p:nvPr/>
        </p:nvSpPr>
        <p:spPr>
          <a:xfrm>
            <a:off x="6222492" y="3307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307080"/>
            <a:ext cx="91440" cy="13228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0236" y="371703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0236" y="3717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55180" y="3416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Attendance first</a:t>
            </a:r>
          </a:p>
          <a:p>
            <a:pPr algn="l">
              <a:spcAft>
                <a:spcPts val="300"/>
              </a:spcAft>
            </a:pPr>
            <a:r>
              <a:rPr sz="1150" b="0">
                <a:solidFill>
                  <a:srgbClr val="5B6372"/>
                </a:solidFill>
                <a:latin typeface="Arial"/>
              </a:rPr>
              <a:t>Take the Assessment digital attendance before you start.</a:t>
            </a:r>
          </a:p>
        </p:txBody>
      </p:sp>
      <p:sp>
        <p:nvSpPr>
          <p:cNvPr id="27" name="Rectangle 26"/>
          <p:cNvSpPr/>
          <p:nvPr/>
        </p:nvSpPr>
        <p:spPr>
          <a:xfrm>
            <a:off x="777240"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31080"/>
            <a:ext cx="91440"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1036"/>
            <a:ext cx="502920" cy="5029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Submit on the LMS</a:t>
            </a:r>
          </a:p>
          <a:p>
            <a:pPr algn="l">
              <a:spcAft>
                <a:spcPts val="300"/>
              </a:spcAft>
            </a:pPr>
            <a:r>
              <a:rPr sz="1150" b="0">
                <a:solidFill>
                  <a:srgbClr val="5B6372"/>
                </a:solidFill>
                <a:latin typeface="Arial"/>
              </a:rPr>
              <a:t>Upload your completed answers at lms-tms.tertiaryinfotech.com.</a:t>
            </a:r>
          </a:p>
        </p:txBody>
      </p:sp>
      <p:sp>
        <p:nvSpPr>
          <p:cNvPr id="32" name="Rectangle 31"/>
          <p:cNvSpPr/>
          <p:nvPr/>
        </p:nvSpPr>
        <p:spPr>
          <a:xfrm>
            <a:off x="6222492" y="4831080"/>
            <a:ext cx="518922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31080"/>
            <a:ext cx="91440" cy="1322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0236" y="524103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0236" y="5241036"/>
            <a:ext cx="502920" cy="50292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55180" y="4940808"/>
            <a:ext cx="4037076" cy="1158240"/>
          </a:xfrm>
          <a:prstGeom prst="rect">
            <a:avLst/>
          </a:prstGeom>
          <a:noFill/>
        </p:spPr>
        <p:txBody>
          <a:bodyPr wrap="square" anchor="ctr">
            <a:spAutoFit/>
          </a:bodyPr>
          <a:lstStyle/>
          <a:p>
            <a:pPr algn="l">
              <a:spcAft>
                <a:spcPts val="300"/>
              </a:spcAft>
            </a:pPr>
            <a:r>
              <a:rPr sz="1500" b="1">
                <a:solidFill>
                  <a:srgbClr val="161B26"/>
                </a:solidFill>
                <a:latin typeface="Arial"/>
              </a:rPr>
              <a:t>Competent in BOTH</a:t>
            </a:r>
          </a:p>
          <a:p>
            <a:pPr algn="l">
              <a:spcAft>
                <a:spcPts val="300"/>
              </a:spcAft>
            </a:pPr>
            <a:r>
              <a:rPr sz="1150" b="0">
                <a:solidFill>
                  <a:srgbClr val="5B6372"/>
                </a:solidFill>
                <a:latin typeface="Arial"/>
              </a:rPr>
              <a:t>Both instruments must be passed to be awarded the certificate.</a:t>
            </a:r>
          </a:p>
        </p:txBody>
      </p:sp>
      <p:sp>
        <p:nvSpPr>
          <p:cNvPr id="37" name="TextBox 3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38" name="TextBox 3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_flow.png"/>
          <p:cNvPicPr>
            <a:picLocks noChangeAspect="1"/>
          </p:cNvPicPr>
          <p:nvPr/>
        </p:nvPicPr>
        <p:blipFill>
          <a:blip r:embed="rId2"/>
          <a:stretch>
            <a:fillRect/>
          </a:stretch>
        </p:blipFill>
        <p:spPr>
          <a:xfrm>
            <a:off x="883767" y="1742813"/>
            <a:ext cx="10424160" cy="3921014"/>
          </a:xfrm>
          <a:prstGeom prst="rect">
            <a:avLst/>
          </a:prstGeom>
        </p:spPr>
      </p:pic>
      <p:sp>
        <p:nvSpPr>
          <p:cNvPr id="8" name="Rectangle 7"/>
          <p:cNvSpPr/>
          <p:nvPr/>
        </p:nvSpPr>
        <p:spPr>
          <a:xfrm>
            <a:off x="777240" y="5742432"/>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42432"/>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Survey → attendance → Written Assessment → Practical Performance → sign the Assessment Summary Record.</a:t>
            </a:r>
          </a:p>
        </p:txBody>
      </p:sp>
      <p:sp>
        <p:nvSpPr>
          <p:cNvPr id="10" name="TextBox 9"/>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1" name="TextBox 10"/>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MANDATORY · SSG / WSQ</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&amp; TRAQOM Survey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1560" y="1965960"/>
            <a:ext cx="2651760" cy="2651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34440"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42258"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50076"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89167"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96985"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4803"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12621" y="214884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34440"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42258"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50076"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57894"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73530"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81349"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689167"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96985"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4803"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2621" y="2356658"/>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34440"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42258"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50076"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65712"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481349"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689167"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896985"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04803"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12621" y="2564476"/>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857894"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65712"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73530"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481349"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04803" y="2772294"/>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34440"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650076"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481349"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689167"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96985"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12621" y="2980112"/>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650076" y="318793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3530" y="318793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689167" y="3187930"/>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234440"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857894"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65712"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273530"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89167"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896985"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104803"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312621" y="3395749"/>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234440"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442258"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650076"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065712"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273530"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96985"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104803" y="3603567"/>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234440"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442258"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650076"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481349"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104803"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312621" y="3811385"/>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234440" y="4019203"/>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442258" y="4019203"/>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650076" y="4019203"/>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104803" y="4019203"/>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234440"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442258"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650076"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857894"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065712"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481349"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689167"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896985" y="4227021"/>
            <a:ext cx="191192" cy="191192"/>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4709160"/>
            <a:ext cx="2651760" cy="365760"/>
          </a:xfrm>
          <a:prstGeom prst="rect">
            <a:avLst/>
          </a:prstGeom>
          <a:noFill/>
        </p:spPr>
        <p:txBody>
          <a:bodyPr wrap="square" anchor="t">
            <a:spAutoFit/>
          </a:bodyPr>
          <a:lstStyle/>
          <a:p>
            <a:pPr algn="ctr">
              <a:spcAft>
                <a:spcPts val="400"/>
              </a:spcAft>
            </a:pPr>
            <a:r>
              <a:rPr sz="1100" b="0">
                <a:solidFill>
                  <a:srgbClr val="5B6372"/>
                </a:solidFill>
                <a:latin typeface="Arial"/>
              </a:rPr>
              <a:t>Scan with your phone camera</a:t>
            </a:r>
          </a:p>
        </p:txBody>
      </p:sp>
      <p:sp>
        <p:nvSpPr>
          <p:cNvPr id="82" name="Rectangle 81"/>
          <p:cNvSpPr/>
          <p:nvPr/>
        </p:nvSpPr>
        <p:spPr>
          <a:xfrm>
            <a:off x="4480560" y="1783080"/>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480560" y="1783080"/>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645152" y="1927555"/>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645152" y="1927555"/>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86" name="TextBox 85"/>
          <p:cNvSpPr txBox="1"/>
          <p:nvPr/>
        </p:nvSpPr>
        <p:spPr>
          <a:xfrm>
            <a:off x="5230368" y="1783080"/>
            <a:ext cx="6016752" cy="709574"/>
          </a:xfrm>
          <a:prstGeom prst="rect">
            <a:avLst/>
          </a:prstGeom>
          <a:noFill/>
        </p:spPr>
        <p:txBody>
          <a:bodyPr wrap="square" anchor="ctr">
            <a:spAutoFit/>
          </a:bodyPr>
          <a:lstStyle/>
          <a:p>
            <a:pPr algn="l">
              <a:spcAft>
                <a:spcPts val="200"/>
              </a:spcAft>
            </a:pPr>
            <a:r>
              <a:rPr sz="1300" b="1">
                <a:solidFill>
                  <a:srgbClr val="1F6FEB"/>
                </a:solidFill>
                <a:latin typeface="Arial"/>
              </a:rPr>
              <a:t>Three attendance takes</a:t>
            </a:r>
          </a:p>
          <a:p>
            <a:pPr algn="l">
              <a:spcAft>
                <a:spcPts val="200"/>
              </a:spcAft>
            </a:pPr>
            <a:r>
              <a:rPr sz="1100" b="0">
                <a:solidFill>
                  <a:srgbClr val="161B26"/>
                </a:solidFill>
                <a:latin typeface="Arial"/>
              </a:rPr>
              <a:t>AM, PM and Assessment — every day of a WSQ-funded course.</a:t>
            </a:r>
          </a:p>
        </p:txBody>
      </p:sp>
      <p:sp>
        <p:nvSpPr>
          <p:cNvPr id="87" name="Rectangle 86"/>
          <p:cNvSpPr/>
          <p:nvPr/>
        </p:nvSpPr>
        <p:spPr>
          <a:xfrm>
            <a:off x="4480560" y="2657246"/>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480560" y="2657246"/>
            <a:ext cx="82296" cy="7095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645152" y="2801721"/>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645152" y="2801721"/>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91" name="TextBox 90"/>
          <p:cNvSpPr txBox="1"/>
          <p:nvPr/>
        </p:nvSpPr>
        <p:spPr>
          <a:xfrm>
            <a:off x="5230368" y="2657246"/>
            <a:ext cx="6016752" cy="709574"/>
          </a:xfrm>
          <a:prstGeom prst="rect">
            <a:avLst/>
          </a:prstGeom>
          <a:noFill/>
        </p:spPr>
        <p:txBody>
          <a:bodyPr wrap="square" anchor="ctr">
            <a:spAutoFit/>
          </a:bodyPr>
          <a:lstStyle/>
          <a:p>
            <a:pPr algn="l">
              <a:spcAft>
                <a:spcPts val="200"/>
              </a:spcAft>
            </a:pPr>
            <a:r>
              <a:rPr sz="1300" b="1">
                <a:solidFill>
                  <a:srgbClr val="10B981"/>
                </a:solidFill>
                <a:latin typeface="Arial"/>
              </a:rPr>
              <a:t>The trainer shows the QR</a:t>
            </a:r>
          </a:p>
          <a:p>
            <a:pPr algn="l">
              <a:spcAft>
                <a:spcPts val="200"/>
              </a:spcAft>
            </a:pPr>
            <a:r>
              <a:rPr sz="1100" b="0">
                <a:solidFill>
                  <a:srgbClr val="161B26"/>
                </a:solidFill>
                <a:latin typeface="Arial"/>
              </a:rPr>
              <a:t>Generated live from the SSG portal — it changes each session.</a:t>
            </a:r>
          </a:p>
        </p:txBody>
      </p:sp>
      <p:sp>
        <p:nvSpPr>
          <p:cNvPr id="92" name="Rectangle 91"/>
          <p:cNvSpPr/>
          <p:nvPr/>
        </p:nvSpPr>
        <p:spPr>
          <a:xfrm>
            <a:off x="4480560" y="3531412"/>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4480560" y="3531412"/>
            <a:ext cx="82296" cy="70957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645152" y="3675887"/>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645152" y="3675887"/>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96" name="TextBox 95"/>
          <p:cNvSpPr txBox="1"/>
          <p:nvPr/>
        </p:nvSpPr>
        <p:spPr>
          <a:xfrm>
            <a:off x="5230368" y="3531412"/>
            <a:ext cx="6016752" cy="709574"/>
          </a:xfrm>
          <a:prstGeom prst="rect">
            <a:avLst/>
          </a:prstGeom>
          <a:noFill/>
        </p:spPr>
        <p:txBody>
          <a:bodyPr wrap="square" anchor="ctr">
            <a:spAutoFit/>
          </a:bodyPr>
          <a:lstStyle/>
          <a:p>
            <a:pPr algn="l">
              <a:spcAft>
                <a:spcPts val="200"/>
              </a:spcAft>
            </a:pPr>
            <a:r>
              <a:rPr sz="1300" b="1">
                <a:solidFill>
                  <a:srgbClr val="7C3AED"/>
                </a:solidFill>
                <a:latin typeface="Arial"/>
              </a:rPr>
              <a:t>Scan and submit</a:t>
            </a:r>
          </a:p>
          <a:p>
            <a:pPr algn="l">
              <a:spcAft>
                <a:spcPts val="200"/>
              </a:spcAft>
            </a:pPr>
            <a:r>
              <a:rPr sz="1100" b="0">
                <a:solidFill>
                  <a:srgbClr val="161B26"/>
                </a:solidFill>
                <a:latin typeface="Arial"/>
              </a:rPr>
              <a:t>Open your phone camera, scan, and submit your attendance.</a:t>
            </a:r>
          </a:p>
        </p:txBody>
      </p:sp>
      <p:sp>
        <p:nvSpPr>
          <p:cNvPr id="97" name="Rectangle 96"/>
          <p:cNvSpPr/>
          <p:nvPr/>
        </p:nvSpPr>
        <p:spPr>
          <a:xfrm>
            <a:off x="4480560" y="4405578"/>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80560" y="4405578"/>
            <a:ext cx="82296" cy="70957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645152" y="4550053"/>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645152" y="4550053"/>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101" name="TextBox 100"/>
          <p:cNvSpPr txBox="1"/>
          <p:nvPr/>
        </p:nvSpPr>
        <p:spPr>
          <a:xfrm>
            <a:off x="5230368" y="4405578"/>
            <a:ext cx="6016752" cy="709574"/>
          </a:xfrm>
          <a:prstGeom prst="rect">
            <a:avLst/>
          </a:prstGeom>
          <a:noFill/>
        </p:spPr>
        <p:txBody>
          <a:bodyPr wrap="square" anchor="ctr">
            <a:spAutoFit/>
          </a:bodyPr>
          <a:lstStyle/>
          <a:p>
            <a:pPr algn="l">
              <a:spcAft>
                <a:spcPts val="200"/>
              </a:spcAft>
            </a:pPr>
            <a:r>
              <a:rPr sz="1300" b="1">
                <a:solidFill>
                  <a:srgbClr val="F59E0B"/>
                </a:solidFill>
                <a:latin typeface="Arial"/>
              </a:rPr>
              <a:t>75% minimum</a:t>
            </a:r>
          </a:p>
          <a:p>
            <a:pPr algn="l">
              <a:spcAft>
                <a:spcPts val="200"/>
              </a:spcAft>
            </a:pPr>
            <a:r>
              <a:rPr sz="1100" b="0">
                <a:solidFill>
                  <a:srgbClr val="161B26"/>
                </a:solidFill>
                <a:latin typeface="Arial"/>
              </a:rPr>
              <a:t>Below 75% attendance you lose funding eligibility and cannot be assessed.</a:t>
            </a:r>
          </a:p>
        </p:txBody>
      </p:sp>
      <p:sp>
        <p:nvSpPr>
          <p:cNvPr id="102" name="Rectangle 101"/>
          <p:cNvSpPr/>
          <p:nvPr/>
        </p:nvSpPr>
        <p:spPr>
          <a:xfrm>
            <a:off x="4480560" y="5279744"/>
            <a:ext cx="6931152" cy="70957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4480560" y="5279744"/>
            <a:ext cx="82296" cy="70957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645152" y="542421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645152" y="5424219"/>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106" name="TextBox 105"/>
          <p:cNvSpPr txBox="1"/>
          <p:nvPr/>
        </p:nvSpPr>
        <p:spPr>
          <a:xfrm>
            <a:off x="5230368" y="5279744"/>
            <a:ext cx="6016752" cy="709574"/>
          </a:xfrm>
          <a:prstGeom prst="rect">
            <a:avLst/>
          </a:prstGeom>
          <a:noFill/>
        </p:spPr>
        <p:txBody>
          <a:bodyPr wrap="square" anchor="ctr">
            <a:spAutoFit/>
          </a:bodyPr>
          <a:lstStyle/>
          <a:p>
            <a:pPr algn="l">
              <a:spcAft>
                <a:spcPts val="200"/>
              </a:spcAft>
            </a:pPr>
            <a:r>
              <a:rPr sz="1300" b="1">
                <a:solidFill>
                  <a:srgbClr val="1F6FEB"/>
                </a:solidFill>
                <a:latin typeface="Arial"/>
              </a:rPr>
              <a:t>TRAQOM survey</a:t>
            </a:r>
          </a:p>
          <a:p>
            <a:pPr algn="l">
              <a:spcAft>
                <a:spcPts val="200"/>
              </a:spcAft>
            </a:pPr>
            <a:r>
              <a:rPr sz="1100" b="0">
                <a:solidFill>
                  <a:srgbClr val="161B26"/>
                </a:solidFill>
                <a:latin typeface="Arial"/>
              </a:rPr>
              <a:t>Complete the mandatory course survey on the LMS before you leave.</a:t>
            </a:r>
          </a:p>
        </p:txBody>
      </p:sp>
      <p:sp>
        <p:nvSpPr>
          <p:cNvPr id="107" name="TextBox 10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108" name="TextBox 10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109" name="TextBox 10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IN THE NEXT COURSE</a:t>
            </a:r>
          </a:p>
        </p:txBody>
      </p:sp>
      <p:sp>
        <p:nvSpPr>
          <p:cNvPr id="5" name="TextBox 4"/>
          <p:cNvSpPr txBox="1"/>
          <p:nvPr/>
        </p:nvSpPr>
        <p:spPr>
          <a:xfrm>
            <a:off x="1005840" y="2560320"/>
            <a:ext cx="10332720" cy="201168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navigate Dynamics 365, describe every customer engagement app, and explain how marketing, sales, service and field operations run on one platform.</a:t>
            </a:r>
          </a:p>
        </p:txBody>
      </p:sp>
      <p:sp>
        <p:nvSpPr>
          <p:cNvPr id="7" name="TextBox 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8" name="TextBox 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All course material is downloaded from the LMS/TMS portal — keep it open: the final assessment is open book.</a:t>
            </a:r>
          </a:p>
        </p:txBody>
      </p:sp>
      <p:sp>
        <p:nvSpPr>
          <p:cNvPr id="47" name="TextBox 46"/>
          <p:cNvSpPr txBox="1"/>
          <p:nvPr/>
        </p:nvSpPr>
        <p:spPr>
          <a:xfrm>
            <a:off x="365760" y="6446520"/>
            <a:ext cx="6583680" cy="320040"/>
          </a:xfrm>
          <a:prstGeom prst="rect">
            <a:avLst/>
          </a:prstGeom>
          <a:noFill/>
        </p:spPr>
        <p:txBody>
          <a:bodyPr wrap="square" anchor="t">
            <a:spAutoFit/>
          </a:bodyPr>
          <a:lstStyle/>
          <a:p>
            <a:pPr algn="l">
              <a:spcAft>
                <a:spcPts val="400"/>
              </a:spcAft>
            </a:pPr>
            <a:r>
              <a:rPr sz="900" b="0">
                <a:solidFill>
                  <a:srgbClr val="5B6372"/>
                </a:solidFill>
                <a:latin typeface="Arial"/>
              </a:rPr>
              <a:t>Microsoft Dynamics 365 Fundamentals (CRM) (MB-910)  ·  TGS-2023040481</a:t>
            </a:r>
          </a:p>
        </p:txBody>
      </p:sp>
      <p:sp>
        <p:nvSpPr>
          <p:cNvPr id="48" name="TextBox 47"/>
          <p:cNvSpPr txBox="1"/>
          <p:nvPr/>
        </p:nvSpPr>
        <p:spPr>
          <a:xfrm>
            <a:off x="6949440" y="6446520"/>
            <a:ext cx="3840480" cy="320040"/>
          </a:xfrm>
          <a:prstGeom prst="rect">
            <a:avLst/>
          </a:prstGeom>
          <a:noFill/>
        </p:spPr>
        <p:txBody>
          <a:bodyPr wrap="square" anchor="t">
            <a:spAutoFit/>
          </a:bodyPr>
          <a:lstStyle/>
          <a:p>
            <a:pPr algn="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50" name="Picture 49" descr="ref_login.png"/>
          <p:cNvPicPr>
            <a:picLocks noChangeAspect="1"/>
          </p:cNvPicPr>
          <p:nvPr/>
        </p:nvPicPr>
        <p:blipFill>
          <a:blip r:embed="rId2"/>
          <a:stretch>
            <a:fillRect/>
          </a:stretch>
        </p:blipFill>
        <p:spPr>
          <a:xfrm>
            <a:off x="2507172" y="1851660"/>
            <a:ext cx="7177350" cy="3570732"/>
          </a:xfrm>
          <a:prstGeom prst="rect">
            <a:avLst/>
          </a:prstGeom>
          <a:ln w="12700">
            <a:solidFill>
              <a:srgbClr val="E2E8F0"/>
            </a:solidFill>
          </a:ln>
        </p:spPr>
      </p:pic>
      <p:sp>
        <p:nvSpPr>
          <p:cNvPr id="51" name="TextBox 50"/>
          <p:cNvSpPr txBox="1"/>
          <p:nvPr/>
        </p:nvSpPr>
        <p:spPr>
          <a:xfrm>
            <a:off x="777240" y="5504688"/>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